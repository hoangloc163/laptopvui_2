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5"/>
  </p:notesMasterIdLst>
  <p:sldIdLst>
    <p:sldId id="256" r:id="rId2"/>
    <p:sldId id="270" r:id="rId3"/>
    <p:sldId id="257" r:id="rId4"/>
    <p:sldId id="273" r:id="rId5"/>
    <p:sldId id="274" r:id="rId6"/>
    <p:sldId id="275" r:id="rId7"/>
    <p:sldId id="276" r:id="rId8"/>
    <p:sldId id="277" r:id="rId9"/>
    <p:sldId id="278" r:id="rId10"/>
    <p:sldId id="279" r:id="rId11"/>
    <p:sldId id="280" r:id="rId12"/>
    <p:sldId id="281" r:id="rId13"/>
    <p:sldId id="282" r:id="rId14"/>
    <p:sldId id="283" r:id="rId15"/>
    <p:sldId id="284" r:id="rId16"/>
    <p:sldId id="285" r:id="rId17"/>
    <p:sldId id="286" r:id="rId18"/>
    <p:sldId id="287" r:id="rId19"/>
    <p:sldId id="288" r:id="rId20"/>
    <p:sldId id="289" r:id="rId21"/>
    <p:sldId id="290" r:id="rId22"/>
    <p:sldId id="291" r:id="rId23"/>
    <p:sldId id="292" r:id="rId24"/>
    <p:sldId id="293" r:id="rId25"/>
    <p:sldId id="294" r:id="rId26"/>
    <p:sldId id="295" r:id="rId27"/>
    <p:sldId id="296" r:id="rId28"/>
    <p:sldId id="297" r:id="rId29"/>
    <p:sldId id="299" r:id="rId30"/>
    <p:sldId id="300" r:id="rId31"/>
    <p:sldId id="301" r:id="rId32"/>
    <p:sldId id="302" r:id="rId33"/>
    <p:sldId id="303" r:id="rId34"/>
    <p:sldId id="304" r:id="rId35"/>
    <p:sldId id="305" r:id="rId36"/>
    <p:sldId id="306" r:id="rId37"/>
    <p:sldId id="307" r:id="rId38"/>
    <p:sldId id="308" r:id="rId39"/>
    <p:sldId id="309" r:id="rId40"/>
    <p:sldId id="310" r:id="rId41"/>
    <p:sldId id="311" r:id="rId42"/>
    <p:sldId id="312" r:id="rId43"/>
    <p:sldId id="313" r:id="rId44"/>
    <p:sldId id="314" r:id="rId45"/>
    <p:sldId id="315" r:id="rId46"/>
    <p:sldId id="316" r:id="rId47"/>
    <p:sldId id="317" r:id="rId48"/>
    <p:sldId id="318" r:id="rId49"/>
    <p:sldId id="319" r:id="rId50"/>
    <p:sldId id="320" r:id="rId51"/>
    <p:sldId id="321" r:id="rId52"/>
    <p:sldId id="322" r:id="rId53"/>
    <p:sldId id="323" r:id="rId54"/>
    <p:sldId id="324" r:id="rId55"/>
    <p:sldId id="325" r:id="rId56"/>
    <p:sldId id="326" r:id="rId57"/>
    <p:sldId id="327" r:id="rId58"/>
    <p:sldId id="328" r:id="rId59"/>
    <p:sldId id="329" r:id="rId60"/>
    <p:sldId id="330" r:id="rId61"/>
    <p:sldId id="331" r:id="rId62"/>
    <p:sldId id="332" r:id="rId63"/>
    <p:sldId id="333" r:id="rId6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431"/>
    <p:restoredTop sz="95280"/>
  </p:normalViewPr>
  <p:slideViewPr>
    <p:cSldViewPr snapToGrid="0" snapToObjects="1">
      <p:cViewPr varScale="1">
        <p:scale>
          <a:sx n="94" d="100"/>
          <a:sy n="94" d="100"/>
        </p:scale>
        <p:origin x="39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3040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a:p>
        </p:txBody>
      </p:sp>
      <p:sp>
        <p:nvSpPr>
          <p:cNvPr id="4" name="Slide Number Placeholder 3"/>
          <p:cNvSpPr>
            <a:spLocks noGrp="1"/>
          </p:cNvSpPr>
          <p:nvPr>
            <p:ph type="sldNum" sz="quarter" idx="5"/>
          </p:nvPr>
        </p:nvSpPr>
        <p:spPr/>
        <p:txBody>
          <a:bodyPr/>
          <a:lstStyle/>
          <a:p>
            <a:fld id="{44BDE5EA-D103-174C-9245-E842F0BE80EA}" type="slidenum">
              <a:rPr lang="en-VN"/>
              <a:t>2</a:t>
            </a:fld>
            <a:endParaRPr lang="en-VN"/>
          </a:p>
        </p:txBody>
      </p:sp>
    </p:spTree>
    <p:extLst>
      <p:ext uri="{BB962C8B-B14F-4D97-AF65-F5344CB8AC3E}">
        <p14:creationId xmlns:p14="http://schemas.microsoft.com/office/powerpoint/2010/main" val="34735227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283400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936906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1803753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1657818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081475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972779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6655913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024993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0"/>
              </a:spcAft>
            </a:pPr>
            <a:r>
              <a:rPr lang="en-VN" sz="1800">
                <a:effectLst/>
                <a:latin typeface="Times New Roman" panose="02020603050405020304" pitchFamily="18" charset="0"/>
                <a:ea typeface="Calibri" panose="020F0502020204030204" pitchFamily="34" charset="0"/>
              </a:rPr>
              <a:t>Nhận xét về schema:</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Symbol" pitchFamily="2" charset="2"/>
              <a:buChar char=""/>
            </a:pPr>
            <a:r>
              <a:rPr lang="en-VN" sz="1800">
                <a:effectLst/>
                <a:latin typeface="Times New Roman" panose="02020603050405020304" pitchFamily="18" charset="0"/>
                <a:ea typeface="Calibri" panose="020F0502020204030204" pitchFamily="34" charset="0"/>
              </a:rPr>
              <a:t>Không có ràng buộc FK (foreign key) rõ ràng ở cấp CSDL - các "liên kết" chỉ là quy ước giữa các cột.</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Symbol" pitchFamily="2" charset="2"/>
              <a:buChar char=""/>
            </a:pPr>
            <a:r>
              <a:rPr lang="en-VN" sz="1800">
                <a:effectLst/>
                <a:latin typeface="Times New Roman" panose="02020603050405020304" pitchFamily="18" charset="0"/>
                <a:ea typeface="Calibri" panose="020F0502020204030204" pitchFamily="34" charset="0"/>
              </a:rPr>
              <a:t>Đơn hàng (donhang) không có cột trỏ đến users - cho phép guest checkout.</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Symbol" pitchFamily="2" charset="2"/>
              <a:buChar char=""/>
            </a:pPr>
            <a:r>
              <a:rPr lang="en-VN" sz="1800">
                <a:effectLst/>
                <a:latin typeface="Times New Roman" panose="02020603050405020304" pitchFamily="18" charset="0"/>
                <a:ea typeface="Calibri" panose="020F0502020204030204" pitchFamily="34" charset="0"/>
              </a:rPr>
              <a:t>Bảng sanpham không có cột tồn kho (stock).</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Symbol" pitchFamily="2" charset="2"/>
              <a:buChar char=""/>
            </a:pPr>
            <a:r>
              <a:rPr lang="en-VN" sz="1800">
                <a:effectLst/>
                <a:latin typeface="Times New Roman" panose="02020603050405020304" pitchFamily="18" charset="0"/>
                <a:ea typeface="Calibri" panose="020F0502020204030204" pitchFamily="34" charset="0"/>
              </a:rPr>
              <a:t>donhangchitiet lưu snapshot ten_sp và gia tại thời điểm mua - tốt cho lịch sử đơn hàng.</a:t>
            </a:r>
            <a:endParaRPr lang="en-VN" sz="180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881721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6481498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203093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6059621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487050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4105284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549751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5626369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217125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41155892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3316647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6743532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2157723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2415030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302831015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9231102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7741580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603997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70904161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28994535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40190290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69163630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5203321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379515311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430779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9749250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21460027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35989340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35498313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40052475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4468288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37714796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34076278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8299313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315430263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1678730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55521268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417937384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231009438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73824254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28012240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293131614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21702863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2467254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209204539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3604627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5058553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286231366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67508337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500"/>
              </a:spcAft>
            </a:pPr>
            <a:r>
              <a:rPr lang="en-VN" sz="1800">
                <a:effectLst/>
                <a:latin typeface="Times New Roman" panose="02020603050405020304" pitchFamily="18" charset="0"/>
                <a:ea typeface="Calibri" panose="020F0502020204030204" pitchFamily="34" charset="0"/>
              </a:rPr>
              <a:t>Hệ thống "Laptop Vui" là một dự án e-commerce nhỏ được thiết kế gọn gàng, có cấu trúc MVC rõ ràng và giao diện thân thiện, phù hợp với người dùng Việt Nam. Các chức năng cốt lõi (duyệt SP, tìm kiếm, giỏ hàng, đặt hàng, quản trị SP/đơn hàng) đều hoạt động được và đã có xử lý validate cơ bản cả client và server.</a:t>
            </a:r>
            <a:endParaRPr lang="en-VN" sz="1800">
              <a:effectLst/>
              <a:latin typeface="Calibri" panose="020F0502020204030204" pitchFamily="34" charset="0"/>
              <a:ea typeface="Calibri" panose="020F0502020204030204" pitchFamily="34" charset="0"/>
            </a:endParaRPr>
          </a:p>
          <a:p>
            <a:pPr marL="0" marR="0" algn="just">
              <a:lnSpc>
                <a:spcPct val="150000"/>
              </a:lnSpc>
              <a:spcBef>
                <a:spcPts val="0"/>
              </a:spcBef>
              <a:spcAft>
                <a:spcPts val="500"/>
              </a:spcAft>
            </a:pPr>
            <a:r>
              <a:rPr lang="en-VN" sz="1800">
                <a:effectLst/>
                <a:latin typeface="Times New Roman" panose="02020603050405020304" pitchFamily="18" charset="0"/>
                <a:ea typeface="Calibri" panose="020F0502020204030204" pitchFamily="34" charset="0"/>
              </a:rPr>
              <a:t>Tuy nhiên, dự án đang trong giai đoạn học tập/prototype nên vẫn còn nhiều thiếu sót ở các nhóm sau:</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Bảo mật: thiếu CSRF, session fixation, rate-limit, header bảo mật – đây là nhóm quan trọng nhất cần khắc phục trước khi triển khai thực tế.</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Trải nghiệm khi lỗi: die() cho validate admin, mất dữ liệu form khi checkout fail, không có trang 404 đẹp.</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Đồng bộ dữ liệu: giỏ hàng chỉ trong session, chưa có tồn kho, không lưu lịch sử đơn hàng cho user đăng nhập.</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Mobile app chưa dùng được vì API endpoint mismatch với backend.</a:t>
            </a:r>
            <a:endParaRPr lang="en-VN" sz="1800">
              <a:effectLst/>
              <a:latin typeface="Calibri" panose="020F0502020204030204" pitchFamily="34" charset="0"/>
              <a:ea typeface="Calibri" panose="020F0502020204030204" pitchFamily="34" charset="0"/>
            </a:endParaRPr>
          </a:p>
          <a:p>
            <a:pPr marL="0" marR="0" algn="just">
              <a:lnSpc>
                <a:spcPct val="150000"/>
              </a:lnSpc>
              <a:spcBef>
                <a:spcPts val="0"/>
              </a:spcBef>
              <a:spcAft>
                <a:spcPts val="500"/>
              </a:spcAft>
            </a:pPr>
            <a:r>
              <a:rPr lang="en-VN" sz="1800">
                <a:effectLst/>
                <a:latin typeface="Times New Roman" panose="02020603050405020304" pitchFamily="18" charset="0"/>
                <a:ea typeface="Calibri" panose="020F0502020204030204" pitchFamily="34" charset="0"/>
              </a:rPr>
              <a:t>Tổng cộng 169 test case và 36 lỗ hổng đã được ghi nhận. Đề nghị chủ dự án ưu tiên giải quyết nhóm khuyến nghị ở mục 5.5.1 trước khi phát triển thêm tính năng mới. Với việc bổ sung ~15 sửa đổi ở nhóm high priority, hệ thống hoàn toàn có thể sẵn sàng cho một release beta phục vụ khách hàng thực tế.</a:t>
            </a:r>
            <a:endParaRPr lang="en-VN" sz="180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96436956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500"/>
              </a:spcAft>
            </a:pPr>
            <a:r>
              <a:rPr lang="en-VN" sz="1800">
                <a:effectLst/>
                <a:latin typeface="Times New Roman" panose="02020603050405020304" pitchFamily="18" charset="0"/>
                <a:ea typeface="Calibri" panose="020F0502020204030204" pitchFamily="34" charset="0"/>
              </a:rPr>
              <a:t>Hệ thống "Laptop Vui" là một dự án e-commerce nhỏ được thiết kế gọn gàng, có cấu trúc MVC rõ ràng và giao diện thân thiện, phù hợp với người dùng Việt Nam. Các chức năng cốt lõi (duyệt SP, tìm kiếm, giỏ hàng, đặt hàng, quản trị SP/đơn hàng) đều hoạt động được và đã có xử lý validate cơ bản cả client và server.</a:t>
            </a:r>
            <a:endParaRPr lang="en-VN" sz="1800">
              <a:effectLst/>
              <a:latin typeface="Calibri" panose="020F0502020204030204" pitchFamily="34" charset="0"/>
              <a:ea typeface="Calibri" panose="020F0502020204030204" pitchFamily="34" charset="0"/>
            </a:endParaRPr>
          </a:p>
          <a:p>
            <a:pPr marL="0" marR="0" algn="just">
              <a:lnSpc>
                <a:spcPct val="150000"/>
              </a:lnSpc>
              <a:spcBef>
                <a:spcPts val="0"/>
              </a:spcBef>
              <a:spcAft>
                <a:spcPts val="500"/>
              </a:spcAft>
            </a:pPr>
            <a:r>
              <a:rPr lang="en-VN" sz="1800">
                <a:effectLst/>
                <a:latin typeface="Times New Roman" panose="02020603050405020304" pitchFamily="18" charset="0"/>
                <a:ea typeface="Calibri" panose="020F0502020204030204" pitchFamily="34" charset="0"/>
              </a:rPr>
              <a:t>Tuy nhiên, dự án đang trong giai đoạn học tập/prototype nên vẫn còn nhiều thiếu sót ở các nhóm sau:</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Bảo mật: thiếu CSRF, session fixation, rate-limit, header bảo mật – đây là nhóm quan trọng nhất cần khắc phục trước khi triển khai thực tế.</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Trải nghiệm khi lỗi: die() cho validate admin, mất dữ liệu form khi checkout fail, không có trang 404 đẹp.</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Đồng bộ dữ liệu: giỏ hàng chỉ trong session, chưa có tồn kho, không lưu lịch sử đơn hàng cho user đăng nhập.</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Mobile app chưa dùng được vì API endpoint mismatch với backend.</a:t>
            </a:r>
            <a:endParaRPr lang="en-VN" sz="1800">
              <a:effectLst/>
              <a:latin typeface="Calibri" panose="020F0502020204030204" pitchFamily="34" charset="0"/>
              <a:ea typeface="Calibri" panose="020F0502020204030204" pitchFamily="34" charset="0"/>
            </a:endParaRPr>
          </a:p>
          <a:p>
            <a:pPr marL="0" marR="0" algn="just">
              <a:lnSpc>
                <a:spcPct val="150000"/>
              </a:lnSpc>
              <a:spcBef>
                <a:spcPts val="0"/>
              </a:spcBef>
              <a:spcAft>
                <a:spcPts val="500"/>
              </a:spcAft>
            </a:pPr>
            <a:r>
              <a:rPr lang="en-VN" sz="1800">
                <a:effectLst/>
                <a:latin typeface="Times New Roman" panose="02020603050405020304" pitchFamily="18" charset="0"/>
                <a:ea typeface="Calibri" panose="020F0502020204030204" pitchFamily="34" charset="0"/>
              </a:rPr>
              <a:t>Tổng cộng 169 test case và 36 lỗ hổng đã được ghi nhận. Đề nghị chủ dự án ưu tiên giải quyết nhóm khuyến nghị ở mục 5.5.1 trước khi phát triển thêm tính năng mới. Với việc bổ sung ~15 sửa đổi ở nhóm high priority, hệ thống hoàn toàn có thể sẵn sàng cho một release beta phục vụ khách hàng thực tế.</a:t>
            </a:r>
            <a:endParaRPr lang="en-VN" sz="180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510881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500"/>
              </a:spcAft>
            </a:pPr>
            <a:r>
              <a:rPr lang="en-VN" sz="1800">
                <a:effectLst/>
                <a:latin typeface="Times New Roman" panose="02020603050405020304" pitchFamily="18" charset="0"/>
                <a:ea typeface="Calibri" panose="020F0502020204030204" pitchFamily="34" charset="0"/>
              </a:rPr>
              <a:t>Hệ thống "Laptop Vui" là một dự án e-commerce nhỏ được thiết kế gọn gàng, có cấu trúc MVC rõ ràng và giao diện thân thiện, phù hợp với người dùng Việt Nam. Các chức năng cốt lõi (duyệt SP, tìm kiếm, giỏ hàng, đặt hàng, quản trị SP/đơn hàng) đều hoạt động được và đã có xử lý validate cơ bản cả client và server.</a:t>
            </a:r>
            <a:endParaRPr lang="en-VN" sz="1800">
              <a:effectLst/>
              <a:latin typeface="Calibri" panose="020F0502020204030204" pitchFamily="34" charset="0"/>
              <a:ea typeface="Calibri" panose="020F0502020204030204" pitchFamily="34" charset="0"/>
            </a:endParaRPr>
          </a:p>
          <a:p>
            <a:pPr marL="0" marR="0" algn="just">
              <a:lnSpc>
                <a:spcPct val="150000"/>
              </a:lnSpc>
              <a:spcBef>
                <a:spcPts val="0"/>
              </a:spcBef>
              <a:spcAft>
                <a:spcPts val="500"/>
              </a:spcAft>
            </a:pPr>
            <a:r>
              <a:rPr lang="en-VN" sz="1800">
                <a:effectLst/>
                <a:latin typeface="Times New Roman" panose="02020603050405020304" pitchFamily="18" charset="0"/>
                <a:ea typeface="Calibri" panose="020F0502020204030204" pitchFamily="34" charset="0"/>
              </a:rPr>
              <a:t>Tuy nhiên, dự án đang trong giai đoạn học tập/prototype nên vẫn còn nhiều thiếu sót ở các nhóm sau:</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Bảo mật: thiếu CSRF, session fixation, rate-limit, header bảo mật – đây là nhóm quan trọng nhất cần khắc phục trước khi triển khai thực tế.</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Trải nghiệm khi lỗi: die() cho validate admin, mất dữ liệu form khi checkout fail, không có trang 404 đẹp.</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Đồng bộ dữ liệu: giỏ hàng chỉ trong session, chưa có tồn kho, không lưu lịch sử đơn hàng cho user đăng nhập.</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Mobile app chưa dùng được vì API endpoint mismatch với backend.</a:t>
            </a:r>
            <a:endParaRPr lang="en-VN" sz="1800">
              <a:effectLst/>
              <a:latin typeface="Calibri" panose="020F0502020204030204" pitchFamily="34" charset="0"/>
              <a:ea typeface="Calibri" panose="020F0502020204030204" pitchFamily="34" charset="0"/>
            </a:endParaRPr>
          </a:p>
          <a:p>
            <a:pPr marL="0" marR="0" algn="just">
              <a:lnSpc>
                <a:spcPct val="150000"/>
              </a:lnSpc>
              <a:spcBef>
                <a:spcPts val="0"/>
              </a:spcBef>
              <a:spcAft>
                <a:spcPts val="500"/>
              </a:spcAft>
            </a:pPr>
            <a:r>
              <a:rPr lang="en-VN" sz="1800">
                <a:effectLst/>
                <a:latin typeface="Times New Roman" panose="02020603050405020304" pitchFamily="18" charset="0"/>
                <a:ea typeface="Calibri" panose="020F0502020204030204" pitchFamily="34" charset="0"/>
              </a:rPr>
              <a:t>Tổng cộng 169 test case và 36 lỗ hổng đã được ghi nhận. Đề nghị chủ dự án ưu tiên giải quyết nhóm khuyến nghị ở mục 5.5.1 trước khi phát triển thêm tính năng mới. Với việc bổ sung ~15 sửa đổi ở nhóm high priority, hệ thống hoàn toàn có thể sẵn sàng cho một release beta phục vụ khách hàng thực tế.</a:t>
            </a:r>
            <a:endParaRPr lang="en-VN" sz="1800">
              <a:effectLst/>
              <a:latin typeface="Calibri" panose="020F0502020204030204" pitchFamily="34" charset="0"/>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662256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384436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30"/>
        </a:solidFill>
        <a:effectLst/>
      </p:bgPr>
    </p:bg>
    <p:spTree>
      <p:nvGrpSpPr>
        <p:cNvPr id="1" name=""/>
        <p:cNvGrpSpPr/>
        <p:nvPr/>
      </p:nvGrpSpPr>
      <p:grpSpPr>
        <a:xfrm>
          <a:off x="0" y="0"/>
          <a:ext cx="0" cy="0"/>
          <a:chOff x="0" y="0"/>
          <a:chExt cx="0" cy="0"/>
        </a:xfrm>
      </p:grpSpPr>
      <p:sp>
        <p:nvSpPr>
          <p:cNvPr id="4" name="Text 2"/>
          <p:cNvSpPr/>
          <p:nvPr/>
        </p:nvSpPr>
        <p:spPr>
          <a:xfrm>
            <a:off x="-182966" y="1335840"/>
            <a:ext cx="12206643" cy="1737360"/>
          </a:xfrm>
          <a:prstGeom prst="rect">
            <a:avLst/>
          </a:prstGeom>
          <a:noFill/>
          <a:ln/>
        </p:spPr>
        <p:txBody>
          <a:bodyPr wrap="square" rtlCol="0" anchor="ctr"/>
          <a:lstStyle/>
          <a:p>
            <a:pPr marL="0" marR="0" algn="ctr">
              <a:lnSpc>
                <a:spcPct val="150000"/>
              </a:lnSpc>
              <a:spcBef>
                <a:spcPts val="0"/>
              </a:spcBef>
              <a:spcAft>
                <a:spcPts val="0"/>
              </a:spcAft>
            </a:pPr>
            <a:r>
              <a:rPr lang="en-VN" sz="2800" b="1">
                <a:solidFill>
                  <a:schemeClr val="accent5">
                    <a:lumMod val="60000"/>
                    <a:lumOff val="40000"/>
                  </a:schemeClr>
                </a:solidFill>
                <a:effectLst/>
                <a:latin typeface="Times New Roman" panose="02020603050405020304" pitchFamily="18" charset="0"/>
                <a:ea typeface="Times New Roman" panose="02020603050405020304" pitchFamily="18" charset="0"/>
              </a:rPr>
              <a:t>THIẾT KẾ HỆ THỐNG QUẢN TRỊ (ADMIN) CHO WEBSITE BÁN LAPTOP TRỰC TUYẾN — LAPTOP VUI</a:t>
            </a:r>
            <a:endParaRPr lang="en-VN" sz="2800">
              <a:solidFill>
                <a:schemeClr val="accent5">
                  <a:lumMod val="60000"/>
                  <a:lumOff val="40000"/>
                </a:schemeClr>
              </a:solidFill>
              <a:effectLst/>
              <a:latin typeface="Times New Roman" panose="02020603050405020304" pitchFamily="18" charset="0"/>
              <a:ea typeface="Times New Roman" panose="02020603050405020304" pitchFamily="18" charset="0"/>
            </a:endParaRPr>
          </a:p>
        </p:txBody>
      </p:sp>
      <p:sp>
        <p:nvSpPr>
          <p:cNvPr id="5" name="Text 3"/>
          <p:cNvSpPr/>
          <p:nvPr/>
        </p:nvSpPr>
        <p:spPr>
          <a:xfrm>
            <a:off x="822960" y="3174570"/>
            <a:ext cx="10543032" cy="711630"/>
          </a:xfrm>
          <a:prstGeom prst="rect">
            <a:avLst/>
          </a:prstGeom>
          <a:noFill/>
          <a:ln/>
        </p:spPr>
        <p:txBody>
          <a:bodyPr wrap="square" rtlCol="0" anchor="ctr"/>
          <a:lstStyle/>
          <a:p>
            <a:pPr marL="0" indent="0">
              <a:buNone/>
            </a:pPr>
            <a:endParaRPr lang="en-US" sz="1800" dirty="0"/>
          </a:p>
        </p:txBody>
      </p:sp>
      <p:sp>
        <p:nvSpPr>
          <p:cNvPr id="6" name="Shape 4"/>
          <p:cNvSpPr/>
          <p:nvPr/>
        </p:nvSpPr>
        <p:spPr>
          <a:xfrm>
            <a:off x="822960" y="3618840"/>
            <a:ext cx="2011680" cy="0"/>
          </a:xfrm>
          <a:prstGeom prst="line">
            <a:avLst/>
          </a:prstGeom>
          <a:noFill/>
          <a:ln w="25400">
            <a:solidFill>
              <a:srgbClr val="16B4A7"/>
            </a:solidFill>
            <a:prstDash val="solid"/>
          </a:ln>
        </p:spPr>
      </p:sp>
      <p:sp>
        <p:nvSpPr>
          <p:cNvPr id="7" name="Text 5"/>
          <p:cNvSpPr/>
          <p:nvPr/>
        </p:nvSpPr>
        <p:spPr>
          <a:xfrm>
            <a:off x="0" y="4286079"/>
            <a:ext cx="10543032" cy="365760"/>
          </a:xfrm>
          <a:prstGeom prst="rect">
            <a:avLst/>
          </a:prstGeom>
          <a:noFill/>
          <a:ln/>
        </p:spPr>
        <p:txBody>
          <a:bodyPr wrap="square" rtlCol="0" anchor="ctr"/>
          <a:lstStyle/>
          <a:p>
            <a:pPr marL="457200" marR="0" indent="457200">
              <a:lnSpc>
                <a:spcPct val="150000"/>
              </a:lnSpc>
              <a:spcBef>
                <a:spcPts val="0"/>
              </a:spcBef>
              <a:spcAft>
                <a:spcPts val="0"/>
              </a:spcAft>
            </a:pPr>
            <a:r>
              <a:rPr lang="en-VN" sz="1800" b="1">
                <a:solidFill>
                  <a:schemeClr val="bg1"/>
                </a:solidFill>
                <a:effectLst/>
                <a:latin typeface="Times New Roman" panose="02020603050405020304" pitchFamily="18" charset="0"/>
                <a:ea typeface="Times New Roman" panose="02020603050405020304" pitchFamily="18" charset="0"/>
              </a:rPr>
              <a:t>Nhóm học viên: 03</a:t>
            </a:r>
          </a:p>
          <a:p>
            <a:pPr marL="457200" marR="0" indent="457200">
              <a:lnSpc>
                <a:spcPct val="150000"/>
              </a:lnSpc>
              <a:spcBef>
                <a:spcPts val="0"/>
              </a:spcBef>
              <a:spcAft>
                <a:spcPts val="0"/>
              </a:spcAft>
            </a:pPr>
            <a:r>
              <a:rPr lang="en-VN" sz="1800" b="1">
                <a:solidFill>
                  <a:schemeClr val="bg1"/>
                </a:solidFill>
                <a:effectLst/>
                <a:latin typeface="Times New Roman" panose="02020603050405020304" pitchFamily="18" charset="0"/>
                <a:ea typeface="Times New Roman" panose="02020603050405020304" pitchFamily="18" charset="0"/>
              </a:rPr>
              <a:t>Lê Đỗ Thanh Tùng </a:t>
            </a:r>
            <a:r>
              <a:rPr lang="vi-VN" sz="1800" b="1">
                <a:solidFill>
                  <a:schemeClr val="bg1"/>
                </a:solidFill>
                <a:effectLst/>
                <a:latin typeface="Times New Roman" panose="02020603050405020304" pitchFamily="18" charset="0"/>
                <a:ea typeface="Times New Roman" panose="02020603050405020304" pitchFamily="18" charset="0"/>
              </a:rPr>
              <a:t>        </a:t>
            </a:r>
            <a:r>
              <a:rPr lang="en-VN" sz="1800" b="1">
                <a:solidFill>
                  <a:schemeClr val="bg1"/>
                </a:solidFill>
                <a:effectLst/>
                <a:latin typeface="Times New Roman" panose="02020603050405020304" pitchFamily="18" charset="0"/>
                <a:ea typeface="Times New Roman" panose="02020603050405020304" pitchFamily="18" charset="0"/>
              </a:rPr>
              <a:t>– Mã học viên: CH11022012</a:t>
            </a:r>
            <a:endParaRPr lang="en-VN" sz="1800">
              <a:solidFill>
                <a:schemeClr val="bg1"/>
              </a:solidFill>
              <a:effectLst/>
              <a:latin typeface="Times New Roman" panose="02020603050405020304" pitchFamily="18" charset="0"/>
              <a:ea typeface="Times New Roman" panose="02020603050405020304" pitchFamily="18" charset="0"/>
            </a:endParaRPr>
          </a:p>
          <a:p>
            <a:pPr marL="457200" marR="0" indent="457200">
              <a:lnSpc>
                <a:spcPct val="150000"/>
              </a:lnSpc>
              <a:spcBef>
                <a:spcPts val="0"/>
              </a:spcBef>
              <a:spcAft>
                <a:spcPts val="0"/>
              </a:spcAft>
            </a:pPr>
            <a:r>
              <a:rPr lang="en-VN" sz="1800" b="1">
                <a:solidFill>
                  <a:schemeClr val="bg1"/>
                </a:solidFill>
                <a:effectLst/>
                <a:latin typeface="Times New Roman" panose="02020603050405020304" pitchFamily="18" charset="0"/>
                <a:ea typeface="Times New Roman" panose="02020603050405020304" pitchFamily="18" charset="0"/>
              </a:rPr>
              <a:t>Nguyễn Đắc</a:t>
            </a:r>
            <a:r>
              <a:rPr lang="vi-VN" sz="1800" b="1">
                <a:solidFill>
                  <a:schemeClr val="bg1"/>
                </a:solidFill>
                <a:effectLst/>
                <a:latin typeface="Times New Roman" panose="02020603050405020304" pitchFamily="18" charset="0"/>
                <a:ea typeface="Times New Roman" panose="02020603050405020304" pitchFamily="18" charset="0"/>
              </a:rPr>
              <a:t> Hoàng Lộc  </a:t>
            </a:r>
            <a:r>
              <a:rPr lang="en-VN" sz="1800" b="1">
                <a:solidFill>
                  <a:schemeClr val="bg1"/>
                </a:solidFill>
                <a:effectLst/>
                <a:latin typeface="Times New Roman" panose="02020603050405020304" pitchFamily="18" charset="0"/>
                <a:ea typeface="Times New Roman" panose="02020603050405020304" pitchFamily="18" charset="0"/>
              </a:rPr>
              <a:t>– Mã học viên: CH1102200</a:t>
            </a:r>
            <a:r>
              <a:rPr lang="vi-VN" sz="1800" b="1">
                <a:solidFill>
                  <a:schemeClr val="bg1"/>
                </a:solidFill>
                <a:effectLst/>
                <a:latin typeface="Times New Roman" panose="02020603050405020304" pitchFamily="18" charset="0"/>
                <a:ea typeface="Times New Roman" panose="02020603050405020304" pitchFamily="18" charset="0"/>
              </a:rPr>
              <a:t>7</a:t>
            </a:r>
            <a:endParaRPr lang="en-VN" sz="1800">
              <a:solidFill>
                <a:schemeClr val="bg1"/>
              </a:solidFill>
              <a:effectLst/>
              <a:latin typeface="Times New Roman" panose="02020603050405020304" pitchFamily="18" charset="0"/>
              <a:ea typeface="Times New Roman" panose="02020603050405020304" pitchFamily="18" charset="0"/>
            </a:endParaRPr>
          </a:p>
          <a:p>
            <a:pPr marL="457200" marR="0" indent="457200">
              <a:lnSpc>
                <a:spcPct val="150000"/>
              </a:lnSpc>
              <a:spcBef>
                <a:spcPts val="0"/>
              </a:spcBef>
              <a:spcAft>
                <a:spcPts val="0"/>
              </a:spcAft>
            </a:pPr>
            <a:r>
              <a:rPr lang="en-VN" sz="1800" b="1">
                <a:solidFill>
                  <a:schemeClr val="bg1"/>
                </a:solidFill>
                <a:effectLst/>
                <a:latin typeface="Times New Roman" panose="02020603050405020304" pitchFamily="18" charset="0"/>
                <a:ea typeface="Times New Roman" panose="02020603050405020304" pitchFamily="18" charset="0"/>
              </a:rPr>
              <a:t>Phạm Thị Trung Thu </a:t>
            </a:r>
            <a:r>
              <a:rPr lang="vi-VN" sz="1800" b="1">
                <a:solidFill>
                  <a:schemeClr val="bg1"/>
                </a:solidFill>
                <a:effectLst/>
                <a:latin typeface="Times New Roman" panose="02020603050405020304" pitchFamily="18" charset="0"/>
                <a:ea typeface="Times New Roman" panose="02020603050405020304" pitchFamily="18" charset="0"/>
              </a:rPr>
              <a:t>     </a:t>
            </a:r>
            <a:r>
              <a:rPr lang="en-VN" sz="1800" b="1">
                <a:solidFill>
                  <a:schemeClr val="bg1"/>
                </a:solidFill>
                <a:effectLst/>
                <a:latin typeface="Times New Roman" panose="02020603050405020304" pitchFamily="18" charset="0"/>
                <a:ea typeface="Times New Roman" panose="02020603050405020304" pitchFamily="18" charset="0"/>
              </a:rPr>
              <a:t>– Mã học viên: CH11022013</a:t>
            </a:r>
            <a:endParaRPr lang="en-VN" sz="1800">
              <a:solidFill>
                <a:schemeClr val="bg1"/>
              </a:solidFill>
              <a:effectLst/>
              <a:latin typeface="Times New Roman" panose="02020603050405020304" pitchFamily="18" charset="0"/>
              <a:ea typeface="Times New Roman" panose="02020603050405020304" pitchFamily="18" charset="0"/>
            </a:endParaRPr>
          </a:p>
        </p:txBody>
      </p:sp>
      <p:sp>
        <p:nvSpPr>
          <p:cNvPr id="8" name="Text 6"/>
          <p:cNvSpPr/>
          <p:nvPr/>
        </p:nvSpPr>
        <p:spPr>
          <a:xfrm>
            <a:off x="822960" y="5882662"/>
            <a:ext cx="10543032" cy="320040"/>
          </a:xfrm>
          <a:prstGeom prst="rect">
            <a:avLst/>
          </a:prstGeom>
          <a:noFill/>
          <a:ln/>
        </p:spPr>
        <p:txBody>
          <a:bodyPr wrap="square" rtlCol="0" anchor="ctr"/>
          <a:lstStyle/>
          <a:p>
            <a:pPr marL="0" indent="0">
              <a:buNone/>
            </a:pPr>
            <a:r>
              <a:rPr lang="en-US" sz="1300" dirty="0">
                <a:solidFill>
                  <a:srgbClr val="AFC1DF"/>
                </a:solidFill>
                <a:latin typeface="Arial" pitchFamily="34" charset="0"/>
                <a:ea typeface="Arial" pitchFamily="34" charset="-122"/>
                <a:cs typeface="Arial" pitchFamily="34" charset="-120"/>
              </a:rPr>
              <a:t>Ngành: Khoa học máy tính</a:t>
            </a:r>
            <a:endParaRPr lang="en-US" sz="1300" dirty="0"/>
          </a:p>
        </p:txBody>
      </p:sp>
      <p:sp>
        <p:nvSpPr>
          <p:cNvPr id="9" name="Text 7"/>
          <p:cNvSpPr/>
          <p:nvPr/>
        </p:nvSpPr>
        <p:spPr>
          <a:xfrm>
            <a:off x="822960" y="5477256"/>
            <a:ext cx="10543032" cy="320040"/>
          </a:xfrm>
          <a:prstGeom prst="rect">
            <a:avLst/>
          </a:prstGeom>
          <a:noFill/>
          <a:ln/>
        </p:spPr>
        <p:txBody>
          <a:bodyPr wrap="square" rtlCol="0" anchor="ctr"/>
          <a:lstStyle/>
          <a:p>
            <a:r>
              <a:rPr lang="en-US" b="1" dirty="0">
                <a:solidFill>
                  <a:schemeClr val="accent1">
                    <a:lumMod val="40000"/>
                    <a:lumOff val="60000"/>
                  </a:schemeClr>
                </a:solidFill>
                <a:latin typeface="Times New Roman" panose="02020603050405020304" pitchFamily="18" charset="0"/>
                <a:ea typeface="Arial" pitchFamily="34" charset="-122"/>
                <a:cs typeface="Times New Roman" panose="02020603050405020304" pitchFamily="18" charset="0"/>
              </a:rPr>
              <a:t>Giảng viên hướng dẫn: </a:t>
            </a:r>
            <a:r>
              <a:rPr lang="en-VN" sz="1800" b="1">
                <a:solidFill>
                  <a:schemeClr val="accent5">
                    <a:lumMod val="60000"/>
                    <a:lumOff val="40000"/>
                  </a:schemeClr>
                </a:solidFill>
                <a:effectLst/>
                <a:latin typeface="Times New Roman" panose="02020603050405020304" pitchFamily="18" charset="0"/>
                <a:ea typeface="Times New Roman" panose="02020603050405020304" pitchFamily="18" charset="0"/>
              </a:rPr>
              <a:t>TS. Cao Thái Phương Thanh</a:t>
            </a:r>
            <a:r>
              <a:rPr lang="en-VN">
                <a:solidFill>
                  <a:schemeClr val="accent5">
                    <a:lumMod val="60000"/>
                    <a:lumOff val="40000"/>
                  </a:schemeClr>
                </a:solidFill>
                <a:effectLst/>
              </a:rPr>
              <a:t> </a:t>
            </a:r>
            <a:endParaRPr lang="en-US" sz="1400">
              <a:solidFill>
                <a:schemeClr val="accent5">
                  <a:lumMod val="60000"/>
                  <a:lumOff val="40000"/>
                </a:schemeClr>
              </a:solidFill>
            </a:endParaRPr>
          </a:p>
          <a:p>
            <a:pPr marL="0" indent="0">
              <a:buNone/>
            </a:pPr>
            <a:endParaRPr lang="en-US" sz="1300" dirty="0">
              <a:solidFill>
                <a:schemeClr val="accent1">
                  <a:lumMod val="40000"/>
                  <a:lumOff val="60000"/>
                </a:schemeClr>
              </a:solidFill>
            </a:endParaRPr>
          </a:p>
        </p:txBody>
      </p:sp>
      <p:sp>
        <p:nvSpPr>
          <p:cNvPr id="11" name="Text 9"/>
          <p:cNvSpPr/>
          <p:nvPr/>
        </p:nvSpPr>
        <p:spPr>
          <a:xfrm>
            <a:off x="822960" y="6256542"/>
            <a:ext cx="7315200" cy="320040"/>
          </a:xfrm>
          <a:prstGeom prst="rect">
            <a:avLst/>
          </a:prstGeom>
          <a:noFill/>
          <a:ln/>
        </p:spPr>
        <p:txBody>
          <a:bodyPr wrap="square" rtlCol="0" anchor="ctr"/>
          <a:lstStyle/>
          <a:p>
            <a:pPr marL="0" indent="0">
              <a:buNone/>
            </a:pPr>
            <a:r>
              <a:rPr lang="en-US" sz="1200" dirty="0">
                <a:solidFill>
                  <a:srgbClr val="8FA0B8"/>
                </a:solidFill>
                <a:latin typeface="Arial" pitchFamily="34" charset="0"/>
                <a:ea typeface="Arial" pitchFamily="34" charset="-122"/>
                <a:cs typeface="Arial" pitchFamily="34" charset="-120"/>
              </a:rPr>
              <a:t>Trường Đại học Sài Gòn — Thành phố Hồ Chí Minh, 2026</a:t>
            </a:r>
            <a:endParaRPr lang="en-US" sz="1200" dirty="0"/>
          </a:p>
        </p:txBody>
      </p:sp>
      <p:pic>
        <p:nvPicPr>
          <p:cNvPr id="12" name="Picture 11" descr="Graphical user interface, application&#10;&#10;Description automatically generated">
            <a:extLst>
              <a:ext uri="{FF2B5EF4-FFF2-40B4-BE49-F238E27FC236}">
                <a16:creationId xmlns:a16="http://schemas.microsoft.com/office/drawing/2014/main" id="{7978FBCA-B85D-50E3-3CD3-AB96E1FBB123}"/>
              </a:ext>
            </a:extLst>
          </p:cNvPr>
          <p:cNvPicPr>
            <a:picLocks noChangeAspect="1"/>
          </p:cNvPicPr>
          <p:nvPr/>
        </p:nvPicPr>
        <p:blipFill rotWithShape="1">
          <a:blip r:embed="rId3">
            <a:extLst>
              <a:ext uri="{28A0092B-C50C-407E-A947-70E740481C1C}">
                <a14:useLocalDpi xmlns:a14="http://schemas.microsoft.com/office/drawing/2010/main" val="0"/>
              </a:ext>
            </a:extLst>
          </a:blip>
          <a:srcRect l="44412" t="12222" r="40685" b="70000"/>
          <a:stretch/>
        </p:blipFill>
        <p:spPr>
          <a:xfrm>
            <a:off x="128017" y="-19417"/>
            <a:ext cx="1273756" cy="12737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6B5E04A-F42D-3123-C0F7-B8DDBEC76B62}"/>
              </a:ext>
            </a:extLst>
          </p:cNvPr>
          <p:cNvSpPr/>
          <p:nvPr/>
        </p:nvSpPr>
        <p:spPr>
          <a:xfrm>
            <a:off x="1970036" y="7834320"/>
            <a:ext cx="12310228" cy="6858000"/>
          </a:xfrm>
          <a:prstGeom prst="rect">
            <a:avLst/>
          </a:prstGeom>
          <a:solidFill>
            <a:srgbClr val="F4F7FB"/>
          </a:solidFill>
          <a:ln>
            <a:solidFill>
              <a:srgbClr val="F4F7F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90674" y="722725"/>
            <a:ext cx="10735056" cy="27432"/>
          </a:xfrm>
          <a:prstGeom prst="rect">
            <a:avLst/>
          </a:prstGeom>
          <a:solidFill>
            <a:srgbClr val="16B4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1064240" y="6437376"/>
            <a:ext cx="320040" cy="182880"/>
          </a:xfrm>
          <a:prstGeom prst="rect">
            <a:avLst/>
          </a:prstGeom>
          <a:noFill/>
        </p:spPr>
        <p:txBody>
          <a:bodyPr wrap="square" lIns="0" tIns="0" rIns="0" bIns="0" anchor="t">
            <a:spAutoFit/>
          </a:bodyPr>
          <a:lstStyle/>
          <a:p>
            <a:pPr algn="r"/>
            <a:r>
              <a:rPr sz="800" b="0" i="0">
                <a:solidFill>
                  <a:srgbClr val="6B788B"/>
                </a:solidFill>
                <a:latin typeface="Aptos"/>
              </a:rPr>
              <a:t>2</a:t>
            </a:r>
          </a:p>
        </p:txBody>
      </p:sp>
      <p:sp>
        <p:nvSpPr>
          <p:cNvPr id="32" name="Text 1">
            <a:extLst>
              <a:ext uri="{FF2B5EF4-FFF2-40B4-BE49-F238E27FC236}">
                <a16:creationId xmlns:a16="http://schemas.microsoft.com/office/drawing/2014/main" id="{058A2F11-BC76-FC1C-F322-D076361AB8AC}"/>
              </a:ext>
            </a:extLst>
          </p:cNvPr>
          <p:cNvSpPr/>
          <p:nvPr/>
        </p:nvSpPr>
        <p:spPr>
          <a:xfrm>
            <a:off x="395732" y="126526"/>
            <a:ext cx="11601450" cy="381000"/>
          </a:xfrm>
          <a:prstGeom prst="rect">
            <a:avLst/>
          </a:prstGeom>
          <a:noFill/>
          <a:ln/>
        </p:spPr>
        <p:txBody>
          <a:bodyPr wrap="square" lIns="0" tIns="0" rIns="0" bIns="0" rtlCol="0" anchor="ctr"/>
          <a:lstStyle/>
          <a:p>
            <a:pPr algn="ctr">
              <a:lnSpc>
                <a:spcPct val="90000"/>
              </a:lnSpc>
            </a:pPr>
            <a:r>
              <a:rPr lang="en-US" sz="3200" b="1" dirty="0">
                <a:solidFill>
                  <a:srgbClr val="002060"/>
                </a:solidFill>
                <a:latin typeface="Times New Roman" panose="02020603050405020304" pitchFamily="18" charset="0"/>
                <a:ea typeface="MiSans" panose="020B0604020202020204" charset="-122"/>
                <a:cs typeface="Times New Roman" panose="02020603050405020304" pitchFamily="18" charset="0"/>
              </a:rPr>
              <a:t>NỘI DUNG</a:t>
            </a:r>
            <a:endParaRPr lang="en-US" sz="3200" dirty="0">
              <a:solidFill>
                <a:srgbClr val="002060"/>
              </a:solidFill>
              <a:latin typeface="Times New Roman" panose="02020603050405020304" pitchFamily="18" charset="0"/>
              <a:ea typeface="MiSans" panose="020B0604020202020204" charset="-122"/>
              <a:cs typeface="Times New Roman" panose="02020603050405020304" pitchFamily="18" charset="0"/>
            </a:endParaRPr>
          </a:p>
        </p:txBody>
      </p:sp>
      <p:sp>
        <p:nvSpPr>
          <p:cNvPr id="58" name="Shape 3">
            <a:extLst>
              <a:ext uri="{FF2B5EF4-FFF2-40B4-BE49-F238E27FC236}">
                <a16:creationId xmlns:a16="http://schemas.microsoft.com/office/drawing/2014/main" id="{EAA112DA-48B0-25F1-1FAE-47217AB33160}"/>
              </a:ext>
            </a:extLst>
          </p:cNvPr>
          <p:cNvSpPr/>
          <p:nvPr/>
        </p:nvSpPr>
        <p:spPr>
          <a:xfrm>
            <a:off x="977618" y="1145387"/>
            <a:ext cx="4248576" cy="831578"/>
          </a:xfrm>
          <a:custGeom>
            <a:avLst/>
            <a:gdLst/>
            <a:ahLst/>
            <a:cxnLst/>
            <a:rect l="l" t="t" r="r" b="b"/>
            <a:pathLst>
              <a:path w="5597525" h="1654175">
                <a:moveTo>
                  <a:pt x="152399" y="0"/>
                </a:moveTo>
                <a:lnTo>
                  <a:pt x="5445126" y="0"/>
                </a:lnTo>
                <a:cubicBezTo>
                  <a:pt x="5529237" y="0"/>
                  <a:pt x="5597525" y="68288"/>
                  <a:pt x="5597525" y="152399"/>
                </a:cubicBezTo>
                <a:lnTo>
                  <a:pt x="5597525" y="1501776"/>
                </a:lnTo>
                <a:cubicBezTo>
                  <a:pt x="5597525" y="1585944"/>
                  <a:pt x="5529294" y="1654175"/>
                  <a:pt x="5445126" y="1654175"/>
                </a:cubicBezTo>
                <a:lnTo>
                  <a:pt x="152399" y="1654175"/>
                </a:lnTo>
                <a:cubicBezTo>
                  <a:pt x="68288" y="1654175"/>
                  <a:pt x="0" y="1585887"/>
                  <a:pt x="0" y="1501776"/>
                </a:cubicBezTo>
                <a:lnTo>
                  <a:pt x="0" y="152399"/>
                </a:lnTo>
                <a:cubicBezTo>
                  <a:pt x="0" y="68288"/>
                  <a:pt x="68288" y="0"/>
                  <a:pt x="152399"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txBody>
          <a:bodyPr/>
          <a:lstStyle/>
          <a:p>
            <a:endParaRPr lang="en-VN"/>
          </a:p>
        </p:txBody>
      </p:sp>
      <p:sp>
        <p:nvSpPr>
          <p:cNvPr id="59" name="Shape 4">
            <a:extLst>
              <a:ext uri="{FF2B5EF4-FFF2-40B4-BE49-F238E27FC236}">
                <a16:creationId xmlns:a16="http://schemas.microsoft.com/office/drawing/2014/main" id="{CFF903CE-40E1-5B9D-E210-A0A8B8538E2B}"/>
              </a:ext>
            </a:extLst>
          </p:cNvPr>
          <p:cNvSpPr/>
          <p:nvPr/>
        </p:nvSpPr>
        <p:spPr>
          <a:xfrm>
            <a:off x="1124931" y="1272121"/>
            <a:ext cx="631683" cy="590548"/>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sp>
      <p:sp>
        <p:nvSpPr>
          <p:cNvPr id="60" name="Text 5">
            <a:extLst>
              <a:ext uri="{FF2B5EF4-FFF2-40B4-BE49-F238E27FC236}">
                <a16:creationId xmlns:a16="http://schemas.microsoft.com/office/drawing/2014/main" id="{1FBD4C33-115A-4C47-61F2-1F7C2840B407}"/>
              </a:ext>
            </a:extLst>
          </p:cNvPr>
          <p:cNvSpPr/>
          <p:nvPr/>
        </p:nvSpPr>
        <p:spPr>
          <a:xfrm>
            <a:off x="1203558" y="1336571"/>
            <a:ext cx="525759" cy="406398"/>
          </a:xfrm>
          <a:prstGeom prst="rect">
            <a:avLst/>
          </a:prstGeom>
          <a:noFill/>
          <a:ln/>
        </p:spPr>
        <p:txBody>
          <a:bodyPr wrap="square" lIns="0" tIns="0" rIns="0" bIns="0" rtlCol="0" anchor="ctr"/>
          <a:lstStyle/>
          <a:p>
            <a:pPr algn="ctr">
              <a:lnSpc>
                <a:spcPct val="110000"/>
              </a:lnSpc>
            </a:pPr>
            <a:r>
              <a:rPr lang="en-US" sz="3200" b="1" dirty="0">
                <a:solidFill>
                  <a:srgbClr val="0071E3"/>
                </a:solidFill>
                <a:latin typeface="Times New Roman" panose="02020603050405020304" pitchFamily="18" charset="0"/>
                <a:ea typeface="MiSans" panose="020B0604020202020204" charset="-122"/>
                <a:cs typeface="Times New Roman" panose="02020603050405020304" pitchFamily="18" charset="0"/>
              </a:rPr>
              <a:t>01</a:t>
            </a:r>
            <a:endParaRPr lang="en-US" sz="3200" dirty="0">
              <a:latin typeface="Times New Roman" panose="02020603050405020304" pitchFamily="18" charset="0"/>
              <a:ea typeface="MiSans" panose="020B0604020202020204" charset="-122"/>
              <a:cs typeface="Times New Roman" panose="02020603050405020304" pitchFamily="18" charset="0"/>
            </a:endParaRPr>
          </a:p>
        </p:txBody>
      </p:sp>
      <p:sp>
        <p:nvSpPr>
          <p:cNvPr id="61" name="Text 6">
            <a:extLst>
              <a:ext uri="{FF2B5EF4-FFF2-40B4-BE49-F238E27FC236}">
                <a16:creationId xmlns:a16="http://schemas.microsoft.com/office/drawing/2014/main" id="{656F4ABA-A6B3-27E1-B8A1-71F3FF80DB0C}"/>
              </a:ext>
            </a:extLst>
          </p:cNvPr>
          <p:cNvSpPr/>
          <p:nvPr/>
        </p:nvSpPr>
        <p:spPr>
          <a:xfrm>
            <a:off x="1407930" y="1443891"/>
            <a:ext cx="4619625" cy="266700"/>
          </a:xfrm>
          <a:prstGeom prst="rect">
            <a:avLst/>
          </a:prstGeom>
          <a:noFill/>
          <a:ln/>
        </p:spPr>
        <p:txBody>
          <a:bodyPr wrap="square" lIns="0" tIns="0" rIns="0" bIns="0" rtlCol="0" anchor="ctr"/>
          <a:lstStyle/>
          <a:p>
            <a:pPr>
              <a:lnSpc>
                <a:spcPct val="110000"/>
              </a:lnSpc>
            </a:pPr>
            <a:endParaRPr lang="en-US" sz="2200" dirty="0">
              <a:solidFill>
                <a:schemeClr val="tx2"/>
              </a:solidFill>
              <a:latin typeface="Times New Roman" panose="02020603050405020304" pitchFamily="18" charset="0"/>
              <a:ea typeface="MiSans" panose="020B0604020202020204" charset="-122"/>
              <a:cs typeface="Times New Roman" panose="02020603050405020304" pitchFamily="18" charset="0"/>
            </a:endParaRPr>
          </a:p>
        </p:txBody>
      </p:sp>
      <p:sp>
        <p:nvSpPr>
          <p:cNvPr id="68" name="Shape 13">
            <a:extLst>
              <a:ext uri="{FF2B5EF4-FFF2-40B4-BE49-F238E27FC236}">
                <a16:creationId xmlns:a16="http://schemas.microsoft.com/office/drawing/2014/main" id="{AAF5D59C-0826-DEC9-9CB1-37D1A6EFBB78}"/>
              </a:ext>
            </a:extLst>
          </p:cNvPr>
          <p:cNvSpPr/>
          <p:nvPr/>
        </p:nvSpPr>
        <p:spPr>
          <a:xfrm>
            <a:off x="923273" y="2180753"/>
            <a:ext cx="4302922" cy="898950"/>
          </a:xfrm>
          <a:custGeom>
            <a:avLst/>
            <a:gdLst/>
            <a:ahLst/>
            <a:cxnLst/>
            <a:rect l="l" t="t" r="r" b="b"/>
            <a:pathLst>
              <a:path w="5597525" h="1406525">
                <a:moveTo>
                  <a:pt x="152397" y="0"/>
                </a:moveTo>
                <a:lnTo>
                  <a:pt x="5445128" y="0"/>
                </a:lnTo>
                <a:cubicBezTo>
                  <a:pt x="5529295" y="0"/>
                  <a:pt x="5597525" y="68230"/>
                  <a:pt x="5597525" y="152397"/>
                </a:cubicBezTo>
                <a:lnTo>
                  <a:pt x="5597525" y="1254128"/>
                </a:lnTo>
                <a:cubicBezTo>
                  <a:pt x="5597525" y="1338295"/>
                  <a:pt x="5529295" y="1406525"/>
                  <a:pt x="5445128" y="1406525"/>
                </a:cubicBezTo>
                <a:lnTo>
                  <a:pt x="152397" y="1406525"/>
                </a:lnTo>
                <a:cubicBezTo>
                  <a:pt x="68287" y="1406525"/>
                  <a:pt x="0" y="1338238"/>
                  <a:pt x="0" y="1254128"/>
                </a:cubicBezTo>
                <a:lnTo>
                  <a:pt x="0" y="152397"/>
                </a:lnTo>
                <a:cubicBezTo>
                  <a:pt x="0" y="68230"/>
                  <a:pt x="68230" y="0"/>
                  <a:pt x="152397"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sp>
      <p:sp>
        <p:nvSpPr>
          <p:cNvPr id="71" name="Text 16">
            <a:extLst>
              <a:ext uri="{FF2B5EF4-FFF2-40B4-BE49-F238E27FC236}">
                <a16:creationId xmlns:a16="http://schemas.microsoft.com/office/drawing/2014/main" id="{DEDBE08C-BBCC-DC6D-1D7E-DA297B9B5D73}"/>
              </a:ext>
            </a:extLst>
          </p:cNvPr>
          <p:cNvSpPr/>
          <p:nvPr/>
        </p:nvSpPr>
        <p:spPr>
          <a:xfrm>
            <a:off x="1807713" y="1406169"/>
            <a:ext cx="4844355" cy="275358"/>
          </a:xfrm>
          <a:prstGeom prst="rect">
            <a:avLst/>
          </a:prstGeom>
          <a:noFill/>
          <a:ln/>
        </p:spPr>
        <p:txBody>
          <a:bodyPr wrap="square" lIns="0" tIns="0" rIns="0" bIns="0" rtlCol="0" anchor="ctr"/>
          <a:lstStyle/>
          <a:p>
            <a:pPr>
              <a:lnSpc>
                <a:spcPct val="110000"/>
              </a:lnSpc>
            </a:pPr>
            <a:r>
              <a:rPr lang="en-US" sz="16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GIỚI THIỆU</a:t>
            </a:r>
          </a:p>
        </p:txBody>
      </p:sp>
      <p:sp>
        <p:nvSpPr>
          <p:cNvPr id="78" name="Shape 23">
            <a:extLst>
              <a:ext uri="{FF2B5EF4-FFF2-40B4-BE49-F238E27FC236}">
                <a16:creationId xmlns:a16="http://schemas.microsoft.com/office/drawing/2014/main" id="{B9B31178-D1C2-364D-BCAB-113BE0E67993}"/>
              </a:ext>
            </a:extLst>
          </p:cNvPr>
          <p:cNvSpPr/>
          <p:nvPr/>
        </p:nvSpPr>
        <p:spPr>
          <a:xfrm>
            <a:off x="926449" y="3371344"/>
            <a:ext cx="4302922" cy="779691"/>
          </a:xfrm>
          <a:custGeom>
            <a:avLst/>
            <a:gdLst/>
            <a:ahLst/>
            <a:cxnLst/>
            <a:rect l="l" t="t" r="r" b="b"/>
            <a:pathLst>
              <a:path w="11426825" h="1406525">
                <a:moveTo>
                  <a:pt x="152397" y="0"/>
                </a:moveTo>
                <a:lnTo>
                  <a:pt x="11274428" y="0"/>
                </a:lnTo>
                <a:cubicBezTo>
                  <a:pt x="11358595" y="0"/>
                  <a:pt x="11426825" y="68230"/>
                  <a:pt x="11426825" y="152397"/>
                </a:cubicBezTo>
                <a:lnTo>
                  <a:pt x="11426825" y="1254128"/>
                </a:lnTo>
                <a:cubicBezTo>
                  <a:pt x="11426825" y="1338295"/>
                  <a:pt x="11358595" y="1406525"/>
                  <a:pt x="11274428" y="1406525"/>
                </a:cubicBezTo>
                <a:lnTo>
                  <a:pt x="152397" y="1406525"/>
                </a:lnTo>
                <a:cubicBezTo>
                  <a:pt x="68287" y="1406525"/>
                  <a:pt x="0" y="1338238"/>
                  <a:pt x="0" y="1254128"/>
                </a:cubicBezTo>
                <a:lnTo>
                  <a:pt x="0" y="152397"/>
                </a:lnTo>
                <a:cubicBezTo>
                  <a:pt x="0" y="68230"/>
                  <a:pt x="68230" y="0"/>
                  <a:pt x="152397"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sp>
      <p:sp>
        <p:nvSpPr>
          <p:cNvPr id="14" name="Text 12">
            <a:extLst>
              <a:ext uri="{FF2B5EF4-FFF2-40B4-BE49-F238E27FC236}">
                <a16:creationId xmlns:a16="http://schemas.microsoft.com/office/drawing/2014/main" id="{888D3C8D-D37A-FE99-9931-D57BC2C7AF34}"/>
              </a:ext>
            </a:extLst>
          </p:cNvPr>
          <p:cNvSpPr/>
          <p:nvPr/>
        </p:nvSpPr>
        <p:spPr>
          <a:xfrm>
            <a:off x="1903208" y="3549055"/>
            <a:ext cx="3322986" cy="457200"/>
          </a:xfrm>
          <a:prstGeom prst="rect">
            <a:avLst/>
          </a:prstGeom>
          <a:noFill/>
          <a:ln/>
        </p:spPr>
        <p:txBody>
          <a:bodyPr wrap="square" lIns="0" tIns="0" rIns="0" bIns="0" rtlCol="0" anchor="ctr"/>
          <a:lstStyle/>
          <a:p>
            <a:pPr>
              <a:lnSpc>
                <a:spcPct val="110000"/>
              </a:lnSpc>
            </a:pPr>
            <a:endParaRPr lang="en-US" sz="2200" dirty="0">
              <a:solidFill>
                <a:schemeClr val="tx2"/>
              </a:solidFill>
              <a:latin typeface="Times New Roman" panose="02020603050405020304" pitchFamily="18" charset="0"/>
              <a:ea typeface="MiSans" panose="020B0604020202020204" charset="-122"/>
              <a:cs typeface="Times New Roman" panose="02020603050405020304" pitchFamily="18" charset="0"/>
            </a:endParaRPr>
          </a:p>
        </p:txBody>
      </p:sp>
      <p:sp>
        <p:nvSpPr>
          <p:cNvPr id="6" name="Shape 4">
            <a:extLst>
              <a:ext uri="{FF2B5EF4-FFF2-40B4-BE49-F238E27FC236}">
                <a16:creationId xmlns:a16="http://schemas.microsoft.com/office/drawing/2014/main" id="{80EE82AC-5057-246F-7DA1-D6695DB1F843}"/>
              </a:ext>
            </a:extLst>
          </p:cNvPr>
          <p:cNvSpPr/>
          <p:nvPr/>
        </p:nvSpPr>
        <p:spPr>
          <a:xfrm>
            <a:off x="1115325" y="2295167"/>
            <a:ext cx="650894" cy="665667"/>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sp>
      <p:sp>
        <p:nvSpPr>
          <p:cNvPr id="15" name="Text 5">
            <a:extLst>
              <a:ext uri="{FF2B5EF4-FFF2-40B4-BE49-F238E27FC236}">
                <a16:creationId xmlns:a16="http://schemas.microsoft.com/office/drawing/2014/main" id="{02AA2DFD-D591-297A-F7F8-92CA76FA4C9F}"/>
              </a:ext>
            </a:extLst>
          </p:cNvPr>
          <p:cNvSpPr/>
          <p:nvPr/>
        </p:nvSpPr>
        <p:spPr>
          <a:xfrm>
            <a:off x="1188072" y="2433123"/>
            <a:ext cx="525759" cy="467089"/>
          </a:xfrm>
          <a:prstGeom prst="rect">
            <a:avLst/>
          </a:prstGeom>
          <a:noFill/>
          <a:ln/>
        </p:spPr>
        <p:txBody>
          <a:bodyPr wrap="square" lIns="0" tIns="0" rIns="0" bIns="0" rtlCol="0" anchor="ctr"/>
          <a:lstStyle/>
          <a:p>
            <a:pPr algn="ctr">
              <a:lnSpc>
                <a:spcPct val="110000"/>
              </a:lnSpc>
            </a:pPr>
            <a:r>
              <a:rPr lang="en-US" sz="3200" b="1" dirty="0">
                <a:solidFill>
                  <a:srgbClr val="0071E3"/>
                </a:solidFill>
                <a:latin typeface="Times New Roman" panose="02020603050405020304" pitchFamily="18" charset="0"/>
                <a:ea typeface="MiSans" panose="020B0604020202020204" charset="-122"/>
                <a:cs typeface="Times New Roman" panose="02020603050405020304" pitchFamily="18" charset="0"/>
              </a:rPr>
              <a:t>02</a:t>
            </a:r>
            <a:endParaRPr lang="en-US" sz="3200" dirty="0">
              <a:latin typeface="Times New Roman" panose="02020603050405020304" pitchFamily="18" charset="0"/>
              <a:ea typeface="MiSans" panose="020B0604020202020204" charset="-122"/>
              <a:cs typeface="Times New Roman" panose="02020603050405020304" pitchFamily="18" charset="0"/>
            </a:endParaRPr>
          </a:p>
        </p:txBody>
      </p:sp>
      <p:sp>
        <p:nvSpPr>
          <p:cNvPr id="16" name="Text 5">
            <a:extLst>
              <a:ext uri="{FF2B5EF4-FFF2-40B4-BE49-F238E27FC236}">
                <a16:creationId xmlns:a16="http://schemas.microsoft.com/office/drawing/2014/main" id="{78808C3F-B9EE-1655-529F-F50D7849E0CF}"/>
              </a:ext>
            </a:extLst>
          </p:cNvPr>
          <p:cNvSpPr/>
          <p:nvPr/>
        </p:nvSpPr>
        <p:spPr>
          <a:xfrm>
            <a:off x="1124931" y="3431524"/>
            <a:ext cx="579794" cy="604027"/>
          </a:xfrm>
          <a:prstGeom prst="rect">
            <a:avLst/>
          </a:prstGeom>
          <a:noFill/>
          <a:ln/>
        </p:spPr>
        <p:txBody>
          <a:bodyPr wrap="square" lIns="0" tIns="0" rIns="0" bIns="0" rtlCol="0" anchor="ctr"/>
          <a:lstStyle/>
          <a:p>
            <a:pPr algn="ctr">
              <a:lnSpc>
                <a:spcPct val="110000"/>
              </a:lnSpc>
            </a:pPr>
            <a:r>
              <a:rPr lang="en-US" sz="3200" b="1" dirty="0">
                <a:solidFill>
                  <a:srgbClr val="0071E3"/>
                </a:solidFill>
                <a:latin typeface="Times New Roman" panose="02020603050405020304" pitchFamily="18" charset="0"/>
                <a:ea typeface="MiSans" panose="020B0604020202020204" charset="-122"/>
                <a:cs typeface="Times New Roman" panose="02020603050405020304" pitchFamily="18" charset="0"/>
              </a:rPr>
              <a:t>03</a:t>
            </a:r>
            <a:endParaRPr lang="en-US" sz="3200" dirty="0">
              <a:latin typeface="Times New Roman" panose="02020603050405020304" pitchFamily="18" charset="0"/>
              <a:ea typeface="MiSans" panose="020B0604020202020204" charset="-122"/>
              <a:cs typeface="Times New Roman" panose="02020603050405020304" pitchFamily="18" charset="0"/>
            </a:endParaRPr>
          </a:p>
        </p:txBody>
      </p:sp>
      <p:sp>
        <p:nvSpPr>
          <p:cNvPr id="18" name="Shape 4">
            <a:extLst>
              <a:ext uri="{FF2B5EF4-FFF2-40B4-BE49-F238E27FC236}">
                <a16:creationId xmlns:a16="http://schemas.microsoft.com/office/drawing/2014/main" id="{DC43FAD6-084B-5B3B-C0F0-F63CA8602850}"/>
              </a:ext>
            </a:extLst>
          </p:cNvPr>
          <p:cNvSpPr/>
          <p:nvPr/>
        </p:nvSpPr>
        <p:spPr>
          <a:xfrm>
            <a:off x="1124931" y="3489866"/>
            <a:ext cx="631682" cy="545685"/>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sp>
      <p:sp>
        <p:nvSpPr>
          <p:cNvPr id="5" name="Text 11">
            <a:extLst>
              <a:ext uri="{FF2B5EF4-FFF2-40B4-BE49-F238E27FC236}">
                <a16:creationId xmlns:a16="http://schemas.microsoft.com/office/drawing/2014/main" id="{3AB2B1C2-E306-060A-31A4-8653B4F7D4C0}"/>
              </a:ext>
            </a:extLst>
          </p:cNvPr>
          <p:cNvSpPr/>
          <p:nvPr/>
        </p:nvSpPr>
        <p:spPr>
          <a:xfrm>
            <a:off x="1094615" y="6754282"/>
            <a:ext cx="4619625" cy="266700"/>
          </a:xfrm>
          <a:prstGeom prst="rect">
            <a:avLst/>
          </a:prstGeom>
          <a:noFill/>
          <a:ln/>
        </p:spPr>
        <p:txBody>
          <a:bodyPr wrap="square" lIns="0" tIns="0" rIns="0" bIns="0" rtlCol="0" anchor="ctr"/>
          <a:lstStyle/>
          <a:p>
            <a:pPr>
              <a:lnSpc>
                <a:spcPct val="110000"/>
              </a:lnSpc>
            </a:pPr>
            <a:endParaRPr lang="en-US" sz="1400" dirty="0">
              <a:latin typeface="MiSans" panose="020B0604020202020204" charset="-122"/>
              <a:ea typeface="MiSans" panose="020B0604020202020204" charset="-122"/>
              <a:cs typeface="MiSans" panose="020B0604020202020204" charset="-122"/>
            </a:endParaRPr>
          </a:p>
        </p:txBody>
      </p:sp>
      <p:sp>
        <p:nvSpPr>
          <p:cNvPr id="12" name="Text 16">
            <a:extLst>
              <a:ext uri="{FF2B5EF4-FFF2-40B4-BE49-F238E27FC236}">
                <a16:creationId xmlns:a16="http://schemas.microsoft.com/office/drawing/2014/main" id="{E5C4DE92-FDAA-68BA-4000-9003C9DDEF62}"/>
              </a:ext>
            </a:extLst>
          </p:cNvPr>
          <p:cNvSpPr/>
          <p:nvPr/>
        </p:nvSpPr>
        <p:spPr>
          <a:xfrm>
            <a:off x="1814182" y="2553450"/>
            <a:ext cx="4844355" cy="275358"/>
          </a:xfrm>
          <a:prstGeom prst="rect">
            <a:avLst/>
          </a:prstGeom>
          <a:noFill/>
          <a:ln/>
        </p:spPr>
        <p:txBody>
          <a:bodyPr wrap="square" lIns="0" tIns="0" rIns="0" bIns="0" rtlCol="0" anchor="ctr"/>
          <a:lstStyle/>
          <a:p>
            <a:pPr>
              <a:lnSpc>
                <a:spcPct val="110000"/>
              </a:lnSpc>
            </a:pPr>
            <a:r>
              <a:rPr lang="en-US" sz="16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NGHIÊN CỨU NGƯỜI DÙNG</a:t>
            </a:r>
          </a:p>
        </p:txBody>
      </p:sp>
      <p:sp>
        <p:nvSpPr>
          <p:cNvPr id="13" name="Text 16">
            <a:extLst>
              <a:ext uri="{FF2B5EF4-FFF2-40B4-BE49-F238E27FC236}">
                <a16:creationId xmlns:a16="http://schemas.microsoft.com/office/drawing/2014/main" id="{A8187406-FD9B-5792-96A8-786AC8D0305F}"/>
              </a:ext>
            </a:extLst>
          </p:cNvPr>
          <p:cNvSpPr/>
          <p:nvPr/>
        </p:nvSpPr>
        <p:spPr>
          <a:xfrm>
            <a:off x="1825850" y="3635782"/>
            <a:ext cx="3602003" cy="239895"/>
          </a:xfrm>
          <a:prstGeom prst="rect">
            <a:avLst/>
          </a:prstGeom>
          <a:noFill/>
          <a:ln/>
        </p:spPr>
        <p:txBody>
          <a:bodyPr wrap="square" lIns="0" tIns="0" rIns="0" bIns="0" rtlCol="0" anchor="ctr"/>
          <a:lstStyle/>
          <a:p>
            <a:pPr>
              <a:lnSpc>
                <a:spcPct val="110000"/>
              </a:lnSpc>
            </a:pPr>
            <a:r>
              <a:rPr lang="en-VN" sz="1600" b="1">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CẤU TRÚC VÀ WIREFRAME</a:t>
            </a:r>
          </a:p>
          <a:p>
            <a:pPr>
              <a:lnSpc>
                <a:spcPct val="110000"/>
              </a:lnSpc>
            </a:pPr>
            <a:r>
              <a:rPr lang="en-VN" sz="1600" b="1">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 (LOW-FI PROTOTYPE)</a:t>
            </a:r>
            <a:r>
              <a:rPr lang="en-VN" sz="1600">
                <a:solidFill>
                  <a:schemeClr val="accent5">
                    <a:lumMod val="50000"/>
                  </a:schemeClr>
                </a:solidFill>
                <a:effectLst/>
                <a:latin typeface="Times New Roman" panose="02020603050405020304" pitchFamily="18" charset="0"/>
                <a:cs typeface="Times New Roman" panose="02020603050405020304" pitchFamily="18" charset="0"/>
              </a:rPr>
              <a:t> </a:t>
            </a:r>
            <a:endParaRPr lang="en-US" sz="1600"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endParaRPr>
          </a:p>
        </p:txBody>
      </p:sp>
      <p:sp>
        <p:nvSpPr>
          <p:cNvPr id="64" name="Shape 3">
            <a:extLst>
              <a:ext uri="{FF2B5EF4-FFF2-40B4-BE49-F238E27FC236}">
                <a16:creationId xmlns:a16="http://schemas.microsoft.com/office/drawing/2014/main" id="{EDAD2FB2-68A2-B048-D672-4E9DD8B9DD4E}"/>
              </a:ext>
            </a:extLst>
          </p:cNvPr>
          <p:cNvSpPr/>
          <p:nvPr/>
        </p:nvSpPr>
        <p:spPr>
          <a:xfrm>
            <a:off x="6573208" y="1145387"/>
            <a:ext cx="4248576" cy="831578"/>
          </a:xfrm>
          <a:custGeom>
            <a:avLst/>
            <a:gdLst/>
            <a:ahLst/>
            <a:cxnLst/>
            <a:rect l="l" t="t" r="r" b="b"/>
            <a:pathLst>
              <a:path w="5597525" h="1654175">
                <a:moveTo>
                  <a:pt x="152399" y="0"/>
                </a:moveTo>
                <a:lnTo>
                  <a:pt x="5445126" y="0"/>
                </a:lnTo>
                <a:cubicBezTo>
                  <a:pt x="5529237" y="0"/>
                  <a:pt x="5597525" y="68288"/>
                  <a:pt x="5597525" y="152399"/>
                </a:cubicBezTo>
                <a:lnTo>
                  <a:pt x="5597525" y="1501776"/>
                </a:lnTo>
                <a:cubicBezTo>
                  <a:pt x="5597525" y="1585944"/>
                  <a:pt x="5529294" y="1654175"/>
                  <a:pt x="5445126" y="1654175"/>
                </a:cubicBezTo>
                <a:lnTo>
                  <a:pt x="152399" y="1654175"/>
                </a:lnTo>
                <a:cubicBezTo>
                  <a:pt x="68288" y="1654175"/>
                  <a:pt x="0" y="1585887"/>
                  <a:pt x="0" y="1501776"/>
                </a:cubicBezTo>
                <a:lnTo>
                  <a:pt x="0" y="152399"/>
                </a:lnTo>
                <a:cubicBezTo>
                  <a:pt x="0" y="68288"/>
                  <a:pt x="68288" y="0"/>
                  <a:pt x="152399"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txBody>
          <a:bodyPr/>
          <a:lstStyle/>
          <a:p>
            <a:endParaRPr lang="en-VN"/>
          </a:p>
        </p:txBody>
      </p:sp>
      <p:sp>
        <p:nvSpPr>
          <p:cNvPr id="65" name="Shape 4">
            <a:extLst>
              <a:ext uri="{FF2B5EF4-FFF2-40B4-BE49-F238E27FC236}">
                <a16:creationId xmlns:a16="http://schemas.microsoft.com/office/drawing/2014/main" id="{09748291-C9F2-91B5-65C7-3867B8CEBED4}"/>
              </a:ext>
            </a:extLst>
          </p:cNvPr>
          <p:cNvSpPr/>
          <p:nvPr/>
        </p:nvSpPr>
        <p:spPr>
          <a:xfrm>
            <a:off x="6693225" y="1272121"/>
            <a:ext cx="631683" cy="590548"/>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sp>
      <p:sp>
        <p:nvSpPr>
          <p:cNvPr id="66" name="Text 5">
            <a:extLst>
              <a:ext uri="{FF2B5EF4-FFF2-40B4-BE49-F238E27FC236}">
                <a16:creationId xmlns:a16="http://schemas.microsoft.com/office/drawing/2014/main" id="{34951095-B9A7-844A-3795-6E24282441E5}"/>
              </a:ext>
            </a:extLst>
          </p:cNvPr>
          <p:cNvSpPr/>
          <p:nvPr/>
        </p:nvSpPr>
        <p:spPr>
          <a:xfrm>
            <a:off x="6771852" y="1336571"/>
            <a:ext cx="525759" cy="406398"/>
          </a:xfrm>
          <a:prstGeom prst="rect">
            <a:avLst/>
          </a:prstGeom>
          <a:noFill/>
          <a:ln/>
        </p:spPr>
        <p:txBody>
          <a:bodyPr wrap="square" lIns="0" tIns="0" rIns="0" bIns="0" rtlCol="0" anchor="ctr"/>
          <a:lstStyle/>
          <a:p>
            <a:pPr algn="ctr">
              <a:lnSpc>
                <a:spcPct val="110000"/>
              </a:lnSpc>
            </a:pPr>
            <a:r>
              <a:rPr lang="en-US" sz="3200" b="1" dirty="0">
                <a:solidFill>
                  <a:srgbClr val="0071E3"/>
                </a:solidFill>
                <a:latin typeface="Times New Roman" panose="02020603050405020304" pitchFamily="18" charset="0"/>
                <a:ea typeface="MiSans" panose="020B0604020202020204" charset="-122"/>
                <a:cs typeface="Times New Roman" panose="02020603050405020304" pitchFamily="18" charset="0"/>
              </a:rPr>
              <a:t>04</a:t>
            </a:r>
            <a:endParaRPr lang="en-US" sz="3200" dirty="0">
              <a:latin typeface="Times New Roman" panose="02020603050405020304" pitchFamily="18" charset="0"/>
              <a:ea typeface="MiSans" panose="020B0604020202020204" charset="-122"/>
              <a:cs typeface="Times New Roman" panose="02020603050405020304" pitchFamily="18" charset="0"/>
            </a:endParaRPr>
          </a:p>
        </p:txBody>
      </p:sp>
      <p:sp>
        <p:nvSpPr>
          <p:cNvPr id="67" name="Shape 13">
            <a:extLst>
              <a:ext uri="{FF2B5EF4-FFF2-40B4-BE49-F238E27FC236}">
                <a16:creationId xmlns:a16="http://schemas.microsoft.com/office/drawing/2014/main" id="{856C2574-6B52-6E15-78FF-255974E3C444}"/>
              </a:ext>
            </a:extLst>
          </p:cNvPr>
          <p:cNvSpPr/>
          <p:nvPr/>
        </p:nvSpPr>
        <p:spPr>
          <a:xfrm>
            <a:off x="6518863" y="2180753"/>
            <a:ext cx="4302922" cy="898950"/>
          </a:xfrm>
          <a:custGeom>
            <a:avLst/>
            <a:gdLst/>
            <a:ahLst/>
            <a:cxnLst/>
            <a:rect l="l" t="t" r="r" b="b"/>
            <a:pathLst>
              <a:path w="5597525" h="1406525">
                <a:moveTo>
                  <a:pt x="152397" y="0"/>
                </a:moveTo>
                <a:lnTo>
                  <a:pt x="5445128" y="0"/>
                </a:lnTo>
                <a:cubicBezTo>
                  <a:pt x="5529295" y="0"/>
                  <a:pt x="5597525" y="68230"/>
                  <a:pt x="5597525" y="152397"/>
                </a:cubicBezTo>
                <a:lnTo>
                  <a:pt x="5597525" y="1254128"/>
                </a:lnTo>
                <a:cubicBezTo>
                  <a:pt x="5597525" y="1338295"/>
                  <a:pt x="5529295" y="1406525"/>
                  <a:pt x="5445128" y="1406525"/>
                </a:cubicBezTo>
                <a:lnTo>
                  <a:pt x="152397" y="1406525"/>
                </a:lnTo>
                <a:cubicBezTo>
                  <a:pt x="68287" y="1406525"/>
                  <a:pt x="0" y="1338238"/>
                  <a:pt x="0" y="1254128"/>
                </a:cubicBezTo>
                <a:lnTo>
                  <a:pt x="0" y="152397"/>
                </a:lnTo>
                <a:cubicBezTo>
                  <a:pt x="0" y="68230"/>
                  <a:pt x="68230" y="0"/>
                  <a:pt x="152397"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sp>
      <p:sp>
        <p:nvSpPr>
          <p:cNvPr id="69" name="Shape 23">
            <a:extLst>
              <a:ext uri="{FF2B5EF4-FFF2-40B4-BE49-F238E27FC236}">
                <a16:creationId xmlns:a16="http://schemas.microsoft.com/office/drawing/2014/main" id="{AC74DE37-6B01-BC18-8BD3-9F220799675F}"/>
              </a:ext>
            </a:extLst>
          </p:cNvPr>
          <p:cNvSpPr/>
          <p:nvPr/>
        </p:nvSpPr>
        <p:spPr>
          <a:xfrm>
            <a:off x="6522039" y="3371344"/>
            <a:ext cx="4302922" cy="779691"/>
          </a:xfrm>
          <a:custGeom>
            <a:avLst/>
            <a:gdLst/>
            <a:ahLst/>
            <a:cxnLst/>
            <a:rect l="l" t="t" r="r" b="b"/>
            <a:pathLst>
              <a:path w="11426825" h="1406525">
                <a:moveTo>
                  <a:pt x="152397" y="0"/>
                </a:moveTo>
                <a:lnTo>
                  <a:pt x="11274428" y="0"/>
                </a:lnTo>
                <a:cubicBezTo>
                  <a:pt x="11358595" y="0"/>
                  <a:pt x="11426825" y="68230"/>
                  <a:pt x="11426825" y="152397"/>
                </a:cubicBezTo>
                <a:lnTo>
                  <a:pt x="11426825" y="1254128"/>
                </a:lnTo>
                <a:cubicBezTo>
                  <a:pt x="11426825" y="1338295"/>
                  <a:pt x="11358595" y="1406525"/>
                  <a:pt x="11274428" y="1406525"/>
                </a:cubicBezTo>
                <a:lnTo>
                  <a:pt x="152397" y="1406525"/>
                </a:lnTo>
                <a:cubicBezTo>
                  <a:pt x="68287" y="1406525"/>
                  <a:pt x="0" y="1338238"/>
                  <a:pt x="0" y="1254128"/>
                </a:cubicBezTo>
                <a:lnTo>
                  <a:pt x="0" y="152397"/>
                </a:lnTo>
                <a:cubicBezTo>
                  <a:pt x="0" y="68230"/>
                  <a:pt x="68230" y="0"/>
                  <a:pt x="152397"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sp>
      <p:sp>
        <p:nvSpPr>
          <p:cNvPr id="70" name="Text 12">
            <a:extLst>
              <a:ext uri="{FF2B5EF4-FFF2-40B4-BE49-F238E27FC236}">
                <a16:creationId xmlns:a16="http://schemas.microsoft.com/office/drawing/2014/main" id="{73AB7DA7-8C97-4764-4DD9-B581788DF93C}"/>
              </a:ext>
            </a:extLst>
          </p:cNvPr>
          <p:cNvSpPr/>
          <p:nvPr/>
        </p:nvSpPr>
        <p:spPr>
          <a:xfrm>
            <a:off x="7498798" y="3549055"/>
            <a:ext cx="3322986" cy="457200"/>
          </a:xfrm>
          <a:prstGeom prst="rect">
            <a:avLst/>
          </a:prstGeom>
          <a:noFill/>
          <a:ln/>
        </p:spPr>
        <p:txBody>
          <a:bodyPr wrap="square" lIns="0" tIns="0" rIns="0" bIns="0" rtlCol="0" anchor="ctr"/>
          <a:lstStyle/>
          <a:p>
            <a:pPr>
              <a:lnSpc>
                <a:spcPct val="110000"/>
              </a:lnSpc>
            </a:pPr>
            <a:endParaRPr lang="en-US" sz="2200" dirty="0">
              <a:solidFill>
                <a:schemeClr val="tx2"/>
              </a:solidFill>
              <a:latin typeface="Times New Roman" panose="02020603050405020304" pitchFamily="18" charset="0"/>
              <a:ea typeface="MiSans" panose="020B0604020202020204" charset="-122"/>
              <a:cs typeface="Times New Roman" panose="02020603050405020304" pitchFamily="18" charset="0"/>
            </a:endParaRPr>
          </a:p>
        </p:txBody>
      </p:sp>
      <p:sp>
        <p:nvSpPr>
          <p:cNvPr id="72" name="Shape 4">
            <a:extLst>
              <a:ext uri="{FF2B5EF4-FFF2-40B4-BE49-F238E27FC236}">
                <a16:creationId xmlns:a16="http://schemas.microsoft.com/office/drawing/2014/main" id="{C6088F6F-D0FE-55D5-0A15-E014D5351CF7}"/>
              </a:ext>
            </a:extLst>
          </p:cNvPr>
          <p:cNvSpPr/>
          <p:nvPr/>
        </p:nvSpPr>
        <p:spPr>
          <a:xfrm>
            <a:off x="6683619" y="2295167"/>
            <a:ext cx="650894" cy="665667"/>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sp>
      <p:sp>
        <p:nvSpPr>
          <p:cNvPr id="73" name="Text 5">
            <a:extLst>
              <a:ext uri="{FF2B5EF4-FFF2-40B4-BE49-F238E27FC236}">
                <a16:creationId xmlns:a16="http://schemas.microsoft.com/office/drawing/2014/main" id="{B04598A4-28D8-1887-7D2C-FF1538E0AC36}"/>
              </a:ext>
            </a:extLst>
          </p:cNvPr>
          <p:cNvSpPr/>
          <p:nvPr/>
        </p:nvSpPr>
        <p:spPr>
          <a:xfrm>
            <a:off x="6756366" y="2433123"/>
            <a:ext cx="525759" cy="467089"/>
          </a:xfrm>
          <a:prstGeom prst="rect">
            <a:avLst/>
          </a:prstGeom>
          <a:noFill/>
          <a:ln/>
        </p:spPr>
        <p:txBody>
          <a:bodyPr wrap="square" lIns="0" tIns="0" rIns="0" bIns="0" rtlCol="0" anchor="ctr"/>
          <a:lstStyle/>
          <a:p>
            <a:pPr algn="ctr">
              <a:lnSpc>
                <a:spcPct val="110000"/>
              </a:lnSpc>
            </a:pPr>
            <a:r>
              <a:rPr lang="en-US" sz="3200" b="1" dirty="0">
                <a:solidFill>
                  <a:srgbClr val="0071E3"/>
                </a:solidFill>
                <a:latin typeface="Times New Roman" panose="02020603050405020304" pitchFamily="18" charset="0"/>
                <a:ea typeface="MiSans" panose="020B0604020202020204" charset="-122"/>
                <a:cs typeface="Times New Roman" panose="02020603050405020304" pitchFamily="18" charset="0"/>
              </a:rPr>
              <a:t>05</a:t>
            </a:r>
            <a:endParaRPr lang="en-US" sz="3200" dirty="0">
              <a:latin typeface="Times New Roman" panose="02020603050405020304" pitchFamily="18" charset="0"/>
              <a:ea typeface="MiSans" panose="020B0604020202020204" charset="-122"/>
              <a:cs typeface="Times New Roman" panose="02020603050405020304" pitchFamily="18" charset="0"/>
            </a:endParaRPr>
          </a:p>
        </p:txBody>
      </p:sp>
      <p:sp>
        <p:nvSpPr>
          <p:cNvPr id="74" name="Text 5">
            <a:extLst>
              <a:ext uri="{FF2B5EF4-FFF2-40B4-BE49-F238E27FC236}">
                <a16:creationId xmlns:a16="http://schemas.microsoft.com/office/drawing/2014/main" id="{75D65C5F-39EB-1EDF-DE80-ACFFF9A2535C}"/>
              </a:ext>
            </a:extLst>
          </p:cNvPr>
          <p:cNvSpPr/>
          <p:nvPr/>
        </p:nvSpPr>
        <p:spPr>
          <a:xfrm>
            <a:off x="6720521" y="3431524"/>
            <a:ext cx="579794" cy="604027"/>
          </a:xfrm>
          <a:prstGeom prst="rect">
            <a:avLst/>
          </a:prstGeom>
          <a:noFill/>
          <a:ln/>
        </p:spPr>
        <p:txBody>
          <a:bodyPr wrap="square" lIns="0" tIns="0" rIns="0" bIns="0" rtlCol="0" anchor="ctr"/>
          <a:lstStyle/>
          <a:p>
            <a:pPr algn="ctr">
              <a:lnSpc>
                <a:spcPct val="110000"/>
              </a:lnSpc>
            </a:pPr>
            <a:r>
              <a:rPr lang="en-US" sz="3200" b="1" dirty="0">
                <a:solidFill>
                  <a:srgbClr val="0071E3"/>
                </a:solidFill>
                <a:latin typeface="Times New Roman" panose="02020603050405020304" pitchFamily="18" charset="0"/>
                <a:ea typeface="MiSans" panose="020B0604020202020204" charset="-122"/>
                <a:cs typeface="Times New Roman" panose="02020603050405020304" pitchFamily="18" charset="0"/>
              </a:rPr>
              <a:t>06</a:t>
            </a:r>
            <a:endParaRPr lang="en-US" sz="3200" dirty="0">
              <a:latin typeface="Times New Roman" panose="02020603050405020304" pitchFamily="18" charset="0"/>
              <a:ea typeface="MiSans" panose="020B0604020202020204" charset="-122"/>
              <a:cs typeface="Times New Roman" panose="02020603050405020304" pitchFamily="18" charset="0"/>
            </a:endParaRPr>
          </a:p>
        </p:txBody>
      </p:sp>
      <p:sp>
        <p:nvSpPr>
          <p:cNvPr id="75" name="Shape 4">
            <a:extLst>
              <a:ext uri="{FF2B5EF4-FFF2-40B4-BE49-F238E27FC236}">
                <a16:creationId xmlns:a16="http://schemas.microsoft.com/office/drawing/2014/main" id="{71382506-A019-3151-4DCA-6BFD0F3899F1}"/>
              </a:ext>
            </a:extLst>
          </p:cNvPr>
          <p:cNvSpPr/>
          <p:nvPr/>
        </p:nvSpPr>
        <p:spPr>
          <a:xfrm>
            <a:off x="6664317" y="3531046"/>
            <a:ext cx="631682" cy="545685"/>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txBody>
          <a:bodyPr/>
          <a:lstStyle/>
          <a:p>
            <a:endParaRPr lang="en-VN"/>
          </a:p>
        </p:txBody>
      </p:sp>
      <p:sp>
        <p:nvSpPr>
          <p:cNvPr id="81" name="Text 16">
            <a:extLst>
              <a:ext uri="{FF2B5EF4-FFF2-40B4-BE49-F238E27FC236}">
                <a16:creationId xmlns:a16="http://schemas.microsoft.com/office/drawing/2014/main" id="{3442115F-EFF7-767F-F5B1-4B54D85F9E50}"/>
              </a:ext>
            </a:extLst>
          </p:cNvPr>
          <p:cNvSpPr/>
          <p:nvPr/>
        </p:nvSpPr>
        <p:spPr>
          <a:xfrm>
            <a:off x="7435088" y="3635782"/>
            <a:ext cx="3602003" cy="239895"/>
          </a:xfrm>
          <a:prstGeom prst="rect">
            <a:avLst/>
          </a:prstGeom>
          <a:noFill/>
          <a:ln/>
        </p:spPr>
        <p:txBody>
          <a:bodyPr wrap="square" lIns="0" tIns="0" rIns="0" bIns="0" rtlCol="0" anchor="ctr"/>
          <a:lstStyle/>
          <a:p>
            <a:pPr>
              <a:lnSpc>
                <a:spcPct val="110000"/>
              </a:lnSpc>
            </a:pPr>
            <a:r>
              <a:rPr lang="en-US" sz="16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ỨNG DỤNG AI</a:t>
            </a:r>
          </a:p>
        </p:txBody>
      </p:sp>
      <p:sp>
        <p:nvSpPr>
          <p:cNvPr id="83" name="Text 16">
            <a:extLst>
              <a:ext uri="{FF2B5EF4-FFF2-40B4-BE49-F238E27FC236}">
                <a16:creationId xmlns:a16="http://schemas.microsoft.com/office/drawing/2014/main" id="{833E3078-22D4-620F-2209-61D1F113E535}"/>
              </a:ext>
            </a:extLst>
          </p:cNvPr>
          <p:cNvSpPr/>
          <p:nvPr/>
        </p:nvSpPr>
        <p:spPr>
          <a:xfrm>
            <a:off x="7467471" y="2519717"/>
            <a:ext cx="3602003" cy="239895"/>
          </a:xfrm>
          <a:prstGeom prst="rect">
            <a:avLst/>
          </a:prstGeom>
          <a:noFill/>
          <a:ln/>
        </p:spPr>
        <p:txBody>
          <a:bodyPr wrap="square" lIns="0" tIns="0" rIns="0" bIns="0" rtlCol="0" anchor="ctr"/>
          <a:lstStyle/>
          <a:p>
            <a:pPr>
              <a:lnSpc>
                <a:spcPct val="110000"/>
              </a:lnSpc>
            </a:pPr>
            <a:r>
              <a:rPr lang="en-VN" sz="1600" b="1">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TƯƠNG TÁC VÀ ĐÁNH GIÁ</a:t>
            </a:r>
            <a:r>
              <a:rPr lang="en-VN" sz="1600">
                <a:solidFill>
                  <a:schemeClr val="accent5">
                    <a:lumMod val="50000"/>
                  </a:schemeClr>
                </a:solidFill>
                <a:effectLst/>
                <a:latin typeface="Times New Roman" panose="02020603050405020304" pitchFamily="18" charset="0"/>
                <a:cs typeface="Times New Roman" panose="02020603050405020304" pitchFamily="18" charset="0"/>
              </a:rPr>
              <a:t> </a:t>
            </a:r>
            <a:endParaRPr lang="en-US" sz="1600"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endParaRPr>
          </a:p>
        </p:txBody>
      </p:sp>
      <p:sp>
        <p:nvSpPr>
          <p:cNvPr id="84" name="Text 16">
            <a:extLst>
              <a:ext uri="{FF2B5EF4-FFF2-40B4-BE49-F238E27FC236}">
                <a16:creationId xmlns:a16="http://schemas.microsoft.com/office/drawing/2014/main" id="{6E12CFD6-5493-52B1-580B-F5C4D044B4A9}"/>
              </a:ext>
            </a:extLst>
          </p:cNvPr>
          <p:cNvSpPr/>
          <p:nvPr/>
        </p:nvSpPr>
        <p:spPr>
          <a:xfrm>
            <a:off x="7494768" y="1428163"/>
            <a:ext cx="3602003" cy="239895"/>
          </a:xfrm>
          <a:prstGeom prst="rect">
            <a:avLst/>
          </a:prstGeom>
          <a:noFill/>
          <a:ln/>
        </p:spPr>
        <p:txBody>
          <a:bodyPr wrap="square" lIns="0" tIns="0" rIns="0" bIns="0" rtlCol="0" anchor="ctr"/>
          <a:lstStyle/>
          <a:p>
            <a:pPr>
              <a:lnSpc>
                <a:spcPct val="110000"/>
              </a:lnSpc>
            </a:pPr>
            <a:r>
              <a:rPr lang="en-VN" sz="1600" b="1">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THIẾT KẾ GIAO DIỆN </a:t>
            </a:r>
          </a:p>
          <a:p>
            <a:pPr>
              <a:lnSpc>
                <a:spcPct val="110000"/>
              </a:lnSpc>
            </a:pPr>
            <a:r>
              <a:rPr lang="en-VN" sz="1600" b="1">
                <a:solidFill>
                  <a:schemeClr val="accent5">
                    <a:lumMod val="50000"/>
                  </a:schemeClr>
                </a:solidFill>
                <a:effectLst/>
                <a:latin typeface="Times New Roman" panose="02020603050405020304" pitchFamily="18" charset="0"/>
                <a:ea typeface="Calibri" panose="020F0502020204030204" pitchFamily="34" charset="0"/>
                <a:cs typeface="Times New Roman" panose="02020603050405020304" pitchFamily="18" charset="0"/>
              </a:rPr>
              <a:t>(HI-FI PROTOTYPE)</a:t>
            </a:r>
            <a:r>
              <a:rPr lang="en-VN" sz="1600">
                <a:solidFill>
                  <a:schemeClr val="accent5">
                    <a:lumMod val="50000"/>
                  </a:schemeClr>
                </a:solidFill>
                <a:effectLst/>
                <a:latin typeface="Times New Roman" panose="02020603050405020304" pitchFamily="18" charset="0"/>
                <a:cs typeface="Times New Roman" panose="02020603050405020304" pitchFamily="18" charset="0"/>
              </a:rPr>
              <a:t> </a:t>
            </a:r>
            <a:endParaRPr lang="en-US" sz="1600"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92349" y="329183"/>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1. </a:t>
            </a:r>
            <a:r>
              <a:rPr lang="en-US" sz="28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GIỚI THIỆU</a:t>
            </a:r>
          </a:p>
          <a:p>
            <a:pPr marL="0" indent="0">
              <a:buNone/>
            </a:pP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77368" y="329183"/>
            <a:ext cx="11000232" cy="4648196"/>
          </a:xfrm>
          <a:prstGeom prst="rect">
            <a:avLst/>
          </a:prstGeom>
          <a:noFill/>
        </p:spPr>
        <p:txBody>
          <a:bodyPr wrap="square">
            <a:spAutoFit/>
          </a:bodyPr>
          <a:lstStyle/>
          <a:p>
            <a:pPr>
              <a:lnSpc>
                <a:spcPct val="150000"/>
              </a:lnSpc>
            </a:pPr>
            <a:r>
              <a:rPr lang="vi-VN" sz="2400" b="1">
                <a:solidFill>
                  <a:srgbClr val="7030A0"/>
                </a:solidFill>
                <a:effectLst/>
                <a:latin typeface="Times New Roman" panose="02020603050405020304" pitchFamily="18" charset="0"/>
                <a:cs typeface="Times New Roman" panose="02020603050405020304" pitchFamily="18" charset="0"/>
              </a:rPr>
              <a:t>1.1 Mục tiêu dự án</a:t>
            </a:r>
            <a:endParaRPr lang="vi-VN" sz="2400" b="0">
              <a:solidFill>
                <a:srgbClr val="7030A0"/>
              </a:solidFill>
              <a:effectLst/>
              <a:latin typeface="Times New Roman" panose="02020603050405020304" pitchFamily="18" charset="0"/>
              <a:cs typeface="Times New Roman" panose="02020603050405020304" pitchFamily="18" charset="0"/>
            </a:endParaRPr>
          </a:p>
          <a:p>
            <a:pPr rtl="0">
              <a:lnSpc>
                <a:spcPct val="150000"/>
              </a:lnSpc>
            </a:pPr>
            <a:r>
              <a:rPr lang="vi-VN" sz="2200">
                <a:latin typeface="Times New Roman" panose="02020603050405020304" pitchFamily="18" charset="0"/>
                <a:cs typeface="Times New Roman" panose="02020603050405020304" pitchFamily="18" charset="0"/>
              </a:rPr>
              <a:t>Dự án "Laptop Vui" là hệ thống thương mại điện tử bán laptop trực tuyến dành cho khách hàng Việt Nam, với 5 mục tiêu chính:</a:t>
            </a:r>
          </a:p>
          <a:p>
            <a:pPr rtl="0">
              <a:lnSpc>
                <a:spcPct val="150000"/>
              </a:lnSpc>
              <a:buFont typeface="+mj-lt"/>
              <a:buAutoNum type="arabicPeriod"/>
            </a:pPr>
            <a:r>
              <a:rPr lang="vi-VN" sz="2200" b="1">
                <a:latin typeface="Times New Roman" panose="02020603050405020304" pitchFamily="18" charset="0"/>
                <a:cs typeface="Times New Roman" panose="02020603050405020304" pitchFamily="18" charset="0"/>
              </a:rPr>
              <a:t> Duyệt &amp; tìm kiếm</a:t>
            </a:r>
            <a:r>
              <a:rPr lang="vi-VN" sz="2200">
                <a:latin typeface="Times New Roman" panose="02020603050405020304" pitchFamily="18" charset="0"/>
                <a:cs typeface="Times New Roman" panose="02020603050405020304" pitchFamily="18" charset="0"/>
              </a:rPr>
              <a:t> — khách hàng có thể lọc sản phẩm theo danh mục, thương hiệu, giá.</a:t>
            </a:r>
          </a:p>
          <a:p>
            <a:pPr rtl="0">
              <a:lnSpc>
                <a:spcPct val="150000"/>
              </a:lnSpc>
              <a:buFont typeface="+mj-lt"/>
              <a:buAutoNum type="arabicPeriod"/>
            </a:pPr>
            <a:r>
              <a:rPr lang="vi-VN" sz="2200" b="1">
                <a:latin typeface="Times New Roman" panose="02020603050405020304" pitchFamily="18" charset="0"/>
                <a:cs typeface="Times New Roman" panose="02020603050405020304" pitchFamily="18" charset="0"/>
              </a:rPr>
              <a:t> Đặt hàng linh hoạt</a:t>
            </a:r>
            <a:r>
              <a:rPr lang="vi-VN" sz="2200">
                <a:latin typeface="Times New Roman" panose="02020603050405020304" pitchFamily="18" charset="0"/>
                <a:cs typeface="Times New Roman" panose="02020603050405020304" pitchFamily="18" charset="0"/>
              </a:rPr>
              <a:t> — hỗ trợ cả mua có tài khoản lẫn mua khách (guest checkout), không bắt buộc đăng ký.</a:t>
            </a:r>
          </a:p>
          <a:p>
            <a:pPr rtl="0">
              <a:lnSpc>
                <a:spcPct val="150000"/>
              </a:lnSpc>
              <a:buFont typeface="+mj-lt"/>
              <a:buAutoNum type="arabicPeriod"/>
            </a:pPr>
            <a:r>
              <a:rPr lang="vi-VN" sz="2200" b="1">
                <a:latin typeface="Times New Roman" panose="02020603050405020304" pitchFamily="18" charset="0"/>
                <a:cs typeface="Times New Roman" panose="02020603050405020304" pitchFamily="18" charset="0"/>
              </a:rPr>
              <a:t> Quản trị (Admin)</a:t>
            </a:r>
            <a:r>
              <a:rPr lang="vi-VN" sz="2200">
                <a:latin typeface="Times New Roman" panose="02020603050405020304" pitchFamily="18" charset="0"/>
                <a:cs typeface="Times New Roman" panose="02020603050405020304" pitchFamily="18" charset="0"/>
              </a:rPr>
              <a:t> — có bảng điều khiển để quản lý sản phẩm, danh mục, đơn hàng.</a:t>
            </a:r>
          </a:p>
          <a:p>
            <a:pPr rtl="0">
              <a:lnSpc>
                <a:spcPct val="150000"/>
              </a:lnSpc>
              <a:buFont typeface="+mj-lt"/>
              <a:buAutoNum type="arabicPeriod"/>
            </a:pPr>
            <a:r>
              <a:rPr lang="vi-VN" sz="2200" b="1">
                <a:latin typeface="Times New Roman" panose="02020603050405020304" pitchFamily="18" charset="0"/>
                <a:cs typeface="Times New Roman" panose="02020603050405020304" pitchFamily="18" charset="0"/>
              </a:rPr>
              <a:t> Đa nền tảng</a:t>
            </a:r>
            <a:r>
              <a:rPr lang="vi-VN" sz="2200">
                <a:latin typeface="Times New Roman" panose="02020603050405020304" pitchFamily="18" charset="0"/>
                <a:cs typeface="Times New Roman" panose="02020603050405020304" pitchFamily="18" charset="0"/>
              </a:rPr>
              <a:t> — vừa có giao diện web (desktop) vừa có ứng dụng di động (React Native).</a:t>
            </a:r>
          </a:p>
          <a:p>
            <a:pPr rtl="0">
              <a:lnSpc>
                <a:spcPct val="150000"/>
              </a:lnSpc>
              <a:buFont typeface="+mj-lt"/>
              <a:buAutoNum type="arabicPeriod"/>
            </a:pPr>
            <a:r>
              <a:rPr lang="vi-VN" sz="2200" b="1">
                <a:latin typeface="Times New Roman" panose="02020603050405020304" pitchFamily="18" charset="0"/>
                <a:cs typeface="Times New Roman" panose="02020603050405020304" pitchFamily="18" charset="0"/>
              </a:rPr>
              <a:t> Responsive nhất quán</a:t>
            </a:r>
            <a:r>
              <a:rPr lang="vi-VN" sz="2200">
                <a:latin typeface="Times New Roman" panose="02020603050405020304" pitchFamily="18" charset="0"/>
                <a:cs typeface="Times New Roman" panose="02020603050405020304" pitchFamily="18" charset="0"/>
              </a:rPr>
              <a:t> — trải nghiệm đồng bộ trên mọi kích thước màn hình.</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29183"/>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1. </a:t>
            </a:r>
            <a:r>
              <a:rPr lang="en-US" sz="28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GIỚI THIỆU</a:t>
            </a:r>
          </a:p>
          <a:p>
            <a:pPr marL="0" indent="0">
              <a:buNone/>
            </a:pP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94621" y="466343"/>
            <a:ext cx="11000232" cy="5509200"/>
          </a:xfrm>
          <a:prstGeom prst="rect">
            <a:avLst/>
          </a:prstGeom>
          <a:noFill/>
        </p:spPr>
        <p:txBody>
          <a:bodyPr wrap="square">
            <a:spAutoFit/>
          </a:bodyPr>
          <a:lstStyle/>
          <a:p>
            <a:r>
              <a:rPr lang="vi-VN" sz="2200" b="1">
                <a:solidFill>
                  <a:srgbClr val="7030A0"/>
                </a:solidFill>
                <a:effectLst/>
                <a:latin typeface="Times New Roman" panose="02020603050405020304" pitchFamily="18" charset="0"/>
                <a:cs typeface="Times New Roman" panose="02020603050405020304" pitchFamily="18" charset="0"/>
              </a:rPr>
              <a:t>1.2. Các chức năng chính của phần mềm</a:t>
            </a:r>
          </a:p>
          <a:p>
            <a:r>
              <a:rPr lang="en-US" sz="2200">
                <a:latin typeface="Times New Roman" panose="02020603050405020304" pitchFamily="18" charset="0"/>
                <a:cs typeface="Times New Roman" panose="02020603050405020304" pitchFamily="18" charset="0"/>
              </a:rPr>
              <a:t>Hệ thống chia thành </a:t>
            </a:r>
            <a:r>
              <a:rPr lang="en-US" sz="2200" b="1">
                <a:latin typeface="Times New Roman" panose="02020603050405020304" pitchFamily="18" charset="0"/>
                <a:cs typeface="Times New Roman" panose="02020603050405020304" pitchFamily="18" charset="0"/>
              </a:rPr>
              <a:t>3 nhóm chức năng</a:t>
            </a:r>
            <a:r>
              <a:rPr lang="en-US" sz="2200">
                <a:latin typeface="Times New Roman" panose="02020603050405020304" pitchFamily="18" charset="0"/>
                <a:cs typeface="Times New Roman" panose="02020603050405020304" pitchFamily="18" charset="0"/>
              </a:rPr>
              <a:t> theo 3 nhóm </a:t>
            </a:r>
            <a:endParaRPr lang="vi-VN" sz="2200" b="0">
              <a:solidFill>
                <a:srgbClr val="7030A0"/>
              </a:solidFill>
              <a:effectLst/>
              <a:latin typeface="Times New Roman" panose="02020603050405020304" pitchFamily="18" charset="0"/>
              <a:cs typeface="Times New Roman" panose="02020603050405020304" pitchFamily="18" charset="0"/>
            </a:endParaRPr>
          </a:p>
          <a:p>
            <a:pPr rtl="0"/>
            <a:r>
              <a:rPr lang="vi-VN" sz="2200" b="1">
                <a:latin typeface="Times New Roman" panose="02020603050405020304" pitchFamily="18" charset="0"/>
                <a:cs typeface="Times New Roman" panose="02020603050405020304" pitchFamily="18" charset="0"/>
              </a:rPr>
              <a:t>A. Khách vãng lai (Guest)</a:t>
            </a:r>
            <a:r>
              <a:rPr lang="vi-VN" sz="2200">
                <a:latin typeface="Times New Roman" panose="02020603050405020304" pitchFamily="18" charset="0"/>
                <a:cs typeface="Times New Roman" panose="02020603050405020304" pitchFamily="18" charset="0"/>
              </a:rPr>
              <a:t> — nhóm chức năng cơ bản nhất, không cần tài khoản:</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Xem trang chủ (laptop nổi bật, xem nhiều), xem chi tiết sản phẩm, duyệt theo danh mục (có phân trang), tìm kiếm theo từ khoá</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Thao tác giỏ hàng (thêm/sửa số lượng/xoá) và checkout — kể cả không đăng nhập</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Đăng ký tài khoản mới</a:t>
            </a:r>
          </a:p>
          <a:p>
            <a:pPr rtl="0"/>
            <a:r>
              <a:rPr lang="vi-VN" sz="2200" b="1">
                <a:latin typeface="Times New Roman" panose="02020603050405020304" pitchFamily="18" charset="0"/>
                <a:cs typeface="Times New Roman" panose="02020603050405020304" pitchFamily="18" charset="0"/>
              </a:rPr>
              <a:t>B. Thành viên (User)</a:t>
            </a:r>
            <a:r>
              <a:rPr lang="vi-VN" sz="2200">
                <a:latin typeface="Times New Roman" panose="02020603050405020304" pitchFamily="18" charset="0"/>
                <a:cs typeface="Times New Roman" panose="02020603050405020304" pitchFamily="18" charset="0"/>
              </a:rPr>
              <a:t> — kế thừa toàn bộ quyền của Guest, cộng thêm:</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Đăng nhập/đăng xuất (mật khẩu mã hoá bằng bcrypt)</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Tự động điền sẵn họ tên/email khi thanh toán</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Nhận flash message (thông báo phiên)</a:t>
            </a:r>
          </a:p>
          <a:p>
            <a:pPr rtl="0"/>
            <a:r>
              <a:rPr lang="vi-VN" sz="2200" b="1">
                <a:latin typeface="Times New Roman" panose="02020603050405020304" pitchFamily="18" charset="0"/>
                <a:cs typeface="Times New Roman" panose="02020603050405020304" pitchFamily="18" charset="0"/>
              </a:rPr>
              <a:t>C. Quản trị viên (Admin)</a:t>
            </a:r>
            <a:r>
              <a:rPr lang="vi-VN" sz="2200">
                <a:latin typeface="Times New Roman" panose="02020603050405020304" pitchFamily="18" charset="0"/>
                <a:cs typeface="Times New Roman" panose="02020603050405020304" pitchFamily="18" charset="0"/>
              </a:rPr>
              <a:t> — nhóm quyền cao nhất, quản lý vận hành:</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Dashboard thống kê (số sản phẩm, danh mục, đơn hàng, tổng doanh thu)</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CRUD sản phẩm đầy đủ (thêm/sửa/xoá, upload ảnh, tìm kiếm, sắp xếp) + ẩn/hiện/gắn nổi bật</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CRUD danh mục</a:t>
            </a:r>
          </a:p>
          <a:p>
            <a:pPr rtl="0">
              <a:buFont typeface="Arial" panose="020B0604020202020204" pitchFamily="34" charset="0"/>
              <a:buChar char="•"/>
            </a:pPr>
            <a:r>
              <a:rPr lang="vi-VN" sz="2200">
                <a:latin typeface="Times New Roman" panose="02020603050405020304" pitchFamily="18" charset="0"/>
                <a:cs typeface="Times New Roman" panose="02020603050405020304" pitchFamily="18" charset="0"/>
              </a:rPr>
              <a:t> Xem danh sách và chi tiết đơn hàng</a:t>
            </a:r>
          </a:p>
        </p:txBody>
      </p:sp>
    </p:spTree>
    <p:extLst>
      <p:ext uri="{BB962C8B-B14F-4D97-AF65-F5344CB8AC3E}">
        <p14:creationId xmlns:p14="http://schemas.microsoft.com/office/powerpoint/2010/main" val="3796299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29183"/>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1. </a:t>
            </a:r>
            <a:r>
              <a:rPr lang="en-US" sz="28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GIỚI THIỆU</a:t>
            </a:r>
          </a:p>
          <a:p>
            <a:pPr marL="0" indent="0">
              <a:buNone/>
            </a:pP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74455" y="329183"/>
            <a:ext cx="11000232" cy="1964961"/>
          </a:xfrm>
          <a:prstGeom prst="rect">
            <a:avLst/>
          </a:prstGeom>
          <a:noFill/>
        </p:spPr>
        <p:txBody>
          <a:bodyPr wrap="square">
            <a:spAutoFit/>
          </a:bodyPr>
          <a:lstStyle/>
          <a:p>
            <a:pPr>
              <a:lnSpc>
                <a:spcPct val="150000"/>
              </a:lnSpc>
            </a:pPr>
            <a:r>
              <a:rPr lang="vi-VN" sz="2400" b="1">
                <a:solidFill>
                  <a:srgbClr val="7030A0"/>
                </a:solidFill>
                <a:effectLst/>
                <a:latin typeface="Times New Roman" panose="02020603050405020304" pitchFamily="18" charset="0"/>
                <a:cs typeface="Times New Roman" panose="02020603050405020304" pitchFamily="18" charset="0"/>
              </a:rPr>
              <a:t>1.3. Phân tích phần mềm tương tự</a:t>
            </a:r>
          </a:p>
          <a:p>
            <a:pPr>
              <a:lnSpc>
                <a:spcPct val="150000"/>
              </a:lnSpc>
            </a:pPr>
            <a:r>
              <a:rPr lang="en-VN" sz="1800">
                <a:effectLst/>
                <a:latin typeface="Times New Roman" panose="02020603050405020304" pitchFamily="18" charset="0"/>
                <a:ea typeface="Calibri" panose="020F0502020204030204" pitchFamily="34" charset="0"/>
              </a:rPr>
              <a:t>Để làm căn cứ thiết kế, dự án đã tham khảo và phân tích các phần mềm/website thương mại điện tử laptop phổ biến tại thị trường Việt Nam. Bảng dưới đây so sánh các đặc điểm chính:</a:t>
            </a:r>
            <a:endParaRPr lang="en-VN" sz="1800">
              <a:effectLst/>
              <a:latin typeface="Calibri" panose="020F0502020204030204" pitchFamily="34" charset="0"/>
              <a:ea typeface="Calibri" panose="020F0502020204030204" pitchFamily="34" charset="0"/>
            </a:endParaRPr>
          </a:p>
          <a:p>
            <a:pPr>
              <a:lnSpc>
                <a:spcPct val="150000"/>
              </a:lnSpc>
            </a:pPr>
            <a:endParaRPr lang="vi-VN" sz="2400" b="0">
              <a:solidFill>
                <a:srgbClr val="7030A0"/>
              </a:solidFill>
              <a:effectLst/>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38BE349-1F9F-91B9-105D-783A4096713E}"/>
              </a:ext>
            </a:extLst>
          </p:cNvPr>
          <p:cNvGraphicFramePr>
            <a:graphicFrameLocks noGrp="1"/>
          </p:cNvGraphicFramePr>
          <p:nvPr>
            <p:extLst>
              <p:ext uri="{D42A27DB-BD31-4B8C-83A1-F6EECF244321}">
                <p14:modId xmlns:p14="http://schemas.microsoft.com/office/powerpoint/2010/main" val="1552508995"/>
              </p:ext>
            </p:extLst>
          </p:nvPr>
        </p:nvGraphicFramePr>
        <p:xfrm>
          <a:off x="274455" y="1700666"/>
          <a:ext cx="11283996" cy="3837210"/>
        </p:xfrm>
        <a:graphic>
          <a:graphicData uri="http://schemas.openxmlformats.org/drawingml/2006/table">
            <a:tbl>
              <a:tblPr/>
              <a:tblGrid>
                <a:gridCol w="2396117">
                  <a:extLst>
                    <a:ext uri="{9D8B030D-6E8A-4147-A177-3AD203B41FA5}">
                      <a16:colId xmlns:a16="http://schemas.microsoft.com/office/drawing/2014/main" val="1865022828"/>
                    </a:ext>
                  </a:extLst>
                </a:gridCol>
                <a:gridCol w="8887879">
                  <a:extLst>
                    <a:ext uri="{9D8B030D-6E8A-4147-A177-3AD203B41FA5}">
                      <a16:colId xmlns:a16="http://schemas.microsoft.com/office/drawing/2014/main" val="2260212236"/>
                    </a:ext>
                  </a:extLst>
                </a:gridCol>
              </a:tblGrid>
              <a:tr h="294451">
                <a:tc>
                  <a:txBody>
                    <a:bodyPr/>
                    <a:lstStyle/>
                    <a:p>
                      <a:r>
                        <a:rPr lang="en-US">
                          <a:latin typeface="Times New Roman" panose="02020603050405020304" pitchFamily="18" charset="0"/>
                          <a:cs typeface="Times New Roman" panose="02020603050405020304" pitchFamily="18" charset="0"/>
                        </a:rPr>
                        <a:t>Nguồn tham khảo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latin typeface="Times New Roman" panose="02020603050405020304" pitchFamily="18" charset="0"/>
                          <a:cs typeface="Times New Roman" panose="02020603050405020304" pitchFamily="18" charset="0"/>
                        </a:rPr>
                        <a:t>Bài học được áp dụng vào Laptop Vui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350104"/>
                  </a:ext>
                </a:extLst>
              </a:tr>
              <a:tr h="515288">
                <a:tc>
                  <a:txBody>
                    <a:bodyPr/>
                    <a:lstStyle/>
                    <a:p>
                      <a:pPr marL="0" indent="0">
                        <a:tabLst>
                          <a:tab pos="4256088" algn="l"/>
                        </a:tabLst>
                      </a:pPr>
                      <a:r>
                        <a:rPr lang="en-US">
                          <a:latin typeface="Times New Roman" panose="02020603050405020304" pitchFamily="18" charset="0"/>
                          <a:cs typeface="Times New Roman" panose="02020603050405020304" pitchFamily="18" charset="0"/>
                        </a:rPr>
                        <a:t>Thegioididong.com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Times New Roman" panose="02020603050405020304" pitchFamily="18" charset="0"/>
                          <a:cs typeface="Times New Roman" panose="02020603050405020304" pitchFamily="18" charset="0"/>
                        </a:rPr>
                        <a:t>Card sản phẩm (ảnh + tên + giá KM), menu danh mục dạng sticky nav</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8169436"/>
                  </a:ext>
                </a:extLst>
              </a:tr>
              <a:tr h="515288">
                <a:tc>
                  <a:txBody>
                    <a:bodyPr/>
                    <a:lstStyle/>
                    <a:p>
                      <a:r>
                        <a:rPr lang="en-US">
                          <a:latin typeface="Times New Roman" panose="02020603050405020304" pitchFamily="18" charset="0"/>
                          <a:cs typeface="Times New Roman" panose="02020603050405020304" pitchFamily="18" charset="0"/>
                        </a:rPr>
                        <a:t>CellphoneS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latin typeface="Times New Roman" panose="02020603050405020304" pitchFamily="18" charset="0"/>
                          <a:cs typeface="Times New Roman" panose="02020603050405020304" pitchFamily="18" charset="0"/>
                        </a:rPr>
                        <a:t>Hero section đơn giản, chỉ 1-2 promo chính (tránh rối vì nhiều banner)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4225918"/>
                  </a:ext>
                </a:extLst>
              </a:tr>
              <a:tr h="515288">
                <a:tc>
                  <a:txBody>
                    <a:bodyPr/>
                    <a:lstStyle/>
                    <a:p>
                      <a:r>
                        <a:rPr lang="en-US">
                          <a:latin typeface="Times New Roman" panose="02020603050405020304" pitchFamily="18" charset="0"/>
                          <a:cs typeface="Times New Roman" panose="02020603050405020304" pitchFamily="18" charset="0"/>
                        </a:rPr>
                        <a:t>FPT Shop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Times New Roman" panose="02020603050405020304" pitchFamily="18" charset="0"/>
                          <a:cs typeface="Times New Roman" panose="02020603050405020304" pitchFamily="18" charset="0"/>
                        </a:rPr>
                        <a:t>Checkout rút gọn còn 1 form, cho phép guest checkout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0815451"/>
                  </a:ext>
                </a:extLst>
              </a:tr>
              <a:tr h="499226">
                <a:tc>
                  <a:txBody>
                    <a:bodyPr/>
                    <a:lstStyle/>
                    <a:p>
                      <a:r>
                        <a:rPr lang="en-US">
                          <a:latin typeface="Times New Roman" panose="02020603050405020304" pitchFamily="18" charset="0"/>
                          <a:cs typeface="Times New Roman" panose="02020603050405020304" pitchFamily="18" charset="0"/>
                        </a:rPr>
                        <a:t>Anphat Computer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Times New Roman" panose="02020603050405020304" pitchFamily="18" charset="0"/>
                          <a:cs typeface="Times New Roman" panose="02020603050405020304" pitchFamily="18" charset="0"/>
                        </a:rPr>
                        <a:t>Bắt buộc thiết kế mobile-first, responsive ngay từ đầu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02646886"/>
                  </a:ext>
                </a:extLst>
              </a:tr>
              <a:tr h="713180">
                <a:tc>
                  <a:txBody>
                    <a:bodyPr/>
                    <a:lstStyle/>
                    <a:p>
                      <a:r>
                        <a:rPr lang="en-US">
                          <a:latin typeface="Times New Roman" panose="02020603050405020304" pitchFamily="18" charset="0"/>
                          <a:cs typeface="Times New Roman" panose="02020603050405020304" pitchFamily="18" charset="0"/>
                        </a:rPr>
                        <a:t>ShopDunk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Times New Roman" panose="02020603050405020304" pitchFamily="18" charset="0"/>
                          <a:cs typeface="Times New Roman" panose="02020603050405020304" pitchFamily="18" charset="0"/>
                        </a:rPr>
                        <a:t>Bố cục tối giản kiểu Apple, nhiều khoảng trắng (theo nguyên tắc Aesthetic &amp; Minimalist Design của Nielsen)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6754019"/>
                  </a:ext>
                </a:extLst>
              </a:tr>
              <a:tr h="713180">
                <a:tc>
                  <a:txBody>
                    <a:bodyPr/>
                    <a:lstStyle/>
                    <a:p>
                      <a:r>
                        <a:rPr lang="en-US">
                          <a:latin typeface="Times New Roman" panose="02020603050405020304" pitchFamily="18" charset="0"/>
                          <a:cs typeface="Times New Roman" panose="02020603050405020304" pitchFamily="18" charset="0"/>
                        </a:rPr>
                        <a:t>Amazon.com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latin typeface="Times New Roman" panose="02020603050405020304" pitchFamily="18" charset="0"/>
                          <a:cs typeface="Times New Roman" panose="02020603050405020304" pitchFamily="18" charset="0"/>
                        </a:rPr>
                        <a:t>Giữ mục "sản phẩm xem nhiều" nhưng card vẫn thoáng, không dày đặc thông tin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5238694"/>
                  </a:ext>
                </a:extLst>
              </a:tr>
            </a:tbl>
          </a:graphicData>
        </a:graphic>
      </p:graphicFrame>
      <p:sp>
        <p:nvSpPr>
          <p:cNvPr id="8" name="TextBox 7">
            <a:extLst>
              <a:ext uri="{FF2B5EF4-FFF2-40B4-BE49-F238E27FC236}">
                <a16:creationId xmlns:a16="http://schemas.microsoft.com/office/drawing/2014/main" id="{C67032E5-F14F-D9EB-9E52-CBCE6CF800C4}"/>
              </a:ext>
            </a:extLst>
          </p:cNvPr>
          <p:cNvSpPr txBox="1"/>
          <p:nvPr/>
        </p:nvSpPr>
        <p:spPr>
          <a:xfrm>
            <a:off x="274455" y="5475691"/>
            <a:ext cx="11634351" cy="1477328"/>
          </a:xfrm>
          <a:prstGeom prst="rect">
            <a:avLst/>
          </a:prstGeom>
          <a:noFill/>
        </p:spPr>
        <p:txBody>
          <a:bodyPr wrap="square">
            <a:spAutoFit/>
          </a:bodyPr>
          <a:lstStyle/>
          <a:p>
            <a:pPr rtl="0"/>
            <a:r>
              <a:rPr lang="vi-VN" b="1">
                <a:latin typeface="Times New Roman" panose="02020603050405020304" pitchFamily="18" charset="0"/>
                <a:cs typeface="Times New Roman" panose="02020603050405020304" pitchFamily="18" charset="0"/>
              </a:rPr>
              <a:t>→ Hướng đi được chọn cho Laptop Vui:</a:t>
            </a:r>
            <a:endParaRPr lang="vi-VN">
              <a:latin typeface="Times New Roman" panose="02020603050405020304" pitchFamily="18" charset="0"/>
              <a:cs typeface="Times New Roman" panose="02020603050405020304" pitchFamily="18" charset="0"/>
            </a:endParaRPr>
          </a:p>
          <a:p>
            <a:pPr rtl="0">
              <a:buFont typeface="Arial" panose="020B0604020202020204" pitchFamily="34" charset="0"/>
              <a:buChar char="•"/>
            </a:pPr>
            <a:r>
              <a:rPr lang="vi-VN">
                <a:latin typeface="Times New Roman" panose="02020603050405020304" pitchFamily="18" charset="0"/>
                <a:cs typeface="Times New Roman" panose="02020603050405020304" pitchFamily="18" charset="0"/>
              </a:rPr>
              <a:t> Bố cục = ShopDunk (tối giản) + Thegioididong (menu danh mục rõ ràng, sticky nav)</a:t>
            </a:r>
          </a:p>
          <a:p>
            <a:pPr rtl="0">
              <a:buFont typeface="Arial" panose="020B0604020202020204" pitchFamily="34" charset="0"/>
              <a:buChar char="•"/>
            </a:pPr>
            <a:r>
              <a:rPr lang="vi-VN">
                <a:latin typeface="Times New Roman" panose="02020603050405020304" pitchFamily="18" charset="0"/>
                <a:cs typeface="Times New Roman" panose="02020603050405020304" pitchFamily="18" charset="0"/>
              </a:rPr>
              <a:t> Checkout 1 form kiểu Amazon-style, có guest checkout</a:t>
            </a:r>
          </a:p>
          <a:p>
            <a:pPr rtl="0">
              <a:buFont typeface="Arial" panose="020B0604020202020204" pitchFamily="34" charset="0"/>
              <a:buChar char="•"/>
            </a:pPr>
            <a:r>
              <a:rPr lang="vi-VN">
                <a:latin typeface="Times New Roman" panose="02020603050405020304" pitchFamily="18" charset="0"/>
                <a:cs typeface="Times New Roman" panose="02020603050405020304" pitchFamily="18" charset="0"/>
              </a:rPr>
              <a:t> Framework: </a:t>
            </a:r>
            <a:r>
              <a:rPr lang="vi-VN" b="1">
                <a:latin typeface="Times New Roman" panose="02020603050405020304" pitchFamily="18" charset="0"/>
                <a:cs typeface="Times New Roman" panose="02020603050405020304" pitchFamily="18" charset="0"/>
              </a:rPr>
              <a:t>Bootstrap 5.3.3</a:t>
            </a:r>
            <a:r>
              <a:rPr lang="vi-VN">
                <a:latin typeface="Times New Roman" panose="02020603050405020304" pitchFamily="18" charset="0"/>
                <a:cs typeface="Times New Roman" panose="02020603050405020304" pitchFamily="18" charset="0"/>
              </a:rPr>
              <a:t> (đảm bảo responsive)</a:t>
            </a:r>
          </a:p>
          <a:p>
            <a:pPr rtl="0">
              <a:buFont typeface="Arial" panose="020B0604020202020204" pitchFamily="34" charset="0"/>
              <a:buChar char="•"/>
            </a:pPr>
            <a:r>
              <a:rPr lang="vi-VN">
                <a:latin typeface="Times New Roman" panose="02020603050405020304" pitchFamily="18" charset="0"/>
                <a:cs typeface="Times New Roman" panose="02020603050405020304" pitchFamily="18" charset="0"/>
              </a:rPr>
              <a:t> App di động riêng: </a:t>
            </a:r>
            <a:r>
              <a:rPr lang="vi-VN" b="1">
                <a:latin typeface="Times New Roman" panose="02020603050405020304" pitchFamily="18" charset="0"/>
                <a:cs typeface="Times New Roman" panose="02020603050405020304" pitchFamily="18" charset="0"/>
              </a:rPr>
              <a:t>React Native + Expo</a:t>
            </a:r>
            <a:endParaRPr lang="vi-V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86734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29183"/>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1. </a:t>
            </a:r>
            <a:r>
              <a:rPr lang="en-US" sz="28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GIỚI THIỆU</a:t>
            </a:r>
          </a:p>
          <a:p>
            <a:pPr marL="0" indent="0">
              <a:buNone/>
            </a:pP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376112" y="603503"/>
            <a:ext cx="11000232" cy="579967"/>
          </a:xfrm>
          <a:prstGeom prst="rect">
            <a:avLst/>
          </a:prstGeom>
          <a:noFill/>
        </p:spPr>
        <p:txBody>
          <a:bodyPr wrap="square">
            <a:spAutoFit/>
          </a:bodyPr>
          <a:lstStyle/>
          <a:p>
            <a:pPr>
              <a:lnSpc>
                <a:spcPct val="150000"/>
              </a:lnSpc>
            </a:pPr>
            <a:r>
              <a:rPr lang="vi-VN" sz="2400" b="1">
                <a:solidFill>
                  <a:srgbClr val="7030A0"/>
                </a:solidFill>
                <a:effectLst/>
                <a:latin typeface="Times New Roman" panose="02020603050405020304" pitchFamily="18" charset="0"/>
                <a:cs typeface="Times New Roman" panose="02020603050405020304" pitchFamily="18" charset="0"/>
              </a:rPr>
              <a:t>1.4. Thông tin kỹ thuật</a:t>
            </a:r>
            <a:endParaRPr lang="vi-VN" sz="2400" b="0">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C8527957-F549-1C41-7484-0738D468E2F7}"/>
              </a:ext>
            </a:extLst>
          </p:cNvPr>
          <p:cNvGraphicFramePr>
            <a:graphicFrameLocks noGrp="1"/>
          </p:cNvGraphicFramePr>
          <p:nvPr>
            <p:extLst>
              <p:ext uri="{D42A27DB-BD31-4B8C-83A1-F6EECF244321}">
                <p14:modId xmlns:p14="http://schemas.microsoft.com/office/powerpoint/2010/main" val="1653742639"/>
              </p:ext>
            </p:extLst>
          </p:nvPr>
        </p:nvGraphicFramePr>
        <p:xfrm>
          <a:off x="696686" y="1596735"/>
          <a:ext cx="7097485" cy="4657762"/>
        </p:xfrm>
        <a:graphic>
          <a:graphicData uri="http://schemas.openxmlformats.org/drawingml/2006/table">
            <a:tbl>
              <a:tblPr>
                <a:tableStyleId>{5C22544A-7EE6-4342-B048-85BDC9FD1C3A}</a:tableStyleId>
              </a:tblPr>
              <a:tblGrid>
                <a:gridCol w="1919374">
                  <a:extLst>
                    <a:ext uri="{9D8B030D-6E8A-4147-A177-3AD203B41FA5}">
                      <a16:colId xmlns:a16="http://schemas.microsoft.com/office/drawing/2014/main" val="3553567790"/>
                    </a:ext>
                  </a:extLst>
                </a:gridCol>
                <a:gridCol w="5178111">
                  <a:extLst>
                    <a:ext uri="{9D8B030D-6E8A-4147-A177-3AD203B41FA5}">
                      <a16:colId xmlns:a16="http://schemas.microsoft.com/office/drawing/2014/main" val="2241571454"/>
                    </a:ext>
                  </a:extLst>
                </a:gridCol>
              </a:tblGrid>
              <a:tr h="271092">
                <a:tc>
                  <a:txBody>
                    <a:bodyPr/>
                    <a:lstStyle/>
                    <a:p>
                      <a:pPr marL="0" marR="0" algn="ctr">
                        <a:lnSpc>
                          <a:spcPct val="150000"/>
                        </a:lnSpc>
                        <a:spcBef>
                          <a:spcPts val="0"/>
                        </a:spcBef>
                        <a:spcAft>
                          <a:spcPts val="0"/>
                        </a:spcAft>
                      </a:pPr>
                      <a:r>
                        <a:rPr lang="en-VN" sz="1000">
                          <a:effectLst/>
                        </a:rPr>
                        <a:t>Thành phần</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gn="ctr">
                        <a:lnSpc>
                          <a:spcPct val="150000"/>
                        </a:lnSpc>
                        <a:spcBef>
                          <a:spcPts val="0"/>
                        </a:spcBef>
                        <a:spcAft>
                          <a:spcPts val="0"/>
                        </a:spcAft>
                      </a:pPr>
                      <a:r>
                        <a:rPr lang="en-VN" sz="1000">
                          <a:effectLst/>
                        </a:rPr>
                        <a:t>Chi tiết</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3082930362"/>
                  </a:ext>
                </a:extLst>
              </a:tr>
              <a:tr h="271092">
                <a:tc>
                  <a:txBody>
                    <a:bodyPr/>
                    <a:lstStyle/>
                    <a:p>
                      <a:pPr marL="0" marR="0">
                        <a:lnSpc>
                          <a:spcPct val="150000"/>
                        </a:lnSpc>
                        <a:spcBef>
                          <a:spcPts val="0"/>
                        </a:spcBef>
                        <a:spcAft>
                          <a:spcPts val="0"/>
                        </a:spcAft>
                      </a:pPr>
                      <a:r>
                        <a:rPr lang="en-VN" sz="1000">
                          <a:effectLst/>
                        </a:rPr>
                        <a:t>Ngôn ngữ backend</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PHP 8.4 (khai báo kiểu, spl_autoload_register, PDO chuẩn)</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2523899832"/>
                  </a:ext>
                </a:extLst>
              </a:tr>
              <a:tr h="508212">
                <a:tc>
                  <a:txBody>
                    <a:bodyPr/>
                    <a:lstStyle/>
                    <a:p>
                      <a:pPr marL="0" marR="0">
                        <a:lnSpc>
                          <a:spcPct val="150000"/>
                        </a:lnSpc>
                        <a:spcBef>
                          <a:spcPts val="0"/>
                        </a:spcBef>
                        <a:spcAft>
                          <a:spcPts val="0"/>
                        </a:spcAft>
                      </a:pPr>
                      <a:r>
                        <a:rPr lang="en-VN" sz="1000">
                          <a:effectLst/>
                        </a:rPr>
                        <a:t>Cơ sở dữ liệu</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SQLite (demo) hoặc MySQL. Bảng: loai, sanpham, users, donhang, donhangchitiet.</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1762876808"/>
                  </a:ext>
                </a:extLst>
              </a:tr>
              <a:tr h="271092">
                <a:tc>
                  <a:txBody>
                    <a:bodyPr/>
                    <a:lstStyle/>
                    <a:p>
                      <a:pPr marL="0" marR="0">
                        <a:lnSpc>
                          <a:spcPct val="150000"/>
                        </a:lnSpc>
                        <a:spcBef>
                          <a:spcPts val="0"/>
                        </a:spcBef>
                        <a:spcAft>
                          <a:spcPts val="0"/>
                        </a:spcAft>
                      </a:pPr>
                      <a:r>
                        <a:rPr lang="en-VN" sz="1000">
                          <a:effectLst/>
                        </a:rPr>
                        <a:t>Frontend web</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HTML5 + Bootstrap 5.3.3 + Bootstrap Icons + CSS tùy biến</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3990998277"/>
                  </a:ext>
                </a:extLst>
              </a:tr>
              <a:tr h="271092">
                <a:tc>
                  <a:txBody>
                    <a:bodyPr/>
                    <a:lstStyle/>
                    <a:p>
                      <a:pPr marL="0" marR="0">
                        <a:lnSpc>
                          <a:spcPct val="150000"/>
                        </a:lnSpc>
                        <a:spcBef>
                          <a:spcPts val="0"/>
                        </a:spcBef>
                        <a:spcAft>
                          <a:spcPts val="0"/>
                        </a:spcAft>
                      </a:pPr>
                      <a:r>
                        <a:rPr lang="en-VN" sz="1000">
                          <a:effectLst/>
                        </a:rPr>
                        <a:t>Ứng dụng di động</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React Native + Expo + React Navigation</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1017660765"/>
                  </a:ext>
                </a:extLst>
              </a:tr>
              <a:tr h="508212">
                <a:tc>
                  <a:txBody>
                    <a:bodyPr/>
                    <a:lstStyle/>
                    <a:p>
                      <a:pPr marL="0" marR="0">
                        <a:lnSpc>
                          <a:spcPct val="150000"/>
                        </a:lnSpc>
                        <a:spcBef>
                          <a:spcPts val="0"/>
                        </a:spcBef>
                        <a:spcAft>
                          <a:spcPts val="0"/>
                        </a:spcAft>
                      </a:pPr>
                      <a:r>
                        <a:rPr lang="en-VN" sz="1000">
                          <a:effectLst/>
                        </a:rPr>
                        <a:t>Công cụ thiết kế</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HTML/CSS/JS trực tiếp — web app đã deploy đóng vai trò hi-fi interactive prototype (xem Demo online bên dưới)</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2349496018"/>
                  </a:ext>
                </a:extLst>
              </a:tr>
              <a:tr h="271092">
                <a:tc>
                  <a:txBody>
                    <a:bodyPr/>
                    <a:lstStyle/>
                    <a:p>
                      <a:pPr marL="0" marR="0">
                        <a:lnSpc>
                          <a:spcPct val="150000"/>
                        </a:lnSpc>
                        <a:spcBef>
                          <a:spcPts val="0"/>
                        </a:spcBef>
                        <a:spcAft>
                          <a:spcPts val="0"/>
                        </a:spcAft>
                      </a:pPr>
                      <a:r>
                        <a:rPr lang="en-VN" sz="1000">
                          <a:effectLst/>
                        </a:rPr>
                        <a:t>Kiến trúc</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MVC - Controller + Model + View</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4023306499"/>
                  </a:ext>
                </a:extLst>
              </a:tr>
              <a:tr h="508212">
                <a:tc>
                  <a:txBody>
                    <a:bodyPr/>
                    <a:lstStyle/>
                    <a:p>
                      <a:pPr marL="0" marR="0">
                        <a:lnSpc>
                          <a:spcPct val="150000"/>
                        </a:lnSpc>
                        <a:spcBef>
                          <a:spcPts val="0"/>
                        </a:spcBef>
                        <a:spcAft>
                          <a:spcPts val="0"/>
                        </a:spcAft>
                      </a:pPr>
                      <a:r>
                        <a:rPr lang="en-VN" sz="1000">
                          <a:effectLst/>
                        </a:rPr>
                        <a:t>Xác thực</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password_hash + password_verify (bcrypt), phân biệt vaitro=1 (Admin) / 0 (User)</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2230507127"/>
                  </a:ext>
                </a:extLst>
              </a:tr>
              <a:tr h="271092">
                <a:tc>
                  <a:txBody>
                    <a:bodyPr/>
                    <a:lstStyle/>
                    <a:p>
                      <a:pPr marL="0" marR="0">
                        <a:lnSpc>
                          <a:spcPct val="150000"/>
                        </a:lnSpc>
                        <a:spcBef>
                          <a:spcPts val="0"/>
                        </a:spcBef>
                        <a:spcAft>
                          <a:spcPts val="0"/>
                        </a:spcAft>
                      </a:pPr>
                      <a:r>
                        <a:rPr lang="en-VN" sz="1000">
                          <a:effectLst/>
                        </a:rPr>
                        <a:t>Session</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PHP session, giỏ hàng lưu trong $_SESSION['cart']</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2300648155"/>
                  </a:ext>
                </a:extLst>
              </a:tr>
              <a:tr h="745333">
                <a:tc>
                  <a:txBody>
                    <a:bodyPr/>
                    <a:lstStyle/>
                    <a:p>
                      <a:pPr marL="0" marR="0">
                        <a:lnSpc>
                          <a:spcPct val="150000"/>
                        </a:lnSpc>
                        <a:spcBef>
                          <a:spcPts val="0"/>
                        </a:spcBef>
                        <a:spcAft>
                          <a:spcPts val="0"/>
                        </a:spcAft>
                      </a:pPr>
                      <a:r>
                        <a:rPr lang="en-VN" sz="1000">
                          <a:effectLst/>
                        </a:rPr>
                        <a:t>Demo online</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https://laptopvui-2.onrender.com/ (backend deploy trên Render.com, gói Free — lần request đầu có thể mất ~30–50 giây do server ngủ)</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2148082517"/>
                  </a:ext>
                </a:extLst>
              </a:tr>
              <a:tr h="490149">
                <a:tc>
                  <a:txBody>
                    <a:bodyPr/>
                    <a:lstStyle/>
                    <a:p>
                      <a:pPr marL="0" marR="0">
                        <a:lnSpc>
                          <a:spcPct val="150000"/>
                        </a:lnSpc>
                        <a:spcBef>
                          <a:spcPts val="0"/>
                        </a:spcBef>
                        <a:spcAft>
                          <a:spcPts val="0"/>
                        </a:spcAft>
                      </a:pPr>
                      <a:r>
                        <a:rPr lang="en-VN" sz="1000">
                          <a:effectLst/>
                        </a:rPr>
                        <a:t>Tài khoản admin demo</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Email: admin@demo.local — Mật khẩu: admin123</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3658579717"/>
                  </a:ext>
                </a:extLst>
              </a:tr>
              <a:tr h="271092">
                <a:tc>
                  <a:txBody>
                    <a:bodyPr/>
                    <a:lstStyle/>
                    <a:p>
                      <a:pPr marL="0" marR="0">
                        <a:lnSpc>
                          <a:spcPct val="150000"/>
                        </a:lnSpc>
                        <a:spcBef>
                          <a:spcPts val="0"/>
                        </a:spcBef>
                        <a:spcAft>
                          <a:spcPts val="0"/>
                        </a:spcAft>
                      </a:pPr>
                      <a:r>
                        <a:rPr lang="en-VN" sz="1000">
                          <a:effectLst/>
                        </a:rPr>
                        <a:t>Mã nguồn</a:t>
                      </a:r>
                      <a:endParaRPr lang="en-VN" sz="800">
                        <a:effectLst/>
                        <a:latin typeface="Calibri" panose="020F0502020204030204" pitchFamily="34" charset="0"/>
                        <a:ea typeface="Calibri" panose="020F0502020204030204" pitchFamily="34" charset="0"/>
                      </a:endParaRPr>
                    </a:p>
                  </a:txBody>
                  <a:tcPr marL="42279" marR="42279" marT="28186" marB="28186" anchor="ctr"/>
                </a:tc>
                <a:tc>
                  <a:txBody>
                    <a:bodyPr/>
                    <a:lstStyle/>
                    <a:p>
                      <a:pPr marL="0" marR="0">
                        <a:lnSpc>
                          <a:spcPct val="150000"/>
                        </a:lnSpc>
                        <a:spcBef>
                          <a:spcPts val="0"/>
                        </a:spcBef>
                        <a:spcAft>
                          <a:spcPts val="0"/>
                        </a:spcAft>
                      </a:pPr>
                      <a:r>
                        <a:rPr lang="en-VN" sz="1000">
                          <a:effectLst/>
                        </a:rPr>
                        <a:t>https://github.com/hoangloc163/laptopvui_2</a:t>
                      </a:r>
                      <a:endParaRPr lang="en-VN" sz="800">
                        <a:effectLst/>
                        <a:latin typeface="Calibri" panose="020F0502020204030204" pitchFamily="34" charset="0"/>
                        <a:ea typeface="Calibri" panose="020F0502020204030204" pitchFamily="34" charset="0"/>
                      </a:endParaRPr>
                    </a:p>
                  </a:txBody>
                  <a:tcPr marL="42279" marR="42279" marT="28186" marB="28186" anchor="ctr"/>
                </a:tc>
                <a:extLst>
                  <a:ext uri="{0D108BD9-81ED-4DB2-BD59-A6C34878D82A}">
                    <a16:rowId xmlns:a16="http://schemas.microsoft.com/office/drawing/2014/main" val="3423627904"/>
                  </a:ext>
                </a:extLst>
              </a:tr>
            </a:tbl>
          </a:graphicData>
        </a:graphic>
      </p:graphicFrame>
    </p:spTree>
    <p:extLst>
      <p:ext uri="{BB962C8B-B14F-4D97-AF65-F5344CB8AC3E}">
        <p14:creationId xmlns:p14="http://schemas.microsoft.com/office/powerpoint/2010/main" val="3431203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29183"/>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2. </a:t>
            </a:r>
            <a:r>
              <a:rPr lang="en-US" sz="2800" b="1" kern="0" spc="200"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NGHIÊN CỨU NGƯỜI DÙNG</a:t>
            </a:r>
            <a:endParaRPr lang="en-US" sz="28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endParaRPr>
          </a:p>
          <a:p>
            <a:pPr marL="0" indent="0">
              <a:buNone/>
            </a:pP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2241960"/>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2.1</a:t>
            </a:r>
            <a:r>
              <a:rPr lang="vi-VN" sz="2400" b="1">
                <a:solidFill>
                  <a:srgbClr val="7030A0"/>
                </a:solidFill>
                <a:effectLst/>
                <a:latin typeface="Times New Roman" panose="02020603050405020304" pitchFamily="18" charset="0"/>
                <a:cs typeface="Times New Roman" panose="02020603050405020304" pitchFamily="18" charset="0"/>
              </a:rPr>
              <a:t>. Stakeholders – 3 nhóm</a:t>
            </a:r>
          </a:p>
          <a:p>
            <a:pPr>
              <a:lnSpc>
                <a:spcPct val="150000"/>
              </a:lnSpc>
            </a:pPr>
            <a:r>
              <a:rPr lang="vi-VN" sz="2400">
                <a:latin typeface="Times New Roman" panose="02020603050405020304" pitchFamily="18" charset="0"/>
                <a:cs typeface="Times New Roman" panose="02020603050405020304" pitchFamily="18" charset="0"/>
              </a:rPr>
              <a:t>Guest: duyệt SP, giỏ hàng, thanh toán (không cần tài khoản) </a:t>
            </a:r>
          </a:p>
          <a:p>
            <a:pPr>
              <a:lnSpc>
                <a:spcPct val="150000"/>
              </a:lnSpc>
            </a:pPr>
            <a:r>
              <a:rPr lang="vi-VN" sz="2400">
                <a:latin typeface="Times New Roman" panose="02020603050405020304" pitchFamily="18" charset="0"/>
                <a:cs typeface="Times New Roman" panose="02020603050405020304" pitchFamily="18" charset="0"/>
              </a:rPr>
              <a:t>User: như Guest + đăng nhập, prefill thông tin </a:t>
            </a:r>
          </a:p>
          <a:p>
            <a:pPr>
              <a:lnSpc>
                <a:spcPct val="150000"/>
              </a:lnSpc>
            </a:pPr>
            <a:r>
              <a:rPr lang="vi-VN" sz="2400">
                <a:latin typeface="Times New Roman" panose="02020603050405020304" pitchFamily="18" charset="0"/>
                <a:cs typeface="Times New Roman" panose="02020603050405020304" pitchFamily="18" charset="0"/>
              </a:rPr>
              <a:t>Admin: CRUD sản phẩm/danh mục, xem đơn hàng, thống kê</a:t>
            </a:r>
            <a:endParaRPr lang="vi-VN" sz="2400" b="0">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755348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29183"/>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2. </a:t>
            </a:r>
            <a:r>
              <a:rPr lang="en-US" sz="2800" b="1" kern="0" spc="200"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NGHIÊN CỨU NGƯỜI DÙNG</a:t>
            </a:r>
            <a:endParaRPr lang="en-US" sz="28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endParaRPr>
          </a:p>
          <a:p>
            <a:pPr marL="0" indent="0">
              <a:buNone/>
            </a:pP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2.2</a:t>
            </a:r>
            <a:r>
              <a:rPr lang="vi-VN" sz="2400" b="1">
                <a:solidFill>
                  <a:srgbClr val="7030A0"/>
                </a:solidFill>
                <a:effectLst/>
                <a:latin typeface="Times New Roman" panose="02020603050405020304" pitchFamily="18" charset="0"/>
                <a:cs typeface="Times New Roman" panose="02020603050405020304" pitchFamily="18" charset="0"/>
              </a:rPr>
              <a:t>. Personas – 3 chân dung</a:t>
            </a: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8713C9B7-C1FC-4E50-0EDB-F563AAABC56B}"/>
              </a:ext>
            </a:extLst>
          </p:cNvPr>
          <p:cNvGraphicFramePr>
            <a:graphicFrameLocks noGrp="1"/>
          </p:cNvGraphicFramePr>
          <p:nvPr>
            <p:extLst>
              <p:ext uri="{D42A27DB-BD31-4B8C-83A1-F6EECF244321}">
                <p14:modId xmlns:p14="http://schemas.microsoft.com/office/powerpoint/2010/main" val="1378511067"/>
              </p:ext>
            </p:extLst>
          </p:nvPr>
        </p:nvGraphicFramePr>
        <p:xfrm>
          <a:off x="401471" y="1487319"/>
          <a:ext cx="10515600" cy="2286000"/>
        </p:xfrm>
        <a:graphic>
          <a:graphicData uri="http://schemas.openxmlformats.org/drawingml/2006/table">
            <a:tbl>
              <a:tblPr/>
              <a:tblGrid>
                <a:gridCol w="3505200">
                  <a:extLst>
                    <a:ext uri="{9D8B030D-6E8A-4147-A177-3AD203B41FA5}">
                      <a16:colId xmlns:a16="http://schemas.microsoft.com/office/drawing/2014/main" val="3461208760"/>
                    </a:ext>
                  </a:extLst>
                </a:gridCol>
                <a:gridCol w="3505200">
                  <a:extLst>
                    <a:ext uri="{9D8B030D-6E8A-4147-A177-3AD203B41FA5}">
                      <a16:colId xmlns:a16="http://schemas.microsoft.com/office/drawing/2014/main" val="653976888"/>
                    </a:ext>
                  </a:extLst>
                </a:gridCol>
                <a:gridCol w="3505200">
                  <a:extLst>
                    <a:ext uri="{9D8B030D-6E8A-4147-A177-3AD203B41FA5}">
                      <a16:colId xmlns:a16="http://schemas.microsoft.com/office/drawing/2014/main" val="297260075"/>
                    </a:ext>
                  </a:extLst>
                </a:gridCol>
              </a:tblGrid>
              <a:tr h="0">
                <a:tc>
                  <a:txBody>
                    <a:bodyPr/>
                    <a:lstStyle/>
                    <a:p>
                      <a:pPr algn="ctr"/>
                      <a:r>
                        <a:rPr lang="en-US" b="1">
                          <a:latin typeface="Times New Roman" panose="02020603050405020304" pitchFamily="18" charset="0"/>
                          <a:cs typeface="Times New Roman" panose="02020603050405020304" pitchFamily="18" charset="0"/>
                        </a:rPr>
                        <a:t>Persona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a:latin typeface="Times New Roman" panose="02020603050405020304" pitchFamily="18" charset="0"/>
                          <a:cs typeface="Times New Roman" panose="02020603050405020304" pitchFamily="18" charset="0"/>
                        </a:rPr>
                        <a:t>Đặc điểm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b="1">
                          <a:latin typeface="Times New Roman" panose="02020603050405020304" pitchFamily="18" charset="0"/>
                          <a:cs typeface="Times New Roman" panose="02020603050405020304" pitchFamily="18" charset="0"/>
                        </a:rPr>
                        <a:t>Kỳ vọng chính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1867277"/>
                  </a:ext>
                </a:extLst>
              </a:tr>
              <a:tr h="0">
                <a:tc>
                  <a:txBody>
                    <a:bodyPr/>
                    <a:lstStyle/>
                    <a:p>
                      <a:r>
                        <a:rPr lang="en-US">
                          <a:latin typeface="Times New Roman" panose="02020603050405020304" pitchFamily="18" charset="0"/>
                          <a:cs typeface="Times New Roman" panose="02020603050405020304" pitchFamily="18" charset="0"/>
                        </a:rPr>
                        <a:t>Anh Minh — SV IT (21t)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latin typeface="Times New Roman" panose="02020603050405020304" pitchFamily="18" charset="0"/>
                          <a:cs typeface="Times New Roman" panose="02020603050405020304" pitchFamily="18" charset="0"/>
                        </a:rPr>
                        <a:t>Ngân sách 15-20tr, so sánh kỹ trước khi mua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Times New Roman" panose="02020603050405020304" pitchFamily="18" charset="0"/>
                          <a:cs typeface="Times New Roman" panose="02020603050405020304" pitchFamily="18" charset="0"/>
                        </a:rPr>
                        <a:t>Filter cấu hình rõ, thanh toán nhanh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64639109"/>
                  </a:ext>
                </a:extLst>
              </a:tr>
              <a:tr h="0">
                <a:tc>
                  <a:txBody>
                    <a:bodyPr/>
                    <a:lstStyle/>
                    <a:p>
                      <a:r>
                        <a:rPr lang="en-US">
                          <a:latin typeface="Times New Roman" panose="02020603050405020304" pitchFamily="18" charset="0"/>
                          <a:cs typeface="Times New Roman" panose="02020603050405020304" pitchFamily="18" charset="0"/>
                        </a:rPr>
                        <a:t>Chị Hà — Mẹ bận rộn (38t)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Times New Roman" panose="02020603050405020304" pitchFamily="18" charset="0"/>
                          <a:cs typeface="Times New Roman" panose="02020603050405020304" pitchFamily="18" charset="0"/>
                        </a:rPr>
                        <a:t>Ngân sách 20-30tr, mua qua điện thoại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Times New Roman" panose="02020603050405020304" pitchFamily="18" charset="0"/>
                          <a:cs typeface="Times New Roman" panose="02020603050405020304" pitchFamily="18" charset="0"/>
                        </a:rPr>
                        <a:t>Không cần đăng ký, thao tác mobile dễ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4208583"/>
                  </a:ext>
                </a:extLst>
              </a:tr>
              <a:tr h="0">
                <a:tc>
                  <a:txBody>
                    <a:bodyPr/>
                    <a:lstStyle/>
                    <a:p>
                      <a:r>
                        <a:rPr lang="en-US">
                          <a:latin typeface="Times New Roman" panose="02020603050405020304" pitchFamily="18" charset="0"/>
                          <a:cs typeface="Times New Roman" panose="02020603050405020304" pitchFamily="18" charset="0"/>
                        </a:rPr>
                        <a:t>Anh Tuấn — Admin (30t)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atin typeface="Times New Roman" panose="02020603050405020304" pitchFamily="18" charset="0"/>
                          <a:cs typeface="Times New Roman" panose="02020603050405020304" pitchFamily="18" charset="0"/>
                        </a:rPr>
                        <a:t>Thao tác nhiều lần/ngày trên dashboard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vi-VN">
                          <a:latin typeface="Times New Roman" panose="02020603050405020304" pitchFamily="18" charset="0"/>
                          <a:cs typeface="Times New Roman" panose="02020603050405020304" pitchFamily="18" charset="0"/>
                        </a:rPr>
                        <a:t>Sidebar rõ, xác nhận trước khi xoá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0042338"/>
                  </a:ext>
                </a:extLst>
              </a:tr>
            </a:tbl>
          </a:graphicData>
        </a:graphic>
      </p:graphicFrame>
    </p:spTree>
    <p:extLst>
      <p:ext uri="{BB962C8B-B14F-4D97-AF65-F5344CB8AC3E}">
        <p14:creationId xmlns:p14="http://schemas.microsoft.com/office/powerpoint/2010/main" val="18561726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29183"/>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2. </a:t>
            </a:r>
            <a:r>
              <a:rPr lang="en-US" sz="2800" b="1" kern="0" spc="200"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NGHIÊN CỨU NGƯỜI DÙNG</a:t>
            </a:r>
            <a:endParaRPr lang="en-US" sz="28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endParaRPr>
          </a:p>
          <a:p>
            <a:pPr marL="0" indent="0">
              <a:buNone/>
            </a:pP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2.3</a:t>
            </a:r>
            <a:r>
              <a:rPr lang="vi-VN" sz="2400" b="1">
                <a:solidFill>
                  <a:srgbClr val="7030A0"/>
                </a:solidFill>
                <a:effectLst/>
                <a:latin typeface="Times New Roman" panose="02020603050405020304" pitchFamily="18" charset="0"/>
                <a:cs typeface="Times New Roman" panose="02020603050405020304" pitchFamily="18" charset="0"/>
              </a:rPr>
              <a:t>. </a:t>
            </a:r>
            <a:r>
              <a:rPr lang="en-US" sz="2400" b="1">
                <a:solidFill>
                  <a:srgbClr val="7030A0"/>
                </a:solidFill>
                <a:latin typeface="Times New Roman" panose="02020603050405020304" pitchFamily="18" charset="0"/>
                <a:cs typeface="Times New Roman" panose="02020603050405020304" pitchFamily="18" charset="0"/>
              </a:rPr>
              <a:t>Kịch bản sử dụng — 3 luồng chính</a:t>
            </a:r>
            <a:endParaRPr lang="vi-VN" sz="2400" b="1">
              <a:solidFill>
                <a:srgbClr val="7030A0"/>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F3CC0821-FDDA-29B4-3A68-A9CBB4D70339}"/>
              </a:ext>
            </a:extLst>
          </p:cNvPr>
          <p:cNvSpPr txBox="1"/>
          <p:nvPr/>
        </p:nvSpPr>
        <p:spPr>
          <a:xfrm>
            <a:off x="655093" y="1472619"/>
            <a:ext cx="9156564" cy="1289007"/>
          </a:xfrm>
          <a:prstGeom prst="rect">
            <a:avLst/>
          </a:prstGeom>
          <a:noFill/>
        </p:spPr>
        <p:txBody>
          <a:bodyPr wrap="square">
            <a:spAutoFit/>
          </a:bodyPr>
          <a:lstStyle/>
          <a:p>
            <a:pPr>
              <a:lnSpc>
                <a:spcPct val="150000"/>
              </a:lnSpc>
            </a:pPr>
            <a:r>
              <a:rPr lang="en-US">
                <a:latin typeface="Times New Roman" panose="02020603050405020304" pitchFamily="18" charset="0"/>
                <a:cs typeface="Times New Roman" panose="02020603050405020304" pitchFamily="18" charset="0"/>
              </a:rPr>
              <a:t>Minh: Trang chủ → Chi tiết SP → Giỏ hàng → Đăng ký → Đặt hàng </a:t>
            </a:r>
          </a:p>
          <a:p>
            <a:pPr>
              <a:lnSpc>
                <a:spcPct val="150000"/>
              </a:lnSpc>
            </a:pPr>
            <a:r>
              <a:rPr lang="en-US">
                <a:latin typeface="Times New Roman" panose="02020603050405020304" pitchFamily="18" charset="0"/>
                <a:cs typeface="Times New Roman" panose="02020603050405020304" pitchFamily="18" charset="0"/>
              </a:rPr>
              <a:t>Hà: Mobile → Danh mục → Chi tiết SP → Giỏ hàng → </a:t>
            </a:r>
            <a:r>
              <a:rPr lang="en-US" b="1">
                <a:latin typeface="Times New Roman" panose="02020603050405020304" pitchFamily="18" charset="0"/>
                <a:cs typeface="Times New Roman" panose="02020603050405020304" pitchFamily="18" charset="0"/>
              </a:rPr>
              <a:t>Guest checkout</a:t>
            </a:r>
            <a:r>
              <a:rPr lang="en-US">
                <a:latin typeface="Times New Roman" panose="02020603050405020304" pitchFamily="18" charset="0"/>
                <a:cs typeface="Times New Roman" panose="02020603050405020304" pitchFamily="18" charset="0"/>
              </a:rPr>
              <a:t> </a:t>
            </a:r>
          </a:p>
          <a:p>
            <a:pPr>
              <a:lnSpc>
                <a:spcPct val="150000"/>
              </a:lnSpc>
            </a:pPr>
            <a:r>
              <a:rPr lang="en-US">
                <a:latin typeface="Times New Roman" panose="02020603050405020304" pitchFamily="18" charset="0"/>
                <a:cs typeface="Times New Roman" panose="02020603050405020304" pitchFamily="18" charset="0"/>
              </a:rPr>
              <a:t>Tuấn: Đăng nhập admin → Dashboard → Thêm SP mới → Xác nhận</a:t>
            </a:r>
            <a:endParaRPr lang="en-V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367657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29183"/>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2. </a:t>
            </a:r>
            <a:r>
              <a:rPr lang="en-US" sz="2800" b="1" kern="0" spc="200"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rPr>
              <a:t>NGHIÊN CỨU NGƯỜI DÙNG</a:t>
            </a:r>
            <a:endParaRPr lang="en-US" sz="2800" b="1" dirty="0">
              <a:solidFill>
                <a:schemeClr val="accent5">
                  <a:lumMod val="50000"/>
                </a:schemeClr>
              </a:solidFill>
              <a:latin typeface="Times New Roman" panose="02020603050405020304" pitchFamily="18" charset="0"/>
              <a:ea typeface="MiSans" panose="020B0604020202020204" charset="-122"/>
              <a:cs typeface="Times New Roman" panose="02020603050405020304" pitchFamily="18" charset="0"/>
            </a:endParaRPr>
          </a:p>
          <a:p>
            <a:pPr marL="0" indent="0">
              <a:buNone/>
            </a:pP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2.4</a:t>
            </a:r>
            <a:r>
              <a:rPr lang="vi-VN" sz="2400" b="1">
                <a:solidFill>
                  <a:srgbClr val="7030A0"/>
                </a:solidFill>
                <a:effectLst/>
                <a:latin typeface="Times New Roman" panose="02020603050405020304" pitchFamily="18" charset="0"/>
                <a:cs typeface="Times New Roman" panose="02020603050405020304" pitchFamily="18" charset="0"/>
              </a:rPr>
              <a:t>. </a:t>
            </a:r>
            <a:r>
              <a:rPr lang="vi-VN" sz="2400" b="1">
                <a:solidFill>
                  <a:srgbClr val="7030A0"/>
                </a:solidFill>
                <a:latin typeface="Times New Roman" panose="02020603050405020304" pitchFamily="18" charset="0"/>
                <a:cs typeface="Times New Roman" panose="02020603050405020304" pitchFamily="18" charset="0"/>
              </a:rPr>
              <a:t>Yêu cầu người dùng — theo 4 nhóm ưu tiên Cao</a:t>
            </a: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F3CC0821-FDDA-29B4-3A68-A9CBB4D70339}"/>
              </a:ext>
            </a:extLst>
          </p:cNvPr>
          <p:cNvSpPr txBox="1"/>
          <p:nvPr/>
        </p:nvSpPr>
        <p:spPr>
          <a:xfrm>
            <a:off x="655092" y="1472619"/>
            <a:ext cx="9519421" cy="1883657"/>
          </a:xfrm>
          <a:prstGeom prst="rect">
            <a:avLst/>
          </a:prstGeom>
          <a:noFill/>
        </p:spPr>
        <p:txBody>
          <a:bodyPr wrap="square">
            <a:spAutoFit/>
          </a:bodyPr>
          <a:lstStyle/>
          <a:p>
            <a:pPr marL="342900" indent="-342900">
              <a:lnSpc>
                <a:spcPct val="150000"/>
              </a:lnSpc>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Chức năng</a:t>
            </a:r>
            <a:r>
              <a:rPr lang="vi-VN" sz="2000">
                <a:latin typeface="Times New Roman" panose="02020603050405020304" pitchFamily="18" charset="0"/>
                <a:cs typeface="Times New Roman" panose="02020603050405020304" pitchFamily="18" charset="0"/>
              </a:rPr>
              <a:t>: guest checkout, tìm kiếm/lọc, CRUD SP có validation </a:t>
            </a:r>
          </a:p>
          <a:p>
            <a:pPr marL="342900" indent="-342900">
              <a:lnSpc>
                <a:spcPct val="150000"/>
              </a:lnSpc>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Giao diện</a:t>
            </a:r>
            <a:r>
              <a:rPr lang="vi-VN" sz="2000">
                <a:latin typeface="Times New Roman" panose="02020603050405020304" pitchFamily="18" charset="0"/>
                <a:cs typeface="Times New Roman" panose="02020603050405020304" pitchFamily="18" charset="0"/>
              </a:rPr>
              <a:t>: tối giản, responsive &lt; 768px, sticky menu </a:t>
            </a:r>
          </a:p>
          <a:p>
            <a:pPr marL="342900" indent="-342900">
              <a:lnSpc>
                <a:spcPct val="150000"/>
              </a:lnSpc>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Trải nghiệm</a:t>
            </a:r>
            <a:r>
              <a:rPr lang="vi-VN" sz="2000">
                <a:latin typeface="Times New Roman" panose="02020603050405020304" pitchFamily="18" charset="0"/>
                <a:cs typeface="Times New Roman" panose="02020603050405020304" pitchFamily="18" charset="0"/>
              </a:rPr>
              <a:t>: thông báo rõ, validate real-time, xác nhận trước khi xoá </a:t>
            </a:r>
          </a:p>
          <a:p>
            <a:pPr marL="342900" indent="-342900">
              <a:lnSpc>
                <a:spcPct val="150000"/>
              </a:lnSpc>
              <a:buFont typeface="Arial" panose="020B0604020202020204" pitchFamily="34" charset="0"/>
              <a:buChar char="•"/>
            </a:pPr>
            <a:r>
              <a:rPr lang="vi-VN" sz="2000" b="1">
                <a:latin typeface="Times New Roman" panose="02020603050405020304" pitchFamily="18" charset="0"/>
                <a:cs typeface="Times New Roman" panose="02020603050405020304" pitchFamily="18" charset="0"/>
              </a:rPr>
              <a:t>Bảo mật</a:t>
            </a:r>
            <a:r>
              <a:rPr lang="vi-VN" sz="2000">
                <a:latin typeface="Times New Roman" panose="02020603050405020304" pitchFamily="18" charset="0"/>
                <a:cs typeface="Times New Roman" panose="02020603050405020304" pitchFamily="18" charset="0"/>
              </a:rPr>
              <a:t>: hash mật khẩu, chống CSRF/XSS/SQLi</a:t>
            </a:r>
            <a:endParaRPr lang="en-VN"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0903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3.1</a:t>
            </a:r>
            <a:r>
              <a:rPr lang="vi-VN" sz="2400" b="1">
                <a:solidFill>
                  <a:srgbClr val="7030A0"/>
                </a:solidFill>
                <a:effectLst/>
                <a:latin typeface="Times New Roman" panose="02020603050405020304" pitchFamily="18" charset="0"/>
                <a:cs typeface="Times New Roman" panose="02020603050405020304" pitchFamily="18" charset="0"/>
              </a:rPr>
              <a:t>. Kiến trúc MVC</a:t>
            </a:r>
            <a:endParaRPr lang="vi-VN" sz="2400" b="1">
              <a:solidFill>
                <a:srgbClr val="7030A0"/>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F3CC0821-FDDA-29B4-3A68-A9CBB4D70339}"/>
              </a:ext>
            </a:extLst>
          </p:cNvPr>
          <p:cNvSpPr txBox="1"/>
          <p:nvPr/>
        </p:nvSpPr>
        <p:spPr>
          <a:xfrm>
            <a:off x="655092" y="1472619"/>
            <a:ext cx="10564451" cy="2241960"/>
          </a:xfrm>
          <a:prstGeom prst="rect">
            <a:avLst/>
          </a:prstGeom>
          <a:noFill/>
        </p:spPr>
        <p:txBody>
          <a:bodyPr wrap="square">
            <a:spAutoFit/>
          </a:bodyPr>
          <a:lstStyle/>
          <a:p>
            <a:pPr>
              <a:lnSpc>
                <a:spcPct val="150000"/>
              </a:lnSpc>
            </a:pPr>
            <a:r>
              <a:rPr lang="vi-VN" sz="2400">
                <a:latin typeface="Times New Roman" panose="02020603050405020304" pitchFamily="18" charset="0"/>
                <a:cs typeface="Times New Roman" panose="02020603050405020304" pitchFamily="18" charset="0"/>
              </a:rPr>
              <a:t>Mọi request qua index.php → Router → Controller → Model → View. Có layout riêng cho site và admin. </a:t>
            </a:r>
          </a:p>
          <a:p>
            <a:pPr>
              <a:lnSpc>
                <a:spcPct val="150000"/>
              </a:lnSpc>
            </a:pPr>
            <a:r>
              <a:rPr lang="vi-VN" sz="2400">
                <a:latin typeface="Times New Roman" panose="02020603050405020304" pitchFamily="18" charset="0"/>
                <a:cs typeface="Times New Roman" panose="02020603050405020304" pitchFamily="18" charset="0"/>
              </a:rPr>
              <a:t>Cấu trúc thư mục rõ ràng: controllers/, models/, views/, views/admin/, public/css/, mobile_app/.</a:t>
            </a:r>
            <a:endParaRPr lang="en-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5489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3.2</a:t>
            </a:r>
            <a:r>
              <a:rPr lang="vi-VN" sz="2400" b="1">
                <a:solidFill>
                  <a:srgbClr val="7030A0"/>
                </a:solidFill>
                <a:effectLst/>
                <a:latin typeface="Times New Roman" panose="02020603050405020304" pitchFamily="18" charset="0"/>
                <a:cs typeface="Times New Roman" panose="02020603050405020304" pitchFamily="18" charset="0"/>
              </a:rPr>
              <a:t>. Sơ đồ thực thể - quan hệ (ERD)</a:t>
            </a:r>
            <a:endParaRPr lang="vi-VN" sz="2400" b="1">
              <a:solidFill>
                <a:srgbClr val="7030A0"/>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89ABDC5E-0FF7-7F3A-3528-B3D452F247FD}"/>
              </a:ext>
            </a:extLst>
          </p:cNvPr>
          <p:cNvPicPr>
            <a:picLocks noChangeAspect="1"/>
          </p:cNvPicPr>
          <p:nvPr/>
        </p:nvPicPr>
        <p:blipFill>
          <a:blip r:embed="rId3"/>
          <a:srcRect/>
          <a:stretch>
            <a:fillRect/>
          </a:stretch>
        </p:blipFill>
        <p:spPr bwMode="auto">
          <a:xfrm>
            <a:off x="1146411" y="1227404"/>
            <a:ext cx="8360446" cy="5016268"/>
          </a:xfrm>
          <a:prstGeom prst="rect">
            <a:avLst/>
          </a:prstGeom>
        </p:spPr>
      </p:pic>
    </p:spTree>
    <p:extLst>
      <p:ext uri="{BB962C8B-B14F-4D97-AF65-F5344CB8AC3E}">
        <p14:creationId xmlns:p14="http://schemas.microsoft.com/office/powerpoint/2010/main" val="2035472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3.3</a:t>
            </a:r>
            <a:r>
              <a:rPr lang="vi-VN" sz="2400" b="1">
                <a:solidFill>
                  <a:srgbClr val="7030A0"/>
                </a:solidFill>
                <a:effectLst/>
                <a:latin typeface="Times New Roman" panose="02020603050405020304" pitchFamily="18" charset="0"/>
                <a:cs typeface="Times New Roman" panose="02020603050405020304" pitchFamily="18" charset="0"/>
              </a:rPr>
              <a:t>. Bảng Route (sơ đồ điều hướng)</a:t>
            </a:r>
            <a:endParaRPr lang="vi-VN" sz="2400" b="1">
              <a:solidFill>
                <a:srgbClr val="7030A0"/>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graphicFrame>
        <p:nvGraphicFramePr>
          <p:cNvPr id="4" name="Table 3">
            <a:extLst>
              <a:ext uri="{FF2B5EF4-FFF2-40B4-BE49-F238E27FC236}">
                <a16:creationId xmlns:a16="http://schemas.microsoft.com/office/drawing/2014/main" id="{5A656D3D-71AA-4FC2-CE0B-62F82A0AF309}"/>
              </a:ext>
            </a:extLst>
          </p:cNvPr>
          <p:cNvGraphicFramePr>
            <a:graphicFrameLocks noGrp="1"/>
          </p:cNvGraphicFramePr>
          <p:nvPr>
            <p:extLst>
              <p:ext uri="{D42A27DB-BD31-4B8C-83A1-F6EECF244321}">
                <p14:modId xmlns:p14="http://schemas.microsoft.com/office/powerpoint/2010/main" val="1128207120"/>
              </p:ext>
            </p:extLst>
          </p:nvPr>
        </p:nvGraphicFramePr>
        <p:xfrm>
          <a:off x="643128" y="1100105"/>
          <a:ext cx="7586472" cy="5346415"/>
        </p:xfrm>
        <a:graphic>
          <a:graphicData uri="http://schemas.openxmlformats.org/drawingml/2006/table">
            <a:tbl>
              <a:tblPr>
                <a:tableStyleId>{5C22544A-7EE6-4342-B048-85BDC9FD1C3A}</a:tableStyleId>
              </a:tblPr>
              <a:tblGrid>
                <a:gridCol w="1213820">
                  <a:extLst>
                    <a:ext uri="{9D8B030D-6E8A-4147-A177-3AD203B41FA5}">
                      <a16:colId xmlns:a16="http://schemas.microsoft.com/office/drawing/2014/main" val="876425450"/>
                    </a:ext>
                  </a:extLst>
                </a:gridCol>
                <a:gridCol w="1950294">
                  <a:extLst>
                    <a:ext uri="{9D8B030D-6E8A-4147-A177-3AD203B41FA5}">
                      <a16:colId xmlns:a16="http://schemas.microsoft.com/office/drawing/2014/main" val="967428023"/>
                    </a:ext>
                  </a:extLst>
                </a:gridCol>
                <a:gridCol w="2685143">
                  <a:extLst>
                    <a:ext uri="{9D8B030D-6E8A-4147-A177-3AD203B41FA5}">
                      <a16:colId xmlns:a16="http://schemas.microsoft.com/office/drawing/2014/main" val="3487319895"/>
                    </a:ext>
                  </a:extLst>
                </a:gridCol>
                <a:gridCol w="1737215">
                  <a:extLst>
                    <a:ext uri="{9D8B030D-6E8A-4147-A177-3AD203B41FA5}">
                      <a16:colId xmlns:a16="http://schemas.microsoft.com/office/drawing/2014/main" val="255351127"/>
                    </a:ext>
                  </a:extLst>
                </a:gridCol>
              </a:tblGrid>
              <a:tr h="141474">
                <a:tc>
                  <a:txBody>
                    <a:bodyPr/>
                    <a:lstStyle/>
                    <a:p>
                      <a:pPr marL="0" marR="0" algn="ctr">
                        <a:lnSpc>
                          <a:spcPct val="150000"/>
                        </a:lnSpc>
                        <a:spcBef>
                          <a:spcPts val="0"/>
                        </a:spcBef>
                        <a:spcAft>
                          <a:spcPts val="0"/>
                        </a:spcAft>
                      </a:pPr>
                      <a:r>
                        <a:rPr lang="en-VN" sz="400">
                          <a:effectLst/>
                        </a:rPr>
                        <a:t>Method</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gn="ctr">
                        <a:lnSpc>
                          <a:spcPct val="150000"/>
                        </a:lnSpc>
                        <a:spcBef>
                          <a:spcPts val="0"/>
                        </a:spcBef>
                        <a:spcAft>
                          <a:spcPts val="0"/>
                        </a:spcAft>
                      </a:pPr>
                      <a:r>
                        <a:rPr lang="en-VN" sz="400">
                          <a:effectLst/>
                        </a:rPr>
                        <a:t>URL</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gn="ctr">
                        <a:lnSpc>
                          <a:spcPct val="150000"/>
                        </a:lnSpc>
                        <a:spcBef>
                          <a:spcPts val="0"/>
                        </a:spcBef>
                        <a:spcAft>
                          <a:spcPts val="0"/>
                        </a:spcAft>
                      </a:pPr>
                      <a:r>
                        <a:rPr lang="en-VN" sz="400">
                          <a:effectLst/>
                        </a:rPr>
                        <a:t>Controller.method</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gn="ctr">
                        <a:lnSpc>
                          <a:spcPct val="150000"/>
                        </a:lnSpc>
                        <a:spcBef>
                          <a:spcPts val="0"/>
                        </a:spcBef>
                        <a:spcAft>
                          <a:spcPts val="0"/>
                        </a:spcAft>
                      </a:pPr>
                      <a:r>
                        <a:rPr lang="en-VN" sz="400">
                          <a:effectLst/>
                        </a:rPr>
                        <a:t>Vai trò</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3523237948"/>
                  </a:ext>
                </a:extLst>
              </a:tr>
              <a:tr h="141474">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SanphamController.index</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Trang chủ</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3306840343"/>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/sp?id=</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SanphamController.detail</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Chi tiết sản phẩm</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2598013279"/>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/loai?idloai=&amp;page=</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SanphamController.cat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SP theo danh mục (paging)</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1980554140"/>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/addtocart?id=&amp;soluong=</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SanphamController.addtocart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Thêm SP vào giỏ hàng</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2653606111"/>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/showcart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SanphamController.showcart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Hiển thị giỏ hàng</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3195190694"/>
                  </a:ext>
                </a:extLst>
              </a:tr>
              <a:tr h="264563">
                <a:tc>
                  <a:txBody>
                    <a:bodyPr/>
                    <a:lstStyle/>
                    <a:p>
                      <a:pPr marL="0" marR="0">
                        <a:lnSpc>
                          <a:spcPct val="150000"/>
                        </a:lnSpc>
                        <a:spcBef>
                          <a:spcPts val="0"/>
                        </a:spcBef>
                        <a:spcAft>
                          <a:spcPts val="0"/>
                        </a:spcAft>
                      </a:pPr>
                      <a:r>
                        <a:rPr lang="en-VN" sz="400">
                          <a:effectLst/>
                        </a:rPr>
                        <a:t>POST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/updatecart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SanphamController.updatecart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Cập nhật số lượng</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2825323863"/>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/removefromcart?id=</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SanphamController.removefromcart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Xóa 1 SP khỏi giỏ</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3867346672"/>
                  </a:ext>
                </a:extLst>
              </a:tr>
              <a:tr h="141474">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/clearcart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SanphamController.clearcart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Làm trống giỏ</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4263956865"/>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/checkout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SanphamController.checkout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Hiển thị form thanh toán</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1079642162"/>
                  </a:ext>
                </a:extLst>
              </a:tr>
              <a:tr h="141474">
                <a:tc>
                  <a:txBody>
                    <a:bodyPr/>
                    <a:lstStyle/>
                    <a:p>
                      <a:pPr marL="0" marR="0">
                        <a:lnSpc>
                          <a:spcPct val="150000"/>
                        </a:lnSpc>
                        <a:spcBef>
                          <a:spcPts val="0"/>
                        </a:spcBef>
                        <a:spcAft>
                          <a:spcPts val="0"/>
                        </a:spcAft>
                      </a:pPr>
                      <a:r>
                        <a:rPr lang="en-VN" sz="400">
                          <a:effectLst/>
                        </a:rPr>
                        <a:t>POST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/checkout_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SanphamController.checkout_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Xử lý đặt hàng</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3583784174"/>
                  </a:ext>
                </a:extLst>
              </a:tr>
              <a:tr h="264563">
                <a:tc>
                  <a:txBody>
                    <a:bodyPr/>
                    <a:lstStyle/>
                    <a:p>
                      <a:pPr marL="0" marR="0">
                        <a:lnSpc>
                          <a:spcPct val="150000"/>
                        </a:lnSpc>
                        <a:spcBef>
                          <a:spcPts val="0"/>
                        </a:spcBef>
                        <a:spcAft>
                          <a:spcPts val="0"/>
                        </a:spcAft>
                      </a:pPr>
                      <a:r>
                        <a:rPr lang="en-VN" sz="400">
                          <a:effectLst/>
                        </a:rPr>
                        <a:t>GET/POST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/tk</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SanphamController.searchForm/searchResult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Tìm kiếm SP</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3400375607"/>
                  </a:ext>
                </a:extLst>
              </a:tr>
              <a:tr h="264563">
                <a:tc>
                  <a:txBody>
                    <a:bodyPr/>
                    <a:lstStyle/>
                    <a:p>
                      <a:pPr marL="0" marR="0">
                        <a:lnSpc>
                          <a:spcPct val="150000"/>
                        </a:lnSpc>
                        <a:spcBef>
                          <a:spcPts val="0"/>
                        </a:spcBef>
                        <a:spcAft>
                          <a:spcPts val="0"/>
                        </a:spcAft>
                      </a:pPr>
                      <a:r>
                        <a:rPr lang="en-VN" sz="400">
                          <a:effectLst/>
                        </a:rPr>
                        <a:t>GET/POST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/register(_)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UserController.register/register_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Đăng ký tài khoản</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288120067"/>
                  </a:ext>
                </a:extLst>
              </a:tr>
              <a:tr h="264563">
                <a:tc>
                  <a:txBody>
                    <a:bodyPr/>
                    <a:lstStyle/>
                    <a:p>
                      <a:pPr marL="0" marR="0">
                        <a:lnSpc>
                          <a:spcPct val="150000"/>
                        </a:lnSpc>
                        <a:spcBef>
                          <a:spcPts val="0"/>
                        </a:spcBef>
                        <a:spcAft>
                          <a:spcPts val="0"/>
                        </a:spcAft>
                      </a:pPr>
                      <a:r>
                        <a:rPr lang="en-VN" sz="400">
                          <a:effectLst/>
                        </a:rPr>
                        <a:t>GET/POST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/login(_)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UserController.login/login_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Đăng nhập</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448671901"/>
                  </a:ext>
                </a:extLst>
              </a:tr>
              <a:tr h="141474">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/logout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UserController.logout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Đăng xuất</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1374567694"/>
                  </a:ext>
                </a:extLst>
              </a:tr>
              <a:tr h="264563">
                <a:tc>
                  <a:txBody>
                    <a:bodyPr/>
                    <a:lstStyle/>
                    <a:p>
                      <a:pPr marL="0" marR="0">
                        <a:lnSpc>
                          <a:spcPct val="150000"/>
                        </a:lnSpc>
                        <a:spcBef>
                          <a:spcPts val="0"/>
                        </a:spcBef>
                        <a:spcAft>
                          <a:spcPts val="0"/>
                        </a:spcAft>
                      </a:pPr>
                      <a:r>
                        <a:rPr lang="en-VN" sz="400">
                          <a:effectLst/>
                        </a:rPr>
                        <a:t>GET/POST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/admin/login(_)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AdminController.login/login_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Đăng nhập admin</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2806204196"/>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AdminController.index</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Dashboard admin</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3586604970"/>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/admin/sp</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AdminSPController.index</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Danh sách SP (tìm/sắp xếp)</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2623179350"/>
                  </a:ext>
                </a:extLst>
              </a:tr>
              <a:tr h="264563">
                <a:tc>
                  <a:txBody>
                    <a:bodyPr/>
                    <a:lstStyle/>
                    <a:p>
                      <a:pPr marL="0" marR="0">
                        <a:lnSpc>
                          <a:spcPct val="150000"/>
                        </a:lnSpc>
                        <a:spcBef>
                          <a:spcPts val="0"/>
                        </a:spcBef>
                        <a:spcAft>
                          <a:spcPts val="0"/>
                        </a:spcAft>
                      </a:pPr>
                      <a:r>
                        <a:rPr lang="en-VN" sz="400">
                          <a:effectLst/>
                        </a:rPr>
                        <a:t>GET/POST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/admin/(add/edit)sp(_)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AdminSPController.add/edit/add_/edit_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Thêm / Sửa SP</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2628750541"/>
                  </a:ext>
                </a:extLst>
              </a:tr>
              <a:tr h="141474">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/admin/deletesp?id=</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AdminSPController.delete</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Xóa SP</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1889331875"/>
                  </a:ext>
                </a:extLst>
              </a:tr>
              <a:tr h="264563">
                <a:tc>
                  <a:txBody>
                    <a:bodyPr/>
                    <a:lstStyle/>
                    <a:p>
                      <a:pPr marL="0" marR="0">
                        <a:lnSpc>
                          <a:spcPct val="150000"/>
                        </a:lnSpc>
                        <a:spcBef>
                          <a:spcPts val="0"/>
                        </a:spcBef>
                        <a:spcAft>
                          <a:spcPts val="0"/>
                        </a:spcAft>
                      </a:pPr>
                      <a:r>
                        <a:rPr lang="en-VN" sz="400">
                          <a:effectLst/>
                        </a:rPr>
                        <a:t>GET/POST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/admin/(add/edit)loai(_)</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AdminLoaiController.*</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CRUD danh mục</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509419285"/>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/admin/orders</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AdminOrderController.index</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Danh sách đơn hàng</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4092815144"/>
                  </a:ext>
                </a:extLst>
              </a:tr>
              <a:tr h="264563">
                <a:tc>
                  <a:txBody>
                    <a:bodyPr/>
                    <a:lstStyle/>
                    <a:p>
                      <a:pPr marL="0" marR="0">
                        <a:lnSpc>
                          <a:spcPct val="150000"/>
                        </a:lnSpc>
                        <a:spcBef>
                          <a:spcPts val="0"/>
                        </a:spcBef>
                        <a:spcAft>
                          <a:spcPts val="0"/>
                        </a:spcAft>
                      </a:pPr>
                      <a:r>
                        <a:rPr lang="en-VN" sz="400">
                          <a:effectLst/>
                        </a:rPr>
                        <a:t>GET</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/admin/order?id=</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AdminOrderController.detail</a:t>
                      </a:r>
                      <a:endParaRPr lang="en-VN" sz="400">
                        <a:effectLst/>
                        <a:latin typeface="Calibri" panose="020F0502020204030204" pitchFamily="34" charset="0"/>
                        <a:ea typeface="Calibri" panose="020F0502020204030204" pitchFamily="34" charset="0"/>
                      </a:endParaRPr>
                    </a:p>
                  </a:txBody>
                  <a:tcPr marL="19265" marR="19265" marT="12844" marB="12844" anchor="ctr"/>
                </a:tc>
                <a:tc>
                  <a:txBody>
                    <a:bodyPr/>
                    <a:lstStyle/>
                    <a:p>
                      <a:pPr marL="0" marR="0">
                        <a:lnSpc>
                          <a:spcPct val="150000"/>
                        </a:lnSpc>
                        <a:spcBef>
                          <a:spcPts val="0"/>
                        </a:spcBef>
                        <a:spcAft>
                          <a:spcPts val="0"/>
                        </a:spcAft>
                      </a:pPr>
                      <a:r>
                        <a:rPr lang="en-VN" sz="400">
                          <a:effectLst/>
                        </a:rPr>
                        <a:t>Chi tiết đơn hàng</a:t>
                      </a:r>
                      <a:endParaRPr lang="en-VN" sz="400">
                        <a:effectLst/>
                        <a:latin typeface="Calibri" panose="020F0502020204030204" pitchFamily="34" charset="0"/>
                        <a:ea typeface="Calibri" panose="020F0502020204030204" pitchFamily="34" charset="0"/>
                      </a:endParaRPr>
                    </a:p>
                  </a:txBody>
                  <a:tcPr marL="19265" marR="19265" marT="12844" marB="12844" anchor="ctr"/>
                </a:tc>
                <a:extLst>
                  <a:ext uri="{0D108BD9-81ED-4DB2-BD59-A6C34878D82A}">
                    <a16:rowId xmlns:a16="http://schemas.microsoft.com/office/drawing/2014/main" val="1835000591"/>
                  </a:ext>
                </a:extLst>
              </a:tr>
            </a:tbl>
          </a:graphicData>
        </a:graphic>
      </p:graphicFrame>
    </p:spTree>
    <p:extLst>
      <p:ext uri="{BB962C8B-B14F-4D97-AF65-F5344CB8AC3E}">
        <p14:creationId xmlns:p14="http://schemas.microsoft.com/office/powerpoint/2010/main" val="491826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3.4</a:t>
            </a:r>
            <a:r>
              <a:rPr lang="vi-VN" sz="2400" b="1">
                <a:solidFill>
                  <a:srgbClr val="7030A0"/>
                </a:solidFill>
                <a:effectLst/>
                <a:latin typeface="Times New Roman" panose="02020603050405020304" pitchFamily="18" charset="0"/>
                <a:cs typeface="Times New Roman" panose="02020603050405020304" pitchFamily="18" charset="0"/>
              </a:rPr>
              <a:t>. Sơ đồ Use case</a:t>
            </a:r>
          </a:p>
          <a:p>
            <a:pPr>
              <a:lnSpc>
                <a:spcPct val="150000"/>
              </a:lnSpc>
            </a:pPr>
            <a:r>
              <a:rPr lang="vi-VN" sz="2400"/>
              <a:t>Tách 3 sơ đồ theo actor</a:t>
            </a:r>
            <a:endParaRPr lang="vi-VN" sz="2400" b="1">
              <a:solidFill>
                <a:srgbClr val="7030A0"/>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pic>
        <p:nvPicPr>
          <p:cNvPr id="3" name="Picture 2">
            <a:extLst>
              <a:ext uri="{FF2B5EF4-FFF2-40B4-BE49-F238E27FC236}">
                <a16:creationId xmlns:a16="http://schemas.microsoft.com/office/drawing/2014/main" id="{D50DC2C1-E872-900C-346C-92332C3968B9}"/>
              </a:ext>
            </a:extLst>
          </p:cNvPr>
          <p:cNvPicPr>
            <a:picLocks noChangeAspect="1"/>
          </p:cNvPicPr>
          <p:nvPr/>
        </p:nvPicPr>
        <p:blipFill>
          <a:blip r:embed="rId3"/>
          <a:srcRect/>
          <a:stretch>
            <a:fillRect/>
          </a:stretch>
        </p:blipFill>
        <p:spPr bwMode="auto">
          <a:xfrm>
            <a:off x="0" y="1849408"/>
            <a:ext cx="4484914" cy="4401820"/>
          </a:xfrm>
          <a:prstGeom prst="rect">
            <a:avLst/>
          </a:prstGeom>
        </p:spPr>
      </p:pic>
      <p:pic>
        <p:nvPicPr>
          <p:cNvPr id="5" name="Picture 4">
            <a:extLst>
              <a:ext uri="{FF2B5EF4-FFF2-40B4-BE49-F238E27FC236}">
                <a16:creationId xmlns:a16="http://schemas.microsoft.com/office/drawing/2014/main" id="{B6D03C37-B41D-5E22-3EB9-9B559A139D6E}"/>
              </a:ext>
            </a:extLst>
          </p:cNvPr>
          <p:cNvPicPr>
            <a:picLocks noChangeAspect="1"/>
          </p:cNvPicPr>
          <p:nvPr/>
        </p:nvPicPr>
        <p:blipFill>
          <a:blip r:embed="rId4"/>
          <a:srcRect/>
          <a:stretch>
            <a:fillRect/>
          </a:stretch>
        </p:blipFill>
        <p:spPr bwMode="auto">
          <a:xfrm>
            <a:off x="4339771" y="2186620"/>
            <a:ext cx="3512457" cy="2484755"/>
          </a:xfrm>
          <a:prstGeom prst="rect">
            <a:avLst/>
          </a:prstGeom>
        </p:spPr>
      </p:pic>
      <p:pic>
        <p:nvPicPr>
          <p:cNvPr id="7" name="Picture 6">
            <a:extLst>
              <a:ext uri="{FF2B5EF4-FFF2-40B4-BE49-F238E27FC236}">
                <a16:creationId xmlns:a16="http://schemas.microsoft.com/office/drawing/2014/main" id="{09A11513-E9C9-6A4D-835B-12CC4D10A03C}"/>
              </a:ext>
            </a:extLst>
          </p:cNvPr>
          <p:cNvPicPr>
            <a:picLocks noChangeAspect="1"/>
          </p:cNvPicPr>
          <p:nvPr/>
        </p:nvPicPr>
        <p:blipFill>
          <a:blip r:embed="rId5"/>
          <a:srcRect/>
          <a:stretch>
            <a:fillRect/>
          </a:stretch>
        </p:blipFill>
        <p:spPr bwMode="auto">
          <a:xfrm>
            <a:off x="7532007" y="942021"/>
            <a:ext cx="4762500" cy="4973955"/>
          </a:xfrm>
          <a:prstGeom prst="rect">
            <a:avLst/>
          </a:prstGeom>
        </p:spPr>
      </p:pic>
    </p:spTree>
    <p:extLst>
      <p:ext uri="{BB962C8B-B14F-4D97-AF65-F5344CB8AC3E}">
        <p14:creationId xmlns:p14="http://schemas.microsoft.com/office/powerpoint/2010/main" val="29445834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3.5</a:t>
            </a:r>
            <a:r>
              <a:rPr lang="vi-VN" sz="2400" b="1">
                <a:solidFill>
                  <a:srgbClr val="7030A0"/>
                </a:solidFill>
                <a:effectLst/>
                <a:latin typeface="Times New Roman" panose="02020603050405020304" pitchFamily="18" charset="0"/>
                <a:cs typeface="Times New Roman" panose="02020603050405020304" pitchFamily="18" charset="0"/>
              </a:rPr>
              <a:t>. Đặc tả một số use case tiêu biểu</a:t>
            </a: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A13189C6-AAA1-F219-0F96-3C04354A079E}"/>
              </a:ext>
            </a:extLst>
          </p:cNvPr>
          <p:cNvSpPr txBox="1"/>
          <p:nvPr/>
        </p:nvSpPr>
        <p:spPr>
          <a:xfrm>
            <a:off x="277080" y="1100119"/>
            <a:ext cx="6103256" cy="463397"/>
          </a:xfrm>
          <a:prstGeom prst="rect">
            <a:avLst/>
          </a:prstGeom>
          <a:noFill/>
        </p:spPr>
        <p:txBody>
          <a:bodyPr wrap="square">
            <a:spAutoFit/>
          </a:bodyPr>
          <a:lstStyle/>
          <a:p>
            <a:pPr marL="0" marR="0" algn="just">
              <a:lnSpc>
                <a:spcPct val="150000"/>
              </a:lnSpc>
              <a:spcBef>
                <a:spcPts val="500"/>
              </a:spcBef>
              <a:spcAft>
                <a:spcPts val="0"/>
              </a:spcAft>
            </a:pPr>
            <a:r>
              <a:rPr lang="en-VN" sz="1800" b="1">
                <a:effectLst/>
                <a:latin typeface="Times New Roman" panose="02020603050405020304" pitchFamily="18" charset="0"/>
                <a:ea typeface="Calibri" panose="020F0502020204030204" pitchFamily="34" charset="0"/>
              </a:rPr>
              <a:t>UC-01: Thêm sản phẩm vào giỏ hàng</a:t>
            </a:r>
            <a:endParaRPr lang="en-VN" sz="1400">
              <a:effectLst/>
              <a:latin typeface="Calibri" panose="020F0502020204030204" pitchFamily="34" charset="0"/>
              <a:ea typeface="Calibri" panose="020F0502020204030204" pitchFamily="34" charset="0"/>
            </a:endParaRPr>
          </a:p>
        </p:txBody>
      </p:sp>
      <p:graphicFrame>
        <p:nvGraphicFramePr>
          <p:cNvPr id="14" name="Table 13">
            <a:extLst>
              <a:ext uri="{FF2B5EF4-FFF2-40B4-BE49-F238E27FC236}">
                <a16:creationId xmlns:a16="http://schemas.microsoft.com/office/drawing/2014/main" id="{E85D5336-F276-230C-6ACB-D2D7503CBC1B}"/>
              </a:ext>
            </a:extLst>
          </p:cNvPr>
          <p:cNvGraphicFramePr>
            <a:graphicFrameLocks noGrp="1"/>
          </p:cNvGraphicFramePr>
          <p:nvPr>
            <p:extLst>
              <p:ext uri="{D42A27DB-BD31-4B8C-83A1-F6EECF244321}">
                <p14:modId xmlns:p14="http://schemas.microsoft.com/office/powerpoint/2010/main" val="1569577986"/>
              </p:ext>
            </p:extLst>
          </p:nvPr>
        </p:nvGraphicFramePr>
        <p:xfrm>
          <a:off x="184714" y="1563515"/>
          <a:ext cx="5504886" cy="4459915"/>
        </p:xfrm>
        <a:graphic>
          <a:graphicData uri="http://schemas.openxmlformats.org/drawingml/2006/table">
            <a:tbl>
              <a:tblPr>
                <a:tableStyleId>{5C22544A-7EE6-4342-B048-85BDC9FD1C3A}</a:tableStyleId>
              </a:tblPr>
              <a:tblGrid>
                <a:gridCol w="1522628">
                  <a:extLst>
                    <a:ext uri="{9D8B030D-6E8A-4147-A177-3AD203B41FA5}">
                      <a16:colId xmlns:a16="http://schemas.microsoft.com/office/drawing/2014/main" val="4139023962"/>
                    </a:ext>
                  </a:extLst>
                </a:gridCol>
                <a:gridCol w="3982258">
                  <a:extLst>
                    <a:ext uri="{9D8B030D-6E8A-4147-A177-3AD203B41FA5}">
                      <a16:colId xmlns:a16="http://schemas.microsoft.com/office/drawing/2014/main" val="376716831"/>
                    </a:ext>
                  </a:extLst>
                </a:gridCol>
              </a:tblGrid>
              <a:tr h="316322">
                <a:tc>
                  <a:txBody>
                    <a:bodyPr/>
                    <a:lstStyle/>
                    <a:p>
                      <a:pPr marL="0" marR="0" algn="ctr">
                        <a:lnSpc>
                          <a:spcPct val="150000"/>
                        </a:lnSpc>
                        <a:spcBef>
                          <a:spcPts val="0"/>
                        </a:spcBef>
                        <a:spcAft>
                          <a:spcPts val="0"/>
                        </a:spcAft>
                      </a:pPr>
                      <a:r>
                        <a:rPr lang="en-VN" sz="1200" b="1">
                          <a:effectLst/>
                        </a:rPr>
                        <a:t>Trường</a:t>
                      </a:r>
                      <a:endParaRPr lang="en-VN" sz="1000" b="1">
                        <a:effectLst/>
                        <a:latin typeface="Calibri" panose="020F0502020204030204" pitchFamily="34" charset="0"/>
                        <a:ea typeface="Calibri" panose="020F0502020204030204" pitchFamily="34" charset="0"/>
                      </a:endParaRPr>
                    </a:p>
                  </a:txBody>
                  <a:tcPr marL="51670" marR="51670" marT="34447" marB="34447" anchor="ctr"/>
                </a:tc>
                <a:tc>
                  <a:txBody>
                    <a:bodyPr/>
                    <a:lstStyle/>
                    <a:p>
                      <a:pPr marL="0" marR="0" algn="ctr">
                        <a:lnSpc>
                          <a:spcPct val="150000"/>
                        </a:lnSpc>
                        <a:spcBef>
                          <a:spcPts val="0"/>
                        </a:spcBef>
                        <a:spcAft>
                          <a:spcPts val="0"/>
                        </a:spcAft>
                      </a:pPr>
                      <a:r>
                        <a:rPr lang="en-VN" sz="1200" b="1">
                          <a:effectLst/>
                        </a:rPr>
                        <a:t>Nội dung</a:t>
                      </a:r>
                      <a:endParaRPr lang="en-VN" sz="1000" b="1">
                        <a:effectLst/>
                        <a:latin typeface="Calibri" panose="020F0502020204030204" pitchFamily="34" charset="0"/>
                        <a:ea typeface="Calibri" panose="020F0502020204030204" pitchFamily="34" charset="0"/>
                      </a:endParaRPr>
                    </a:p>
                  </a:txBody>
                  <a:tcPr marL="51670" marR="51670" marT="34447" marB="34447" anchor="ctr"/>
                </a:tc>
                <a:extLst>
                  <a:ext uri="{0D108BD9-81ED-4DB2-BD59-A6C34878D82A}">
                    <a16:rowId xmlns:a16="http://schemas.microsoft.com/office/drawing/2014/main" val="3129627608"/>
                  </a:ext>
                </a:extLst>
              </a:tr>
              <a:tr h="316322">
                <a:tc>
                  <a:txBody>
                    <a:bodyPr/>
                    <a:lstStyle/>
                    <a:p>
                      <a:pPr marL="0" marR="0" algn="just">
                        <a:lnSpc>
                          <a:spcPct val="150000"/>
                        </a:lnSpc>
                        <a:spcBef>
                          <a:spcPts val="0"/>
                        </a:spcBef>
                        <a:spcAft>
                          <a:spcPts val="0"/>
                        </a:spcAft>
                      </a:pPr>
                      <a:r>
                        <a:rPr lang="en-VN" sz="1200">
                          <a:effectLst/>
                        </a:rPr>
                        <a:t>ID use case</a:t>
                      </a:r>
                      <a:endParaRPr lang="en-VN" sz="1000">
                        <a:effectLst/>
                        <a:latin typeface="Calibri" panose="020F0502020204030204" pitchFamily="34" charset="0"/>
                        <a:ea typeface="Calibri" panose="020F0502020204030204" pitchFamily="34" charset="0"/>
                      </a:endParaRPr>
                    </a:p>
                  </a:txBody>
                  <a:tcPr marL="51670" marR="51670" marT="34447" marB="34447" anchor="ctr"/>
                </a:tc>
                <a:tc>
                  <a:txBody>
                    <a:bodyPr/>
                    <a:lstStyle/>
                    <a:p>
                      <a:pPr marL="0" marR="0" algn="just">
                        <a:lnSpc>
                          <a:spcPct val="150000"/>
                        </a:lnSpc>
                        <a:spcBef>
                          <a:spcPts val="0"/>
                        </a:spcBef>
                        <a:spcAft>
                          <a:spcPts val="0"/>
                        </a:spcAft>
                      </a:pPr>
                      <a:r>
                        <a:rPr lang="en-VN" sz="1200">
                          <a:effectLst/>
                        </a:rPr>
                        <a:t>UC-01</a:t>
                      </a:r>
                      <a:endParaRPr lang="en-VN" sz="1000">
                        <a:effectLst/>
                        <a:latin typeface="Calibri" panose="020F0502020204030204" pitchFamily="34" charset="0"/>
                        <a:ea typeface="Calibri" panose="020F0502020204030204" pitchFamily="34" charset="0"/>
                      </a:endParaRPr>
                    </a:p>
                  </a:txBody>
                  <a:tcPr marL="51670" marR="51670" marT="34447" marB="34447" anchor="ctr"/>
                </a:tc>
                <a:extLst>
                  <a:ext uri="{0D108BD9-81ED-4DB2-BD59-A6C34878D82A}">
                    <a16:rowId xmlns:a16="http://schemas.microsoft.com/office/drawing/2014/main" val="49498288"/>
                  </a:ext>
                </a:extLst>
              </a:tr>
              <a:tr h="316322">
                <a:tc>
                  <a:txBody>
                    <a:bodyPr/>
                    <a:lstStyle/>
                    <a:p>
                      <a:pPr marL="0" marR="0" algn="just">
                        <a:lnSpc>
                          <a:spcPct val="150000"/>
                        </a:lnSpc>
                        <a:spcBef>
                          <a:spcPts val="0"/>
                        </a:spcBef>
                        <a:spcAft>
                          <a:spcPts val="0"/>
                        </a:spcAft>
                      </a:pPr>
                      <a:r>
                        <a:rPr lang="en-VN" sz="1200">
                          <a:effectLst/>
                        </a:rPr>
                        <a:t>Actor chính</a:t>
                      </a:r>
                      <a:endParaRPr lang="en-VN" sz="1000">
                        <a:effectLst/>
                        <a:latin typeface="Calibri" panose="020F0502020204030204" pitchFamily="34" charset="0"/>
                        <a:ea typeface="Calibri" panose="020F0502020204030204" pitchFamily="34" charset="0"/>
                      </a:endParaRPr>
                    </a:p>
                  </a:txBody>
                  <a:tcPr marL="51670" marR="51670" marT="34447" marB="34447" anchor="ctr"/>
                </a:tc>
                <a:tc>
                  <a:txBody>
                    <a:bodyPr/>
                    <a:lstStyle/>
                    <a:p>
                      <a:pPr marL="0" marR="0" algn="just">
                        <a:lnSpc>
                          <a:spcPct val="150000"/>
                        </a:lnSpc>
                        <a:spcBef>
                          <a:spcPts val="0"/>
                        </a:spcBef>
                        <a:spcAft>
                          <a:spcPts val="0"/>
                        </a:spcAft>
                      </a:pPr>
                      <a:r>
                        <a:rPr lang="en-VN" sz="1200">
                          <a:effectLst/>
                        </a:rPr>
                        <a:t>Guest / User</a:t>
                      </a:r>
                      <a:endParaRPr lang="en-VN" sz="1000">
                        <a:effectLst/>
                        <a:latin typeface="Calibri" panose="020F0502020204030204" pitchFamily="34" charset="0"/>
                        <a:ea typeface="Calibri" panose="020F0502020204030204" pitchFamily="34" charset="0"/>
                      </a:endParaRPr>
                    </a:p>
                  </a:txBody>
                  <a:tcPr marL="51670" marR="51670" marT="34447" marB="34447" anchor="ctr"/>
                </a:tc>
                <a:extLst>
                  <a:ext uri="{0D108BD9-81ED-4DB2-BD59-A6C34878D82A}">
                    <a16:rowId xmlns:a16="http://schemas.microsoft.com/office/drawing/2014/main" val="3256757252"/>
                  </a:ext>
                </a:extLst>
              </a:tr>
              <a:tr h="591942">
                <a:tc>
                  <a:txBody>
                    <a:bodyPr/>
                    <a:lstStyle/>
                    <a:p>
                      <a:pPr marL="0" marR="0" algn="just">
                        <a:lnSpc>
                          <a:spcPct val="150000"/>
                        </a:lnSpc>
                        <a:spcBef>
                          <a:spcPts val="0"/>
                        </a:spcBef>
                        <a:spcAft>
                          <a:spcPts val="0"/>
                        </a:spcAft>
                      </a:pPr>
                      <a:r>
                        <a:rPr lang="en-VN" sz="1200">
                          <a:effectLst/>
                        </a:rPr>
                        <a:t>Mô tả</a:t>
                      </a:r>
                      <a:endParaRPr lang="en-VN" sz="1000">
                        <a:effectLst/>
                        <a:latin typeface="Calibri" panose="020F0502020204030204" pitchFamily="34" charset="0"/>
                        <a:ea typeface="Calibri" panose="020F0502020204030204" pitchFamily="34" charset="0"/>
                      </a:endParaRPr>
                    </a:p>
                  </a:txBody>
                  <a:tcPr marL="51670" marR="51670" marT="34447" marB="34447" anchor="ctr"/>
                </a:tc>
                <a:tc>
                  <a:txBody>
                    <a:bodyPr/>
                    <a:lstStyle/>
                    <a:p>
                      <a:pPr marL="0" marR="0" algn="just">
                        <a:lnSpc>
                          <a:spcPct val="150000"/>
                        </a:lnSpc>
                        <a:spcBef>
                          <a:spcPts val="0"/>
                        </a:spcBef>
                        <a:spcAft>
                          <a:spcPts val="0"/>
                        </a:spcAft>
                      </a:pPr>
                      <a:r>
                        <a:rPr lang="en-VN" sz="1200">
                          <a:effectLst/>
                        </a:rPr>
                        <a:t>Người dùng thêm một sản phẩm với số lượng mong muốn vào giỏ hàng cá nhân (lưu trong session).</a:t>
                      </a:r>
                      <a:endParaRPr lang="en-VN" sz="1000">
                        <a:effectLst/>
                        <a:latin typeface="Calibri" panose="020F0502020204030204" pitchFamily="34" charset="0"/>
                        <a:ea typeface="Calibri" panose="020F0502020204030204" pitchFamily="34" charset="0"/>
                      </a:endParaRPr>
                    </a:p>
                  </a:txBody>
                  <a:tcPr marL="51670" marR="51670" marT="34447" marB="34447" anchor="ctr"/>
                </a:tc>
                <a:extLst>
                  <a:ext uri="{0D108BD9-81ED-4DB2-BD59-A6C34878D82A}">
                    <a16:rowId xmlns:a16="http://schemas.microsoft.com/office/drawing/2014/main" val="1169838398"/>
                  </a:ext>
                </a:extLst>
              </a:tr>
              <a:tr h="316322">
                <a:tc>
                  <a:txBody>
                    <a:bodyPr/>
                    <a:lstStyle/>
                    <a:p>
                      <a:pPr marL="0" marR="0" algn="just">
                        <a:lnSpc>
                          <a:spcPct val="150000"/>
                        </a:lnSpc>
                        <a:spcBef>
                          <a:spcPts val="0"/>
                        </a:spcBef>
                        <a:spcAft>
                          <a:spcPts val="0"/>
                        </a:spcAft>
                      </a:pPr>
                      <a:r>
                        <a:rPr lang="en-VN" sz="1200">
                          <a:effectLst/>
                        </a:rPr>
                        <a:t>Điều kiện tiên quyết</a:t>
                      </a:r>
                      <a:endParaRPr lang="en-VN" sz="1000">
                        <a:effectLst/>
                        <a:latin typeface="Calibri" panose="020F0502020204030204" pitchFamily="34" charset="0"/>
                        <a:ea typeface="Calibri" panose="020F0502020204030204" pitchFamily="34" charset="0"/>
                      </a:endParaRPr>
                    </a:p>
                  </a:txBody>
                  <a:tcPr marL="51670" marR="51670" marT="34447" marB="34447" anchor="ctr"/>
                </a:tc>
                <a:tc>
                  <a:txBody>
                    <a:bodyPr/>
                    <a:lstStyle/>
                    <a:p>
                      <a:pPr marL="0" marR="0" algn="just">
                        <a:lnSpc>
                          <a:spcPct val="150000"/>
                        </a:lnSpc>
                        <a:spcBef>
                          <a:spcPts val="0"/>
                        </a:spcBef>
                        <a:spcAft>
                          <a:spcPts val="0"/>
                        </a:spcAft>
                      </a:pPr>
                      <a:r>
                        <a:rPr lang="en-VN" sz="1200">
                          <a:effectLst/>
                        </a:rPr>
                        <a:t>Sản phẩm còn hiển thị (anhien=1).</a:t>
                      </a:r>
                      <a:endParaRPr lang="en-VN" sz="1000">
                        <a:effectLst/>
                        <a:latin typeface="Calibri" panose="020F0502020204030204" pitchFamily="34" charset="0"/>
                        <a:ea typeface="Calibri" panose="020F0502020204030204" pitchFamily="34" charset="0"/>
                      </a:endParaRPr>
                    </a:p>
                  </a:txBody>
                  <a:tcPr marL="51670" marR="51670" marT="34447" marB="34447" anchor="ctr"/>
                </a:tc>
                <a:extLst>
                  <a:ext uri="{0D108BD9-81ED-4DB2-BD59-A6C34878D82A}">
                    <a16:rowId xmlns:a16="http://schemas.microsoft.com/office/drawing/2014/main" val="118094630"/>
                  </a:ext>
                </a:extLst>
              </a:tr>
              <a:tr h="1694421">
                <a:tc>
                  <a:txBody>
                    <a:bodyPr/>
                    <a:lstStyle/>
                    <a:p>
                      <a:pPr marL="0" marR="0" algn="just">
                        <a:lnSpc>
                          <a:spcPct val="150000"/>
                        </a:lnSpc>
                        <a:spcBef>
                          <a:spcPts val="0"/>
                        </a:spcBef>
                        <a:spcAft>
                          <a:spcPts val="0"/>
                        </a:spcAft>
                      </a:pPr>
                      <a:r>
                        <a:rPr lang="en-VN" sz="1200">
                          <a:effectLst/>
                        </a:rPr>
                        <a:t>Luồng chính</a:t>
                      </a:r>
                      <a:endParaRPr lang="en-VN" sz="1000">
                        <a:effectLst/>
                        <a:latin typeface="Calibri" panose="020F0502020204030204" pitchFamily="34" charset="0"/>
                        <a:ea typeface="Calibri" panose="020F0502020204030204" pitchFamily="34" charset="0"/>
                      </a:endParaRPr>
                    </a:p>
                  </a:txBody>
                  <a:tcPr marL="51670" marR="51670" marT="34447" marB="34447" anchor="ctr"/>
                </a:tc>
                <a:tc>
                  <a:txBody>
                    <a:bodyPr/>
                    <a:lstStyle/>
                    <a:p>
                      <a:pPr marL="0" marR="0" algn="just">
                        <a:lnSpc>
                          <a:spcPct val="150000"/>
                        </a:lnSpc>
                        <a:spcBef>
                          <a:spcPts val="0"/>
                        </a:spcBef>
                        <a:spcAft>
                          <a:spcPts val="0"/>
                        </a:spcAft>
                      </a:pPr>
                      <a:r>
                        <a:rPr lang="en-VN" sz="1200">
                          <a:effectLst/>
                        </a:rPr>
                        <a:t>1. User bấm nút "Thêm vào giỏ hàng" ở trang chi tiết SP</a:t>
                      </a:r>
                      <a:endParaRPr lang="en-VN" sz="1000">
                        <a:effectLst/>
                      </a:endParaRPr>
                    </a:p>
                    <a:p>
                      <a:pPr marL="0" marR="0" algn="just">
                        <a:lnSpc>
                          <a:spcPct val="150000"/>
                        </a:lnSpc>
                        <a:spcBef>
                          <a:spcPts val="0"/>
                        </a:spcBef>
                        <a:spcAft>
                          <a:spcPts val="0"/>
                        </a:spcAft>
                      </a:pPr>
                      <a:r>
                        <a:rPr lang="en-VN" sz="1200">
                          <a:effectLst/>
                        </a:rPr>
                        <a:t>2. Hệ thống kiểm tra id sản phẩm &gt; 0, số lượng trong [1..99]</a:t>
                      </a:r>
                      <a:endParaRPr lang="en-VN" sz="1000">
                        <a:effectLst/>
                      </a:endParaRPr>
                    </a:p>
                    <a:p>
                      <a:pPr marL="0" marR="0" algn="just">
                        <a:lnSpc>
                          <a:spcPct val="150000"/>
                        </a:lnSpc>
                        <a:spcBef>
                          <a:spcPts val="0"/>
                        </a:spcBef>
                        <a:spcAft>
                          <a:spcPts val="0"/>
                        </a:spcAft>
                      </a:pPr>
                      <a:r>
                        <a:rPr lang="en-VN" sz="1200">
                          <a:effectLst/>
                        </a:rPr>
                        <a:t>3. Hệ thống kiểm tra SP tồn tại và đang hiển thị</a:t>
                      </a:r>
                      <a:endParaRPr lang="en-VN" sz="1000">
                        <a:effectLst/>
                      </a:endParaRPr>
                    </a:p>
                    <a:p>
                      <a:pPr marL="0" marR="0" algn="just">
                        <a:lnSpc>
                          <a:spcPct val="150000"/>
                        </a:lnSpc>
                        <a:spcBef>
                          <a:spcPts val="0"/>
                        </a:spcBef>
                        <a:spcAft>
                          <a:spcPts val="0"/>
                        </a:spcAft>
                      </a:pPr>
                      <a:r>
                        <a:rPr lang="en-VN" sz="1200">
                          <a:effectLst/>
                        </a:rPr>
                        <a:t>4. Cộng số lượng vào $_SESSION['cart'][idSp] (cap tại 99)</a:t>
                      </a:r>
                      <a:endParaRPr lang="en-VN" sz="1000">
                        <a:effectLst/>
                      </a:endParaRPr>
                    </a:p>
                    <a:p>
                      <a:pPr marL="0" marR="0" algn="just">
                        <a:lnSpc>
                          <a:spcPct val="150000"/>
                        </a:lnSpc>
                        <a:spcBef>
                          <a:spcPts val="0"/>
                        </a:spcBef>
                        <a:spcAft>
                          <a:spcPts val="0"/>
                        </a:spcAft>
                      </a:pPr>
                      <a:r>
                        <a:rPr lang="en-VN" sz="1200">
                          <a:effectLst/>
                        </a:rPr>
                        <a:t>5. Chuyển hướng đến trang /showcart với thông báo thành công</a:t>
                      </a:r>
                      <a:endParaRPr lang="en-VN" sz="1000">
                        <a:effectLst/>
                        <a:latin typeface="Calibri" panose="020F0502020204030204" pitchFamily="34" charset="0"/>
                        <a:ea typeface="Calibri" panose="020F0502020204030204" pitchFamily="34" charset="0"/>
                      </a:endParaRPr>
                    </a:p>
                  </a:txBody>
                  <a:tcPr marL="51670" marR="51670" marT="34447" marB="34447" anchor="ctr"/>
                </a:tc>
                <a:extLst>
                  <a:ext uri="{0D108BD9-81ED-4DB2-BD59-A6C34878D82A}">
                    <a16:rowId xmlns:a16="http://schemas.microsoft.com/office/drawing/2014/main" val="3736919710"/>
                  </a:ext>
                </a:extLst>
              </a:tr>
              <a:tr h="591942">
                <a:tc>
                  <a:txBody>
                    <a:bodyPr/>
                    <a:lstStyle/>
                    <a:p>
                      <a:pPr marL="0" marR="0" algn="just">
                        <a:lnSpc>
                          <a:spcPct val="150000"/>
                        </a:lnSpc>
                        <a:spcBef>
                          <a:spcPts val="0"/>
                        </a:spcBef>
                        <a:spcAft>
                          <a:spcPts val="0"/>
                        </a:spcAft>
                      </a:pPr>
                      <a:r>
                        <a:rPr lang="en-VN" sz="1200">
                          <a:effectLst/>
                        </a:rPr>
                        <a:t>Luồng phụ (E1)</a:t>
                      </a:r>
                      <a:endParaRPr lang="en-VN" sz="1000">
                        <a:effectLst/>
                        <a:latin typeface="Calibri" panose="020F0502020204030204" pitchFamily="34" charset="0"/>
                        <a:ea typeface="Calibri" panose="020F0502020204030204" pitchFamily="34" charset="0"/>
                      </a:endParaRPr>
                    </a:p>
                  </a:txBody>
                  <a:tcPr marL="51670" marR="51670" marT="34447" marB="34447" anchor="ctr"/>
                </a:tc>
                <a:tc>
                  <a:txBody>
                    <a:bodyPr/>
                    <a:lstStyle/>
                    <a:p>
                      <a:pPr marL="0" marR="0" algn="just">
                        <a:lnSpc>
                          <a:spcPct val="150000"/>
                        </a:lnSpc>
                        <a:spcBef>
                          <a:spcPts val="0"/>
                        </a:spcBef>
                        <a:spcAft>
                          <a:spcPts val="0"/>
                        </a:spcAft>
                      </a:pPr>
                      <a:r>
                        <a:rPr lang="en-VN" sz="1200">
                          <a:effectLst/>
                        </a:rPr>
                        <a:t>Nếu SP không tồn tại hoặc anhien=0 → hiện thông báo lỗi, redirect về trang chủ.</a:t>
                      </a:r>
                      <a:endParaRPr lang="en-VN" sz="1000">
                        <a:effectLst/>
                        <a:latin typeface="Calibri" panose="020F0502020204030204" pitchFamily="34" charset="0"/>
                        <a:ea typeface="Calibri" panose="020F0502020204030204" pitchFamily="34" charset="0"/>
                      </a:endParaRPr>
                    </a:p>
                  </a:txBody>
                  <a:tcPr marL="51670" marR="51670" marT="34447" marB="34447" anchor="ctr"/>
                </a:tc>
                <a:extLst>
                  <a:ext uri="{0D108BD9-81ED-4DB2-BD59-A6C34878D82A}">
                    <a16:rowId xmlns:a16="http://schemas.microsoft.com/office/drawing/2014/main" val="2687986822"/>
                  </a:ext>
                </a:extLst>
              </a:tr>
              <a:tr h="316322">
                <a:tc>
                  <a:txBody>
                    <a:bodyPr/>
                    <a:lstStyle/>
                    <a:p>
                      <a:pPr marL="0" marR="0" algn="just">
                        <a:lnSpc>
                          <a:spcPct val="150000"/>
                        </a:lnSpc>
                        <a:spcBef>
                          <a:spcPts val="0"/>
                        </a:spcBef>
                        <a:spcAft>
                          <a:spcPts val="0"/>
                        </a:spcAft>
                      </a:pPr>
                      <a:r>
                        <a:rPr lang="en-VN" sz="1200">
                          <a:effectLst/>
                        </a:rPr>
                        <a:t>Điều kiện sau</a:t>
                      </a:r>
                      <a:endParaRPr lang="en-VN" sz="1000">
                        <a:effectLst/>
                        <a:latin typeface="Calibri" panose="020F0502020204030204" pitchFamily="34" charset="0"/>
                        <a:ea typeface="Calibri" panose="020F0502020204030204" pitchFamily="34" charset="0"/>
                      </a:endParaRPr>
                    </a:p>
                  </a:txBody>
                  <a:tcPr marL="51670" marR="51670" marT="34447" marB="34447" anchor="ctr"/>
                </a:tc>
                <a:tc>
                  <a:txBody>
                    <a:bodyPr/>
                    <a:lstStyle/>
                    <a:p>
                      <a:pPr marL="0" marR="0" algn="just">
                        <a:lnSpc>
                          <a:spcPct val="150000"/>
                        </a:lnSpc>
                        <a:spcBef>
                          <a:spcPts val="0"/>
                        </a:spcBef>
                        <a:spcAft>
                          <a:spcPts val="0"/>
                        </a:spcAft>
                      </a:pPr>
                      <a:r>
                        <a:rPr lang="en-VN" sz="1200">
                          <a:effectLst/>
                        </a:rPr>
                        <a:t>Giỏ hàng chứa SP với số lượng cộng dồn.</a:t>
                      </a:r>
                      <a:endParaRPr lang="en-VN" sz="1000">
                        <a:effectLst/>
                        <a:latin typeface="Calibri" panose="020F0502020204030204" pitchFamily="34" charset="0"/>
                        <a:ea typeface="Calibri" panose="020F0502020204030204" pitchFamily="34" charset="0"/>
                      </a:endParaRPr>
                    </a:p>
                  </a:txBody>
                  <a:tcPr marL="51670" marR="51670" marT="34447" marB="34447" anchor="ctr"/>
                </a:tc>
                <a:extLst>
                  <a:ext uri="{0D108BD9-81ED-4DB2-BD59-A6C34878D82A}">
                    <a16:rowId xmlns:a16="http://schemas.microsoft.com/office/drawing/2014/main" val="769735332"/>
                  </a:ext>
                </a:extLst>
              </a:tr>
            </a:tbl>
          </a:graphicData>
        </a:graphic>
      </p:graphicFrame>
    </p:spTree>
    <p:extLst>
      <p:ext uri="{BB962C8B-B14F-4D97-AF65-F5344CB8AC3E}">
        <p14:creationId xmlns:p14="http://schemas.microsoft.com/office/powerpoint/2010/main" val="4071414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3.5</a:t>
            </a:r>
            <a:r>
              <a:rPr lang="vi-VN" sz="2400" b="1">
                <a:solidFill>
                  <a:srgbClr val="7030A0"/>
                </a:solidFill>
                <a:effectLst/>
                <a:latin typeface="Times New Roman" panose="02020603050405020304" pitchFamily="18" charset="0"/>
                <a:cs typeface="Times New Roman" panose="02020603050405020304" pitchFamily="18" charset="0"/>
              </a:rPr>
              <a:t>. Đặc tả một số use case tiêu biểu</a:t>
            </a: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A13189C6-AAA1-F219-0F96-3C04354A079E}"/>
              </a:ext>
            </a:extLst>
          </p:cNvPr>
          <p:cNvSpPr txBox="1"/>
          <p:nvPr/>
        </p:nvSpPr>
        <p:spPr>
          <a:xfrm>
            <a:off x="277080" y="1100119"/>
            <a:ext cx="6103256" cy="463397"/>
          </a:xfrm>
          <a:prstGeom prst="rect">
            <a:avLst/>
          </a:prstGeom>
          <a:noFill/>
        </p:spPr>
        <p:txBody>
          <a:bodyPr wrap="square">
            <a:spAutoFit/>
          </a:bodyPr>
          <a:lstStyle/>
          <a:p>
            <a:pPr marL="0" marR="0" algn="just">
              <a:lnSpc>
                <a:spcPct val="150000"/>
              </a:lnSpc>
              <a:spcBef>
                <a:spcPts val="1000"/>
              </a:spcBef>
              <a:spcAft>
                <a:spcPts val="0"/>
              </a:spcAft>
            </a:pPr>
            <a:r>
              <a:rPr lang="en-VN" sz="1800" b="1">
                <a:effectLst/>
                <a:latin typeface="Times New Roman" panose="02020603050405020304" pitchFamily="18" charset="0"/>
                <a:ea typeface="Calibri" panose="020F0502020204030204" pitchFamily="34" charset="0"/>
              </a:rPr>
              <a:t>UC-02: Đặt hàng (Checkout)</a:t>
            </a:r>
            <a:endParaRPr lang="en-VN" sz="1800">
              <a:effectLst/>
              <a:latin typeface="Calibri" panose="020F0502020204030204" pitchFamily="34" charset="0"/>
              <a:ea typeface="Calibri" panose="020F0502020204030204" pitchFamily="34" charset="0"/>
            </a:endParaRPr>
          </a:p>
        </p:txBody>
      </p:sp>
      <p:graphicFrame>
        <p:nvGraphicFramePr>
          <p:cNvPr id="3" name="Table 2">
            <a:extLst>
              <a:ext uri="{FF2B5EF4-FFF2-40B4-BE49-F238E27FC236}">
                <a16:creationId xmlns:a16="http://schemas.microsoft.com/office/drawing/2014/main" id="{F63986EC-BC8D-4F7C-A335-FD03E4B373CB}"/>
              </a:ext>
            </a:extLst>
          </p:cNvPr>
          <p:cNvGraphicFramePr>
            <a:graphicFrameLocks noGrp="1"/>
          </p:cNvGraphicFramePr>
          <p:nvPr>
            <p:extLst>
              <p:ext uri="{D42A27DB-BD31-4B8C-83A1-F6EECF244321}">
                <p14:modId xmlns:p14="http://schemas.microsoft.com/office/powerpoint/2010/main" val="2650536721"/>
              </p:ext>
            </p:extLst>
          </p:nvPr>
        </p:nvGraphicFramePr>
        <p:xfrm>
          <a:off x="277080" y="1687944"/>
          <a:ext cx="4518070" cy="4649904"/>
        </p:xfrm>
        <a:graphic>
          <a:graphicData uri="http://schemas.openxmlformats.org/drawingml/2006/table">
            <a:tbl>
              <a:tblPr>
                <a:tableStyleId>{5C22544A-7EE6-4342-B048-85BDC9FD1C3A}</a:tableStyleId>
              </a:tblPr>
              <a:tblGrid>
                <a:gridCol w="1249679">
                  <a:extLst>
                    <a:ext uri="{9D8B030D-6E8A-4147-A177-3AD203B41FA5}">
                      <a16:colId xmlns:a16="http://schemas.microsoft.com/office/drawing/2014/main" val="2901950929"/>
                    </a:ext>
                  </a:extLst>
                </a:gridCol>
                <a:gridCol w="3268391">
                  <a:extLst>
                    <a:ext uri="{9D8B030D-6E8A-4147-A177-3AD203B41FA5}">
                      <a16:colId xmlns:a16="http://schemas.microsoft.com/office/drawing/2014/main" val="1797374482"/>
                    </a:ext>
                  </a:extLst>
                </a:gridCol>
              </a:tblGrid>
              <a:tr h="258540">
                <a:tc>
                  <a:txBody>
                    <a:bodyPr/>
                    <a:lstStyle/>
                    <a:p>
                      <a:pPr marL="0" marR="0" algn="ctr">
                        <a:lnSpc>
                          <a:spcPct val="150000"/>
                        </a:lnSpc>
                        <a:spcBef>
                          <a:spcPts val="0"/>
                        </a:spcBef>
                        <a:spcAft>
                          <a:spcPts val="0"/>
                        </a:spcAft>
                      </a:pPr>
                      <a:r>
                        <a:rPr lang="en-VN" sz="1000" b="1">
                          <a:effectLst/>
                        </a:rPr>
                        <a:t>Trường</a:t>
                      </a:r>
                      <a:endParaRPr lang="en-VN" sz="800" b="1">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ctr">
                        <a:lnSpc>
                          <a:spcPct val="150000"/>
                        </a:lnSpc>
                        <a:spcBef>
                          <a:spcPts val="0"/>
                        </a:spcBef>
                        <a:spcAft>
                          <a:spcPts val="0"/>
                        </a:spcAft>
                      </a:pPr>
                      <a:r>
                        <a:rPr lang="en-VN" sz="1000" b="1">
                          <a:effectLst/>
                        </a:rPr>
                        <a:t>Nội dung</a:t>
                      </a:r>
                      <a:endParaRPr lang="en-VN" sz="800" b="1">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2785005629"/>
                  </a:ext>
                </a:extLst>
              </a:tr>
              <a:tr h="258540">
                <a:tc>
                  <a:txBody>
                    <a:bodyPr/>
                    <a:lstStyle/>
                    <a:p>
                      <a:pPr marL="0" marR="0" algn="just">
                        <a:lnSpc>
                          <a:spcPct val="150000"/>
                        </a:lnSpc>
                        <a:spcBef>
                          <a:spcPts val="0"/>
                        </a:spcBef>
                        <a:spcAft>
                          <a:spcPts val="0"/>
                        </a:spcAft>
                      </a:pPr>
                      <a:r>
                        <a:rPr lang="en-VN" sz="1000">
                          <a:effectLst/>
                        </a:rPr>
                        <a:t>ID use case</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UC-02</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3011778965"/>
                  </a:ext>
                </a:extLst>
              </a:tr>
              <a:tr h="258540">
                <a:tc>
                  <a:txBody>
                    <a:bodyPr/>
                    <a:lstStyle/>
                    <a:p>
                      <a:pPr marL="0" marR="0" algn="just">
                        <a:lnSpc>
                          <a:spcPct val="150000"/>
                        </a:lnSpc>
                        <a:spcBef>
                          <a:spcPts val="0"/>
                        </a:spcBef>
                        <a:spcAft>
                          <a:spcPts val="0"/>
                        </a:spcAft>
                      </a:pPr>
                      <a:r>
                        <a:rPr lang="en-VN" sz="1000">
                          <a:effectLst/>
                        </a:rPr>
                        <a:t>Actor chính</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Guest / User</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3598447847"/>
                  </a:ext>
                </a:extLst>
              </a:tr>
              <a:tr h="258540">
                <a:tc>
                  <a:txBody>
                    <a:bodyPr/>
                    <a:lstStyle/>
                    <a:p>
                      <a:pPr marL="0" marR="0" algn="just">
                        <a:lnSpc>
                          <a:spcPct val="150000"/>
                        </a:lnSpc>
                        <a:spcBef>
                          <a:spcPts val="0"/>
                        </a:spcBef>
                        <a:spcAft>
                          <a:spcPts val="0"/>
                        </a:spcAft>
                      </a:pPr>
                      <a:r>
                        <a:rPr lang="en-VN" sz="1000">
                          <a:effectLst/>
                        </a:rPr>
                        <a:t>Mô tả</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Người dùng nhập thông tin nhận hàng và xác nhận tạo đơn.</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2925002714"/>
                  </a:ext>
                </a:extLst>
              </a:tr>
              <a:tr h="258540">
                <a:tc>
                  <a:txBody>
                    <a:bodyPr/>
                    <a:lstStyle/>
                    <a:p>
                      <a:pPr marL="0" marR="0" algn="just">
                        <a:lnSpc>
                          <a:spcPct val="150000"/>
                        </a:lnSpc>
                        <a:spcBef>
                          <a:spcPts val="0"/>
                        </a:spcBef>
                        <a:spcAft>
                          <a:spcPts val="0"/>
                        </a:spcAft>
                      </a:pPr>
                      <a:r>
                        <a:rPr lang="en-VN" sz="1000">
                          <a:effectLst/>
                        </a:rPr>
                        <a:t>Điều kiện tiên quyết</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Giỏ hàng có ít nhất 1 sản phẩm hợp lệ.</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3169689254"/>
                  </a:ext>
                </a:extLst>
              </a:tr>
              <a:tr h="2058078">
                <a:tc>
                  <a:txBody>
                    <a:bodyPr/>
                    <a:lstStyle/>
                    <a:p>
                      <a:pPr marL="0" marR="0" algn="just">
                        <a:lnSpc>
                          <a:spcPct val="150000"/>
                        </a:lnSpc>
                        <a:spcBef>
                          <a:spcPts val="0"/>
                        </a:spcBef>
                        <a:spcAft>
                          <a:spcPts val="0"/>
                        </a:spcAft>
                      </a:pPr>
                      <a:r>
                        <a:rPr lang="en-VN" sz="1000">
                          <a:effectLst/>
                        </a:rPr>
                        <a:t>Luồng chính</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1. Người dùng vào /checkout</a:t>
                      </a:r>
                      <a:endParaRPr lang="en-VN" sz="800">
                        <a:effectLst/>
                      </a:endParaRPr>
                    </a:p>
                    <a:p>
                      <a:pPr marL="0" marR="0" algn="just">
                        <a:lnSpc>
                          <a:spcPct val="150000"/>
                        </a:lnSpc>
                        <a:spcBef>
                          <a:spcPts val="0"/>
                        </a:spcBef>
                        <a:spcAft>
                          <a:spcPts val="0"/>
                        </a:spcAft>
                      </a:pPr>
                      <a:r>
                        <a:rPr lang="en-VN" sz="1000">
                          <a:effectLst/>
                        </a:rPr>
                        <a:t>2. Nhập họ tên, email, điện thoại, địa chỉ</a:t>
                      </a:r>
                      <a:endParaRPr lang="en-VN" sz="800">
                        <a:effectLst/>
                      </a:endParaRPr>
                    </a:p>
                    <a:p>
                      <a:pPr marL="0" marR="0" algn="just">
                        <a:lnSpc>
                          <a:spcPct val="150000"/>
                        </a:lnSpc>
                        <a:spcBef>
                          <a:spcPts val="0"/>
                        </a:spcBef>
                        <a:spcAft>
                          <a:spcPts val="0"/>
                        </a:spcAft>
                      </a:pPr>
                      <a:r>
                        <a:rPr lang="en-VN" sz="1000">
                          <a:effectLst/>
                        </a:rPr>
                        <a:t>3. Submit form POST /checkout_</a:t>
                      </a:r>
                      <a:endParaRPr lang="en-VN" sz="800">
                        <a:effectLst/>
                      </a:endParaRPr>
                    </a:p>
                    <a:p>
                      <a:pPr marL="0" marR="0" algn="just">
                        <a:lnSpc>
                          <a:spcPct val="150000"/>
                        </a:lnSpc>
                        <a:spcBef>
                          <a:spcPts val="0"/>
                        </a:spcBef>
                        <a:spcAft>
                          <a:spcPts val="0"/>
                        </a:spcAft>
                      </a:pPr>
                      <a:r>
                        <a:rPr lang="en-VN" sz="1000">
                          <a:effectLst/>
                        </a:rPr>
                        <a:t>4. Hệ thống validate: hoten không rỗng, email hợp lệ, điện thoại khớp regex /^[0-9+\s().-]{8,20}$/, diachi không rỗng</a:t>
                      </a:r>
                      <a:endParaRPr lang="en-VN" sz="800">
                        <a:effectLst/>
                      </a:endParaRPr>
                    </a:p>
                    <a:p>
                      <a:pPr marL="0" marR="0" algn="just">
                        <a:lnSpc>
                          <a:spcPct val="150000"/>
                        </a:lnSpc>
                        <a:spcBef>
                          <a:spcPts val="0"/>
                        </a:spcBef>
                        <a:spcAft>
                          <a:spcPts val="0"/>
                        </a:spcAft>
                      </a:pPr>
                      <a:r>
                        <a:rPr lang="en-VN" sz="1000">
                          <a:effectLst/>
                        </a:rPr>
                        <a:t>5. Bắt đầu transaction: INSERT donhang → lấy id_dh → INSERT từng dòng donhangchitiet</a:t>
                      </a:r>
                      <a:endParaRPr lang="en-VN" sz="800">
                        <a:effectLst/>
                      </a:endParaRPr>
                    </a:p>
                    <a:p>
                      <a:pPr marL="0" marR="0" algn="just">
                        <a:lnSpc>
                          <a:spcPct val="150000"/>
                        </a:lnSpc>
                        <a:spcBef>
                          <a:spcPts val="0"/>
                        </a:spcBef>
                        <a:spcAft>
                          <a:spcPts val="0"/>
                        </a:spcAft>
                      </a:pPr>
                      <a:r>
                        <a:rPr lang="en-VN" sz="1000">
                          <a:effectLst/>
                        </a:rPr>
                        <a:t>6. Commit, clear $_SESSION['cart'], hiện mã đơn hàng, redirect về trang chủ</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201532510"/>
                  </a:ext>
                </a:extLst>
              </a:tr>
              <a:tr h="258540">
                <a:tc>
                  <a:txBody>
                    <a:bodyPr/>
                    <a:lstStyle/>
                    <a:p>
                      <a:pPr marL="0" marR="0" algn="just">
                        <a:lnSpc>
                          <a:spcPct val="150000"/>
                        </a:lnSpc>
                        <a:spcBef>
                          <a:spcPts val="0"/>
                        </a:spcBef>
                        <a:spcAft>
                          <a:spcPts val="0"/>
                        </a:spcAft>
                      </a:pPr>
                      <a:r>
                        <a:rPr lang="en-VN" sz="1000">
                          <a:effectLst/>
                        </a:rPr>
                        <a:t>Luồng phụ (E1)</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Validate không đạt → set error_message, redirect lại /checkout.</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704943881"/>
                  </a:ext>
                </a:extLst>
              </a:tr>
              <a:tr h="483482">
                <a:tc>
                  <a:txBody>
                    <a:bodyPr/>
                    <a:lstStyle/>
                    <a:p>
                      <a:pPr marL="0" marR="0" algn="just">
                        <a:lnSpc>
                          <a:spcPct val="150000"/>
                        </a:lnSpc>
                        <a:spcBef>
                          <a:spcPts val="0"/>
                        </a:spcBef>
                        <a:spcAft>
                          <a:spcPts val="0"/>
                        </a:spcAft>
                      </a:pPr>
                      <a:r>
                        <a:rPr lang="en-VN" sz="1000">
                          <a:effectLst/>
                        </a:rPr>
                        <a:t>Luồng phụ (E2)</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Không có SP hợp lệ trong giỏ → throw RuntimeException, rollback, báo lỗi.</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1659718526"/>
                  </a:ext>
                </a:extLst>
              </a:tr>
              <a:tr h="258540">
                <a:tc>
                  <a:txBody>
                    <a:bodyPr/>
                    <a:lstStyle/>
                    <a:p>
                      <a:pPr marL="0" marR="0" algn="just">
                        <a:lnSpc>
                          <a:spcPct val="150000"/>
                        </a:lnSpc>
                        <a:spcBef>
                          <a:spcPts val="0"/>
                        </a:spcBef>
                        <a:spcAft>
                          <a:spcPts val="0"/>
                        </a:spcAft>
                      </a:pPr>
                      <a:r>
                        <a:rPr lang="en-VN" sz="1000">
                          <a:effectLst/>
                        </a:rPr>
                        <a:t>Điều kiện sau</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Đơn hàng mới được ghi vào CSDL, giỏ hàng trống.</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2433261785"/>
                  </a:ext>
                </a:extLst>
              </a:tr>
            </a:tbl>
          </a:graphicData>
        </a:graphic>
      </p:graphicFrame>
    </p:spTree>
    <p:extLst>
      <p:ext uri="{BB962C8B-B14F-4D97-AF65-F5344CB8AC3E}">
        <p14:creationId xmlns:p14="http://schemas.microsoft.com/office/powerpoint/2010/main" val="37108687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3.5</a:t>
            </a:r>
            <a:r>
              <a:rPr lang="vi-VN" sz="2400" b="1">
                <a:solidFill>
                  <a:srgbClr val="7030A0"/>
                </a:solidFill>
                <a:effectLst/>
                <a:latin typeface="Times New Roman" panose="02020603050405020304" pitchFamily="18" charset="0"/>
                <a:cs typeface="Times New Roman" panose="02020603050405020304" pitchFamily="18" charset="0"/>
              </a:rPr>
              <a:t>. Đặc tả một số use case tiêu biểu</a:t>
            </a: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F63986EC-BC8D-4F7C-A335-FD03E4B373CB}"/>
              </a:ext>
            </a:extLst>
          </p:cNvPr>
          <p:cNvGraphicFramePr>
            <a:graphicFrameLocks noGrp="1"/>
          </p:cNvGraphicFramePr>
          <p:nvPr>
            <p:extLst>
              <p:ext uri="{D42A27DB-BD31-4B8C-83A1-F6EECF244321}">
                <p14:modId xmlns:p14="http://schemas.microsoft.com/office/powerpoint/2010/main" val="4069915341"/>
              </p:ext>
            </p:extLst>
          </p:nvPr>
        </p:nvGraphicFramePr>
        <p:xfrm>
          <a:off x="277080" y="1100119"/>
          <a:ext cx="5093206" cy="5237729"/>
        </p:xfrm>
        <a:graphic>
          <a:graphicData uri="http://schemas.openxmlformats.org/drawingml/2006/table">
            <a:tbl>
              <a:tblPr>
                <a:tableStyleId>{5C22544A-7EE6-4342-B048-85BDC9FD1C3A}</a:tableStyleId>
              </a:tblPr>
              <a:tblGrid>
                <a:gridCol w="1408759">
                  <a:extLst>
                    <a:ext uri="{9D8B030D-6E8A-4147-A177-3AD203B41FA5}">
                      <a16:colId xmlns:a16="http://schemas.microsoft.com/office/drawing/2014/main" val="2901950929"/>
                    </a:ext>
                  </a:extLst>
                </a:gridCol>
                <a:gridCol w="3684447">
                  <a:extLst>
                    <a:ext uri="{9D8B030D-6E8A-4147-A177-3AD203B41FA5}">
                      <a16:colId xmlns:a16="http://schemas.microsoft.com/office/drawing/2014/main" val="1797374482"/>
                    </a:ext>
                  </a:extLst>
                </a:gridCol>
              </a:tblGrid>
              <a:tr h="295860">
                <a:tc>
                  <a:txBody>
                    <a:bodyPr/>
                    <a:lstStyle/>
                    <a:p>
                      <a:pPr marL="0" marR="0" algn="ctr">
                        <a:lnSpc>
                          <a:spcPct val="150000"/>
                        </a:lnSpc>
                        <a:spcBef>
                          <a:spcPts val="0"/>
                        </a:spcBef>
                        <a:spcAft>
                          <a:spcPts val="0"/>
                        </a:spcAft>
                      </a:pPr>
                      <a:r>
                        <a:rPr lang="en-VN" sz="1000" b="1">
                          <a:effectLst/>
                        </a:rPr>
                        <a:t>Trường</a:t>
                      </a:r>
                      <a:endParaRPr lang="en-VN" sz="800" b="1">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ctr">
                        <a:lnSpc>
                          <a:spcPct val="150000"/>
                        </a:lnSpc>
                        <a:spcBef>
                          <a:spcPts val="0"/>
                        </a:spcBef>
                        <a:spcAft>
                          <a:spcPts val="0"/>
                        </a:spcAft>
                      </a:pPr>
                      <a:r>
                        <a:rPr lang="en-VN" sz="1000" b="1">
                          <a:effectLst/>
                        </a:rPr>
                        <a:t>Nội dung</a:t>
                      </a:r>
                      <a:endParaRPr lang="en-VN" sz="800" b="1">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2785005629"/>
                  </a:ext>
                </a:extLst>
              </a:tr>
              <a:tr h="295860">
                <a:tc>
                  <a:txBody>
                    <a:bodyPr/>
                    <a:lstStyle/>
                    <a:p>
                      <a:pPr marL="0" marR="0" algn="just">
                        <a:lnSpc>
                          <a:spcPct val="150000"/>
                        </a:lnSpc>
                        <a:spcBef>
                          <a:spcPts val="0"/>
                        </a:spcBef>
                        <a:spcAft>
                          <a:spcPts val="0"/>
                        </a:spcAft>
                      </a:pPr>
                      <a:r>
                        <a:rPr lang="en-VN" sz="1000">
                          <a:effectLst/>
                        </a:rPr>
                        <a:t>ID use case</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UC-02</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3011778965"/>
                  </a:ext>
                </a:extLst>
              </a:tr>
              <a:tr h="295860">
                <a:tc>
                  <a:txBody>
                    <a:bodyPr/>
                    <a:lstStyle/>
                    <a:p>
                      <a:pPr marL="0" marR="0" algn="just">
                        <a:lnSpc>
                          <a:spcPct val="150000"/>
                        </a:lnSpc>
                        <a:spcBef>
                          <a:spcPts val="0"/>
                        </a:spcBef>
                        <a:spcAft>
                          <a:spcPts val="0"/>
                        </a:spcAft>
                      </a:pPr>
                      <a:r>
                        <a:rPr lang="en-VN" sz="1000">
                          <a:effectLst/>
                        </a:rPr>
                        <a:t>Actor chính</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Guest / User</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3598447847"/>
                  </a:ext>
                </a:extLst>
              </a:tr>
              <a:tr h="295860">
                <a:tc>
                  <a:txBody>
                    <a:bodyPr/>
                    <a:lstStyle/>
                    <a:p>
                      <a:pPr marL="0" marR="0" algn="just">
                        <a:lnSpc>
                          <a:spcPct val="150000"/>
                        </a:lnSpc>
                        <a:spcBef>
                          <a:spcPts val="0"/>
                        </a:spcBef>
                        <a:spcAft>
                          <a:spcPts val="0"/>
                        </a:spcAft>
                      </a:pPr>
                      <a:r>
                        <a:rPr lang="en-VN" sz="1000">
                          <a:effectLst/>
                        </a:rPr>
                        <a:t>Mô tả</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Người dùng nhập thông tin nhận hàng và xác nhận tạo đơn.</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2925002714"/>
                  </a:ext>
                </a:extLst>
              </a:tr>
              <a:tr h="295860">
                <a:tc>
                  <a:txBody>
                    <a:bodyPr/>
                    <a:lstStyle/>
                    <a:p>
                      <a:pPr marL="0" marR="0" algn="just">
                        <a:lnSpc>
                          <a:spcPct val="150000"/>
                        </a:lnSpc>
                        <a:spcBef>
                          <a:spcPts val="0"/>
                        </a:spcBef>
                        <a:spcAft>
                          <a:spcPts val="0"/>
                        </a:spcAft>
                      </a:pPr>
                      <a:r>
                        <a:rPr lang="en-VN" sz="1000">
                          <a:effectLst/>
                        </a:rPr>
                        <a:t>Điều kiện tiên quyết</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Giỏ hàng có ít nhất 1 sản phẩm hợp lệ.</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3169689254"/>
                  </a:ext>
                </a:extLst>
              </a:tr>
              <a:tr h="2355851">
                <a:tc>
                  <a:txBody>
                    <a:bodyPr/>
                    <a:lstStyle/>
                    <a:p>
                      <a:pPr marL="0" marR="0" algn="just">
                        <a:lnSpc>
                          <a:spcPct val="150000"/>
                        </a:lnSpc>
                        <a:spcBef>
                          <a:spcPts val="0"/>
                        </a:spcBef>
                        <a:spcAft>
                          <a:spcPts val="0"/>
                        </a:spcAft>
                      </a:pPr>
                      <a:r>
                        <a:rPr lang="en-VN" sz="1000">
                          <a:effectLst/>
                        </a:rPr>
                        <a:t>Luồng chính</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1. Người dùng vào /checkout</a:t>
                      </a:r>
                      <a:endParaRPr lang="en-VN" sz="800">
                        <a:effectLst/>
                      </a:endParaRPr>
                    </a:p>
                    <a:p>
                      <a:pPr marL="0" marR="0" algn="just">
                        <a:lnSpc>
                          <a:spcPct val="150000"/>
                        </a:lnSpc>
                        <a:spcBef>
                          <a:spcPts val="0"/>
                        </a:spcBef>
                        <a:spcAft>
                          <a:spcPts val="0"/>
                        </a:spcAft>
                      </a:pPr>
                      <a:r>
                        <a:rPr lang="en-VN" sz="1000">
                          <a:effectLst/>
                        </a:rPr>
                        <a:t>2. Nhập họ tên, email, điện thoại, địa chỉ</a:t>
                      </a:r>
                      <a:endParaRPr lang="en-VN" sz="800">
                        <a:effectLst/>
                      </a:endParaRPr>
                    </a:p>
                    <a:p>
                      <a:pPr marL="0" marR="0" algn="just">
                        <a:lnSpc>
                          <a:spcPct val="150000"/>
                        </a:lnSpc>
                        <a:spcBef>
                          <a:spcPts val="0"/>
                        </a:spcBef>
                        <a:spcAft>
                          <a:spcPts val="0"/>
                        </a:spcAft>
                      </a:pPr>
                      <a:r>
                        <a:rPr lang="en-VN" sz="1000">
                          <a:effectLst/>
                        </a:rPr>
                        <a:t>3. Submit form POST /checkout_</a:t>
                      </a:r>
                      <a:endParaRPr lang="en-VN" sz="800">
                        <a:effectLst/>
                      </a:endParaRPr>
                    </a:p>
                    <a:p>
                      <a:pPr marL="0" marR="0" algn="just">
                        <a:lnSpc>
                          <a:spcPct val="150000"/>
                        </a:lnSpc>
                        <a:spcBef>
                          <a:spcPts val="0"/>
                        </a:spcBef>
                        <a:spcAft>
                          <a:spcPts val="0"/>
                        </a:spcAft>
                      </a:pPr>
                      <a:r>
                        <a:rPr lang="en-VN" sz="1000">
                          <a:effectLst/>
                        </a:rPr>
                        <a:t>4. Hệ thống validate: hoten không rỗng, email hợp lệ, điện thoại khớp regex /^[0-9+\s().-]{8,20}$/, diachi không rỗng</a:t>
                      </a:r>
                      <a:endParaRPr lang="en-VN" sz="800">
                        <a:effectLst/>
                      </a:endParaRPr>
                    </a:p>
                    <a:p>
                      <a:pPr marL="0" marR="0" algn="just">
                        <a:lnSpc>
                          <a:spcPct val="150000"/>
                        </a:lnSpc>
                        <a:spcBef>
                          <a:spcPts val="0"/>
                        </a:spcBef>
                        <a:spcAft>
                          <a:spcPts val="0"/>
                        </a:spcAft>
                      </a:pPr>
                      <a:r>
                        <a:rPr lang="en-VN" sz="1000">
                          <a:effectLst/>
                        </a:rPr>
                        <a:t>5. Bắt đầu transaction: INSERT donhang → lấy id_dh → INSERT từng dòng donhangchitiet</a:t>
                      </a:r>
                      <a:endParaRPr lang="en-VN" sz="800">
                        <a:effectLst/>
                      </a:endParaRPr>
                    </a:p>
                    <a:p>
                      <a:pPr marL="0" marR="0" algn="just">
                        <a:lnSpc>
                          <a:spcPct val="150000"/>
                        </a:lnSpc>
                        <a:spcBef>
                          <a:spcPts val="0"/>
                        </a:spcBef>
                        <a:spcAft>
                          <a:spcPts val="0"/>
                        </a:spcAft>
                      </a:pPr>
                      <a:r>
                        <a:rPr lang="en-VN" sz="1000">
                          <a:effectLst/>
                        </a:rPr>
                        <a:t>6. Commit, clear $_SESSION['cart'], hiện mã đơn hàng, redirect về trang chủ</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201532510"/>
                  </a:ext>
                </a:extLst>
              </a:tr>
              <a:tr h="553359">
                <a:tc>
                  <a:txBody>
                    <a:bodyPr/>
                    <a:lstStyle/>
                    <a:p>
                      <a:pPr marL="0" marR="0" algn="just">
                        <a:lnSpc>
                          <a:spcPct val="150000"/>
                        </a:lnSpc>
                        <a:spcBef>
                          <a:spcPts val="0"/>
                        </a:spcBef>
                        <a:spcAft>
                          <a:spcPts val="0"/>
                        </a:spcAft>
                      </a:pPr>
                      <a:r>
                        <a:rPr lang="en-VN" sz="1000">
                          <a:effectLst/>
                        </a:rPr>
                        <a:t>Luồng phụ (E1)</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Validate không đạt → set error_message, redirect lại /checkout.</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704943881"/>
                  </a:ext>
                </a:extLst>
              </a:tr>
              <a:tr h="553359">
                <a:tc>
                  <a:txBody>
                    <a:bodyPr/>
                    <a:lstStyle/>
                    <a:p>
                      <a:pPr marL="0" marR="0" algn="just">
                        <a:lnSpc>
                          <a:spcPct val="150000"/>
                        </a:lnSpc>
                        <a:spcBef>
                          <a:spcPts val="0"/>
                        </a:spcBef>
                        <a:spcAft>
                          <a:spcPts val="0"/>
                        </a:spcAft>
                      </a:pPr>
                      <a:r>
                        <a:rPr lang="en-VN" sz="1000">
                          <a:effectLst/>
                        </a:rPr>
                        <a:t>Luồng phụ (E2)</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Không có SP hợp lệ trong giỏ → throw RuntimeException, rollback, báo lỗi.</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1659718526"/>
                  </a:ext>
                </a:extLst>
              </a:tr>
              <a:tr h="295860">
                <a:tc>
                  <a:txBody>
                    <a:bodyPr/>
                    <a:lstStyle/>
                    <a:p>
                      <a:pPr marL="0" marR="0" algn="just">
                        <a:lnSpc>
                          <a:spcPct val="150000"/>
                        </a:lnSpc>
                        <a:spcBef>
                          <a:spcPts val="0"/>
                        </a:spcBef>
                        <a:spcAft>
                          <a:spcPts val="0"/>
                        </a:spcAft>
                      </a:pPr>
                      <a:r>
                        <a:rPr lang="en-VN" sz="1000">
                          <a:effectLst/>
                        </a:rPr>
                        <a:t>Điều kiện sau</a:t>
                      </a:r>
                      <a:endParaRPr lang="en-VN" sz="800">
                        <a:effectLst/>
                        <a:latin typeface="Calibri" panose="020F0502020204030204" pitchFamily="34" charset="0"/>
                        <a:ea typeface="Calibri" panose="020F0502020204030204" pitchFamily="34" charset="0"/>
                      </a:endParaRPr>
                    </a:p>
                  </a:txBody>
                  <a:tcPr marL="43258" marR="43258" marT="28839" marB="28839" anchor="ctr"/>
                </a:tc>
                <a:tc>
                  <a:txBody>
                    <a:bodyPr/>
                    <a:lstStyle/>
                    <a:p>
                      <a:pPr marL="0" marR="0" algn="just">
                        <a:lnSpc>
                          <a:spcPct val="150000"/>
                        </a:lnSpc>
                        <a:spcBef>
                          <a:spcPts val="0"/>
                        </a:spcBef>
                        <a:spcAft>
                          <a:spcPts val="0"/>
                        </a:spcAft>
                      </a:pPr>
                      <a:r>
                        <a:rPr lang="en-VN" sz="1000">
                          <a:effectLst/>
                        </a:rPr>
                        <a:t>Đơn hàng mới được ghi vào CSDL, giỏ hàng trống.</a:t>
                      </a:r>
                      <a:endParaRPr lang="en-VN" sz="800">
                        <a:effectLst/>
                        <a:latin typeface="Calibri" panose="020F0502020204030204" pitchFamily="34" charset="0"/>
                        <a:ea typeface="Calibri" panose="020F0502020204030204" pitchFamily="34" charset="0"/>
                      </a:endParaRPr>
                    </a:p>
                  </a:txBody>
                  <a:tcPr marL="43258" marR="43258" marT="28839" marB="28839" anchor="ctr"/>
                </a:tc>
                <a:extLst>
                  <a:ext uri="{0D108BD9-81ED-4DB2-BD59-A6C34878D82A}">
                    <a16:rowId xmlns:a16="http://schemas.microsoft.com/office/drawing/2014/main" val="2433261785"/>
                  </a:ext>
                </a:extLst>
              </a:tr>
            </a:tbl>
          </a:graphicData>
        </a:graphic>
      </p:graphicFrame>
    </p:spTree>
    <p:extLst>
      <p:ext uri="{BB962C8B-B14F-4D97-AF65-F5344CB8AC3E}">
        <p14:creationId xmlns:p14="http://schemas.microsoft.com/office/powerpoint/2010/main" val="2088803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3.5</a:t>
            </a:r>
            <a:r>
              <a:rPr lang="vi-VN" sz="2400" b="1">
                <a:solidFill>
                  <a:srgbClr val="7030A0"/>
                </a:solidFill>
                <a:effectLst/>
                <a:latin typeface="Times New Roman" panose="02020603050405020304" pitchFamily="18" charset="0"/>
                <a:cs typeface="Times New Roman" panose="02020603050405020304" pitchFamily="18" charset="0"/>
              </a:rPr>
              <a:t>. Đặc tả một số use case tiêu biểu</a:t>
            </a: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13" name="TextBox 12">
            <a:extLst>
              <a:ext uri="{FF2B5EF4-FFF2-40B4-BE49-F238E27FC236}">
                <a16:creationId xmlns:a16="http://schemas.microsoft.com/office/drawing/2014/main" id="{A13189C6-AAA1-F219-0F96-3C04354A079E}"/>
              </a:ext>
            </a:extLst>
          </p:cNvPr>
          <p:cNvSpPr txBox="1"/>
          <p:nvPr/>
        </p:nvSpPr>
        <p:spPr>
          <a:xfrm>
            <a:off x="277080" y="1100119"/>
            <a:ext cx="6103256" cy="463397"/>
          </a:xfrm>
          <a:prstGeom prst="rect">
            <a:avLst/>
          </a:prstGeom>
          <a:noFill/>
        </p:spPr>
        <p:txBody>
          <a:bodyPr wrap="square">
            <a:spAutoFit/>
          </a:bodyPr>
          <a:lstStyle/>
          <a:p>
            <a:pPr marL="0" marR="0" algn="just">
              <a:lnSpc>
                <a:spcPct val="150000"/>
              </a:lnSpc>
              <a:spcBef>
                <a:spcPts val="1000"/>
              </a:spcBef>
              <a:spcAft>
                <a:spcPts val="0"/>
              </a:spcAft>
            </a:pPr>
            <a:r>
              <a:rPr lang="en-VN" sz="1800" b="1">
                <a:effectLst/>
                <a:latin typeface="Times New Roman" panose="02020603050405020304" pitchFamily="18" charset="0"/>
                <a:ea typeface="Calibri" panose="020F0502020204030204" pitchFamily="34" charset="0"/>
              </a:rPr>
              <a:t>UC-03: Admin thêm sản phẩm</a:t>
            </a:r>
            <a:endParaRPr lang="en-VN" sz="1800">
              <a:effectLst/>
              <a:latin typeface="Calibri" panose="020F0502020204030204" pitchFamily="34" charset="0"/>
              <a:ea typeface="Calibri" panose="020F0502020204030204" pitchFamily="34" charset="0"/>
            </a:endParaRPr>
          </a:p>
        </p:txBody>
      </p:sp>
      <p:graphicFrame>
        <p:nvGraphicFramePr>
          <p:cNvPr id="4" name="Table 3">
            <a:extLst>
              <a:ext uri="{FF2B5EF4-FFF2-40B4-BE49-F238E27FC236}">
                <a16:creationId xmlns:a16="http://schemas.microsoft.com/office/drawing/2014/main" id="{A4AFB90C-8FA1-9D1E-8401-6A17255AD2EE}"/>
              </a:ext>
            </a:extLst>
          </p:cNvPr>
          <p:cNvGraphicFramePr>
            <a:graphicFrameLocks noGrp="1"/>
          </p:cNvGraphicFramePr>
          <p:nvPr>
            <p:extLst>
              <p:ext uri="{D42A27DB-BD31-4B8C-83A1-F6EECF244321}">
                <p14:modId xmlns:p14="http://schemas.microsoft.com/office/powerpoint/2010/main" val="88216336"/>
              </p:ext>
            </p:extLst>
          </p:nvPr>
        </p:nvGraphicFramePr>
        <p:xfrm>
          <a:off x="797032" y="1596736"/>
          <a:ext cx="4718396" cy="4978491"/>
        </p:xfrm>
        <a:graphic>
          <a:graphicData uri="http://schemas.openxmlformats.org/drawingml/2006/table">
            <a:tbl>
              <a:tblPr>
                <a:tableStyleId>{5C22544A-7EE6-4342-B048-85BDC9FD1C3A}</a:tableStyleId>
              </a:tblPr>
              <a:tblGrid>
                <a:gridCol w="1305088">
                  <a:extLst>
                    <a:ext uri="{9D8B030D-6E8A-4147-A177-3AD203B41FA5}">
                      <a16:colId xmlns:a16="http://schemas.microsoft.com/office/drawing/2014/main" val="1162526382"/>
                    </a:ext>
                  </a:extLst>
                </a:gridCol>
                <a:gridCol w="3413308">
                  <a:extLst>
                    <a:ext uri="{9D8B030D-6E8A-4147-A177-3AD203B41FA5}">
                      <a16:colId xmlns:a16="http://schemas.microsoft.com/office/drawing/2014/main" val="403173881"/>
                    </a:ext>
                  </a:extLst>
                </a:gridCol>
              </a:tblGrid>
              <a:tr h="265439">
                <a:tc>
                  <a:txBody>
                    <a:bodyPr/>
                    <a:lstStyle/>
                    <a:p>
                      <a:pPr marL="0" marR="0" algn="ctr">
                        <a:lnSpc>
                          <a:spcPct val="150000"/>
                        </a:lnSpc>
                        <a:spcBef>
                          <a:spcPts val="0"/>
                        </a:spcBef>
                        <a:spcAft>
                          <a:spcPts val="0"/>
                        </a:spcAft>
                      </a:pPr>
                      <a:r>
                        <a:rPr lang="en-VN" sz="1100" b="1">
                          <a:effectLst/>
                          <a:latin typeface="Times New Roman" panose="02020603050405020304" pitchFamily="18" charset="0"/>
                          <a:cs typeface="Times New Roman" panose="02020603050405020304" pitchFamily="18" charset="0"/>
                        </a:rPr>
                        <a:t>Trường</a:t>
                      </a:r>
                      <a:endParaRPr lang="en-VN" sz="1100" b="1">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tc>
                  <a:txBody>
                    <a:bodyPr/>
                    <a:lstStyle/>
                    <a:p>
                      <a:pPr marL="0" marR="0" algn="ctr">
                        <a:lnSpc>
                          <a:spcPct val="150000"/>
                        </a:lnSpc>
                        <a:spcBef>
                          <a:spcPts val="0"/>
                        </a:spcBef>
                        <a:spcAft>
                          <a:spcPts val="0"/>
                        </a:spcAft>
                      </a:pPr>
                      <a:r>
                        <a:rPr lang="en-VN" sz="1100" b="1">
                          <a:effectLst/>
                          <a:latin typeface="Times New Roman" panose="02020603050405020304" pitchFamily="18" charset="0"/>
                          <a:cs typeface="Times New Roman" panose="02020603050405020304" pitchFamily="18" charset="0"/>
                        </a:rPr>
                        <a:t>Nội dung</a:t>
                      </a:r>
                      <a:endParaRPr lang="en-VN" sz="1100" b="1">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extLst>
                  <a:ext uri="{0D108BD9-81ED-4DB2-BD59-A6C34878D82A}">
                    <a16:rowId xmlns:a16="http://schemas.microsoft.com/office/drawing/2014/main" val="363213050"/>
                  </a:ext>
                </a:extLst>
              </a:tr>
              <a:tr h="265439">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ID use case</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UC-03</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extLst>
                  <a:ext uri="{0D108BD9-81ED-4DB2-BD59-A6C34878D82A}">
                    <a16:rowId xmlns:a16="http://schemas.microsoft.com/office/drawing/2014/main" val="1611720095"/>
                  </a:ext>
                </a:extLst>
              </a:tr>
              <a:tr h="265439">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Actor chính</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Admin</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extLst>
                  <a:ext uri="{0D108BD9-81ED-4DB2-BD59-A6C34878D82A}">
                    <a16:rowId xmlns:a16="http://schemas.microsoft.com/office/drawing/2014/main" val="2850053530"/>
                  </a:ext>
                </a:extLst>
              </a:tr>
              <a:tr h="496383">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Mô tả</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Admin tạo sản phẩm mới trong hệ thống với đầy đủ thông tin và ảnh.</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extLst>
                  <a:ext uri="{0D108BD9-81ED-4DB2-BD59-A6C34878D82A}">
                    <a16:rowId xmlns:a16="http://schemas.microsoft.com/office/drawing/2014/main" val="2840113024"/>
                  </a:ext>
                </a:extLst>
              </a:tr>
              <a:tr h="265439">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Điều kiện tiên quyết</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Đã đăng nhập với vaitro=1.</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extLst>
                  <a:ext uri="{0D108BD9-81ED-4DB2-BD59-A6C34878D82A}">
                    <a16:rowId xmlns:a16="http://schemas.microsoft.com/office/drawing/2014/main" val="1936601108"/>
                  </a:ext>
                </a:extLst>
              </a:tr>
              <a:tr h="2343937">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Luồng chính</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1. Admin vào /admin/addsp → form multipart</a:t>
                      </a:r>
                    </a:p>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2. Nhập tên, chọn danh mục, ngày (Y-m-d), giá, giá KM, mô tả, trạng thái, nổi bật, upload ảnh</a:t>
                      </a:r>
                    </a:p>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3. Submit POST /admin/addsp_</a:t>
                      </a:r>
                    </a:p>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4. Server validate: id_loai tồn tại, ten_sp không rỗng, ngày parse được, gia&gt;0, gia_km&lt;=gia</a:t>
                      </a:r>
                    </a:p>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5. Upload ảnh: kiểm tra MIME (jpg/png/webp) qua finfo, kích thước ≤5MB</a:t>
                      </a:r>
                    </a:p>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6. INSERT vào bảng sanpham với hinh = "upload/..."</a:t>
                      </a:r>
                    </a:p>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7. Redirect /admin/sp với success_message</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extLst>
                  <a:ext uri="{0D108BD9-81ED-4DB2-BD59-A6C34878D82A}">
                    <a16:rowId xmlns:a16="http://schemas.microsoft.com/office/drawing/2014/main" val="3314424993"/>
                  </a:ext>
                </a:extLst>
              </a:tr>
              <a:tr h="496383">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Luồng phụ (E1)</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Bất kỳ validate nào thất bại → die("Lỗi..."). Hiện ra trang trắng với duy nhất thông báo.</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extLst>
                  <a:ext uri="{0D108BD9-81ED-4DB2-BD59-A6C34878D82A}">
                    <a16:rowId xmlns:a16="http://schemas.microsoft.com/office/drawing/2014/main" val="4010372689"/>
                  </a:ext>
                </a:extLst>
              </a:tr>
              <a:tr h="265439">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Điều kiện sau</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tc>
                  <a:txBody>
                    <a:bodyPr/>
                    <a:lstStyle/>
                    <a:p>
                      <a:pPr marL="0" marR="0" algn="just">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SP mới xuất hiện trong danh sách admin/sp.</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41436" marR="41436" marT="27624" marB="27624" anchor="ctr"/>
                </a:tc>
                <a:extLst>
                  <a:ext uri="{0D108BD9-81ED-4DB2-BD59-A6C34878D82A}">
                    <a16:rowId xmlns:a16="http://schemas.microsoft.com/office/drawing/2014/main" val="2336847182"/>
                  </a:ext>
                </a:extLst>
              </a:tr>
            </a:tbl>
          </a:graphicData>
        </a:graphic>
      </p:graphicFrame>
    </p:spTree>
    <p:extLst>
      <p:ext uri="{BB962C8B-B14F-4D97-AF65-F5344CB8AC3E}">
        <p14:creationId xmlns:p14="http://schemas.microsoft.com/office/powerpoint/2010/main" val="2896994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3.6</a:t>
            </a:r>
            <a:r>
              <a:rPr lang="vi-VN" sz="2400" b="1">
                <a:solidFill>
                  <a:srgbClr val="7030A0"/>
                </a:solidFill>
                <a:effectLst/>
                <a:latin typeface="Times New Roman" panose="02020603050405020304" pitchFamily="18" charset="0"/>
                <a:cs typeface="Times New Roman" panose="02020603050405020304" pitchFamily="18" charset="0"/>
              </a:rPr>
              <a:t>. </a:t>
            </a:r>
            <a:r>
              <a:rPr lang="en-VN" sz="2400" b="1">
                <a:solidFill>
                  <a:srgbClr val="7030A0"/>
                </a:solidFill>
                <a:latin typeface="Times New Roman" panose="02020603050405020304" pitchFamily="18" charset="0"/>
                <a:cs typeface="Times New Roman" panose="02020603050405020304" pitchFamily="18" charset="0"/>
              </a:rPr>
              <a:t>Wireframe cấu trúc trang (Low-fi Site Map)</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63397"/>
          </a:xfrm>
          <a:prstGeom prst="rect">
            <a:avLst/>
          </a:prstGeom>
          <a:noFill/>
        </p:spPr>
        <p:txBody>
          <a:bodyPr wrap="square">
            <a:spAutoFit/>
          </a:bodyPr>
          <a:lstStyle/>
          <a:p>
            <a:pPr marL="0" marR="0" algn="just">
              <a:lnSpc>
                <a:spcPct val="150000"/>
              </a:lnSpc>
              <a:spcBef>
                <a:spcPts val="1000"/>
              </a:spcBef>
              <a:spcAft>
                <a:spcPts val="0"/>
              </a:spcAft>
            </a:pPr>
            <a:r>
              <a:rPr lang="en-VN" sz="1800" b="1">
                <a:solidFill>
                  <a:srgbClr val="0F172A"/>
                </a:solidFill>
                <a:effectLst/>
                <a:latin typeface="Times New Roman" panose="02020603050405020304" pitchFamily="18" charset="0"/>
              </a:rPr>
              <a:t>Wireframe trang chủ</a:t>
            </a:r>
            <a:endParaRPr lang="en-VN" sz="1600" b="1">
              <a:solidFill>
                <a:srgbClr val="334155"/>
              </a:solidFill>
              <a:effectLst/>
              <a:latin typeface="Calibri" panose="020F0502020204030204" pitchFamily="34" charset="0"/>
            </a:endParaRPr>
          </a:p>
        </p:txBody>
      </p:sp>
      <p:pic>
        <p:nvPicPr>
          <p:cNvPr id="7" name="Picture 6">
            <a:extLst>
              <a:ext uri="{FF2B5EF4-FFF2-40B4-BE49-F238E27FC236}">
                <a16:creationId xmlns:a16="http://schemas.microsoft.com/office/drawing/2014/main" id="{1CFA5D02-6D9F-5A08-6FE3-F5D22DE8993F}"/>
              </a:ext>
            </a:extLst>
          </p:cNvPr>
          <p:cNvPicPr>
            <a:picLocks noChangeAspect="1"/>
          </p:cNvPicPr>
          <p:nvPr/>
        </p:nvPicPr>
        <p:blipFill>
          <a:blip r:embed="rId3"/>
          <a:srcRect/>
          <a:stretch>
            <a:fillRect/>
          </a:stretch>
        </p:blipFill>
        <p:spPr bwMode="auto">
          <a:xfrm>
            <a:off x="4128314" y="1087134"/>
            <a:ext cx="4794942" cy="5770866"/>
          </a:xfrm>
          <a:prstGeom prst="rect">
            <a:avLst/>
          </a:prstGeom>
        </p:spPr>
      </p:pic>
    </p:spTree>
    <p:extLst>
      <p:ext uri="{BB962C8B-B14F-4D97-AF65-F5344CB8AC3E}">
        <p14:creationId xmlns:p14="http://schemas.microsoft.com/office/powerpoint/2010/main" val="14506819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3.6</a:t>
            </a:r>
            <a:r>
              <a:rPr lang="vi-VN" sz="2400" b="1">
                <a:solidFill>
                  <a:srgbClr val="7030A0"/>
                </a:solidFill>
                <a:effectLst/>
                <a:latin typeface="Times New Roman" panose="02020603050405020304" pitchFamily="18" charset="0"/>
                <a:cs typeface="Times New Roman" panose="02020603050405020304" pitchFamily="18" charset="0"/>
              </a:rPr>
              <a:t>. </a:t>
            </a:r>
            <a:r>
              <a:rPr lang="en-VN" sz="2400" b="1">
                <a:solidFill>
                  <a:srgbClr val="7030A0"/>
                </a:solidFill>
                <a:latin typeface="Times New Roman" panose="02020603050405020304" pitchFamily="18" charset="0"/>
                <a:cs typeface="Times New Roman" panose="02020603050405020304" pitchFamily="18" charset="0"/>
              </a:rPr>
              <a:t>Wireframe cấu trúc trang (Low-fi Site Map)</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63397"/>
          </a:xfrm>
          <a:prstGeom prst="rect">
            <a:avLst/>
          </a:prstGeom>
          <a:noFill/>
        </p:spPr>
        <p:txBody>
          <a:bodyPr wrap="square">
            <a:spAutoFit/>
          </a:bodyPr>
          <a:lstStyle/>
          <a:p>
            <a:pPr marL="0" marR="0" algn="just">
              <a:lnSpc>
                <a:spcPct val="150000"/>
              </a:lnSpc>
              <a:spcBef>
                <a:spcPts val="1000"/>
              </a:spcBef>
              <a:spcAft>
                <a:spcPts val="0"/>
              </a:spcAft>
            </a:pPr>
            <a:r>
              <a:rPr lang="en-VN" sz="1800" b="1">
                <a:solidFill>
                  <a:srgbClr val="0F172A"/>
                </a:solidFill>
                <a:effectLst/>
                <a:latin typeface="Times New Roman" panose="02020603050405020304" pitchFamily="18" charset="0"/>
              </a:rPr>
              <a:t>Wireframe trang chi tiết sản phẩm</a:t>
            </a:r>
            <a:endParaRPr lang="en-VN" sz="1600" b="1">
              <a:solidFill>
                <a:srgbClr val="334155"/>
              </a:solidFill>
              <a:effectLst/>
              <a:latin typeface="Calibri" panose="020F0502020204030204" pitchFamily="34" charset="0"/>
            </a:endParaRPr>
          </a:p>
        </p:txBody>
      </p:sp>
      <p:pic>
        <p:nvPicPr>
          <p:cNvPr id="3" name="Picture 2">
            <a:extLst>
              <a:ext uri="{FF2B5EF4-FFF2-40B4-BE49-F238E27FC236}">
                <a16:creationId xmlns:a16="http://schemas.microsoft.com/office/drawing/2014/main" id="{84CAF8F7-8EF7-E436-A170-FD7E167866B0}"/>
              </a:ext>
            </a:extLst>
          </p:cNvPr>
          <p:cNvPicPr>
            <a:picLocks noChangeAspect="1"/>
          </p:cNvPicPr>
          <p:nvPr/>
        </p:nvPicPr>
        <p:blipFill>
          <a:blip r:embed="rId3"/>
          <a:srcRect/>
          <a:stretch>
            <a:fillRect/>
          </a:stretch>
        </p:blipFill>
        <p:spPr bwMode="auto">
          <a:xfrm>
            <a:off x="5655392" y="993429"/>
            <a:ext cx="5499735" cy="5864571"/>
          </a:xfrm>
          <a:prstGeom prst="rect">
            <a:avLst/>
          </a:prstGeom>
        </p:spPr>
      </p:pic>
    </p:spTree>
    <p:extLst>
      <p:ext uri="{BB962C8B-B14F-4D97-AF65-F5344CB8AC3E}">
        <p14:creationId xmlns:p14="http://schemas.microsoft.com/office/powerpoint/2010/main" val="22951194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3.6</a:t>
            </a:r>
            <a:r>
              <a:rPr lang="vi-VN" sz="2400" b="1">
                <a:solidFill>
                  <a:srgbClr val="7030A0"/>
                </a:solidFill>
                <a:effectLst/>
                <a:latin typeface="Times New Roman" panose="02020603050405020304" pitchFamily="18" charset="0"/>
                <a:cs typeface="Times New Roman" panose="02020603050405020304" pitchFamily="18" charset="0"/>
              </a:rPr>
              <a:t>. </a:t>
            </a:r>
            <a:r>
              <a:rPr lang="en-VN" sz="2400" b="1">
                <a:solidFill>
                  <a:srgbClr val="7030A0"/>
                </a:solidFill>
                <a:latin typeface="Times New Roman" panose="02020603050405020304" pitchFamily="18" charset="0"/>
                <a:cs typeface="Times New Roman" panose="02020603050405020304" pitchFamily="18" charset="0"/>
              </a:rPr>
              <a:t>Wireframe cấu trúc trang (Low-fi Site Map)</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63397"/>
          </a:xfrm>
          <a:prstGeom prst="rect">
            <a:avLst/>
          </a:prstGeom>
          <a:noFill/>
        </p:spPr>
        <p:txBody>
          <a:bodyPr wrap="square">
            <a:spAutoFit/>
          </a:bodyPr>
          <a:lstStyle/>
          <a:p>
            <a:pPr marL="0" marR="0" algn="just">
              <a:lnSpc>
                <a:spcPct val="150000"/>
              </a:lnSpc>
              <a:spcBef>
                <a:spcPts val="1000"/>
              </a:spcBef>
              <a:spcAft>
                <a:spcPts val="0"/>
              </a:spcAft>
            </a:pPr>
            <a:r>
              <a:rPr lang="en-VN" sz="1800">
                <a:solidFill>
                  <a:srgbClr val="0F172A"/>
                </a:solidFill>
                <a:effectLst/>
                <a:latin typeface="Times New Roman" panose="02020603050405020304" pitchFamily="18" charset="0"/>
                <a:ea typeface="Calibri" panose="020F0502020204030204" pitchFamily="34" charset="0"/>
              </a:rPr>
              <a:t>Wireframe trang thanh toán (checkout)</a:t>
            </a:r>
            <a:r>
              <a:rPr lang="en-VN">
                <a:effectLst/>
              </a:rPr>
              <a:t> </a:t>
            </a:r>
            <a:endParaRPr lang="en-VN" sz="1600" b="1">
              <a:solidFill>
                <a:srgbClr val="334155"/>
              </a:solidFill>
              <a:effectLst/>
              <a:latin typeface="Calibri" panose="020F0502020204030204" pitchFamily="34" charset="0"/>
            </a:endParaRPr>
          </a:p>
        </p:txBody>
      </p:sp>
      <p:pic>
        <p:nvPicPr>
          <p:cNvPr id="4" name="Picture 3">
            <a:extLst>
              <a:ext uri="{FF2B5EF4-FFF2-40B4-BE49-F238E27FC236}">
                <a16:creationId xmlns:a16="http://schemas.microsoft.com/office/drawing/2014/main" id="{5C65B126-2C3C-30DC-CE8E-60F1DC108632}"/>
              </a:ext>
            </a:extLst>
          </p:cNvPr>
          <p:cNvPicPr>
            <a:picLocks noChangeAspect="1"/>
          </p:cNvPicPr>
          <p:nvPr/>
        </p:nvPicPr>
        <p:blipFill>
          <a:blip r:embed="rId3"/>
          <a:srcRect/>
          <a:stretch>
            <a:fillRect/>
          </a:stretch>
        </p:blipFill>
        <p:spPr bwMode="auto">
          <a:xfrm>
            <a:off x="5276532" y="1087134"/>
            <a:ext cx="5499735" cy="5842548"/>
          </a:xfrm>
          <a:prstGeom prst="rect">
            <a:avLst/>
          </a:prstGeom>
        </p:spPr>
      </p:pic>
    </p:spTree>
    <p:extLst>
      <p:ext uri="{BB962C8B-B14F-4D97-AF65-F5344CB8AC3E}">
        <p14:creationId xmlns:p14="http://schemas.microsoft.com/office/powerpoint/2010/main" val="3269337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3.7</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Cơ sở và lý do lựa chọn thiết kế low-fi </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4E3C40FA-A665-7F3E-DBBA-A2E1B8CD56C6}"/>
              </a:ext>
            </a:extLst>
          </p:cNvPr>
          <p:cNvSpPr txBox="1"/>
          <p:nvPr/>
        </p:nvSpPr>
        <p:spPr>
          <a:xfrm>
            <a:off x="733371" y="1325089"/>
            <a:ext cx="6103256" cy="463397"/>
          </a:xfrm>
          <a:prstGeom prst="rect">
            <a:avLst/>
          </a:prstGeom>
          <a:noFill/>
        </p:spPr>
        <p:txBody>
          <a:bodyPr wrap="square">
            <a:spAutoFit/>
          </a:bodyPr>
          <a:lstStyle/>
          <a:p>
            <a:pPr marL="0" marR="0" algn="just">
              <a:lnSpc>
                <a:spcPct val="150000"/>
              </a:lnSpc>
              <a:spcBef>
                <a:spcPts val="1000"/>
              </a:spcBef>
              <a:spcAft>
                <a:spcPts val="0"/>
              </a:spcAft>
            </a:pPr>
            <a:r>
              <a:rPr lang="en-VN" sz="1800" b="1">
                <a:solidFill>
                  <a:srgbClr val="0F172A"/>
                </a:solidFill>
                <a:effectLst/>
                <a:latin typeface="Times New Roman" panose="02020603050405020304" pitchFamily="18" charset="0"/>
              </a:rPr>
              <a:t>Ma trận quyết định thiết kế và cơ sở lựa chọn</a:t>
            </a:r>
            <a:endParaRPr lang="en-VN" sz="1600" b="1">
              <a:solidFill>
                <a:srgbClr val="334155"/>
              </a:solidFill>
              <a:effectLst/>
              <a:latin typeface="Calibri" panose="020F0502020204030204" pitchFamily="34" charset="0"/>
            </a:endParaRPr>
          </a:p>
        </p:txBody>
      </p:sp>
      <p:graphicFrame>
        <p:nvGraphicFramePr>
          <p:cNvPr id="8" name="Table 7">
            <a:extLst>
              <a:ext uri="{FF2B5EF4-FFF2-40B4-BE49-F238E27FC236}">
                <a16:creationId xmlns:a16="http://schemas.microsoft.com/office/drawing/2014/main" id="{89E2DC31-576E-17C2-D120-968A55504455}"/>
              </a:ext>
            </a:extLst>
          </p:cNvPr>
          <p:cNvGraphicFramePr>
            <a:graphicFrameLocks noGrp="1"/>
          </p:cNvGraphicFramePr>
          <p:nvPr>
            <p:extLst>
              <p:ext uri="{D42A27DB-BD31-4B8C-83A1-F6EECF244321}">
                <p14:modId xmlns:p14="http://schemas.microsoft.com/office/powerpoint/2010/main" val="529430650"/>
              </p:ext>
            </p:extLst>
          </p:nvPr>
        </p:nvGraphicFramePr>
        <p:xfrm>
          <a:off x="5979916" y="1087134"/>
          <a:ext cx="5934716" cy="5633707"/>
        </p:xfrm>
        <a:graphic>
          <a:graphicData uri="http://schemas.openxmlformats.org/drawingml/2006/table">
            <a:tbl>
              <a:tblPr>
                <a:tableStyleId>{5C22544A-7EE6-4342-B048-85BDC9FD1C3A}</a:tableStyleId>
              </a:tblPr>
              <a:tblGrid>
                <a:gridCol w="1896662">
                  <a:extLst>
                    <a:ext uri="{9D8B030D-6E8A-4147-A177-3AD203B41FA5}">
                      <a16:colId xmlns:a16="http://schemas.microsoft.com/office/drawing/2014/main" val="818856415"/>
                    </a:ext>
                  </a:extLst>
                </a:gridCol>
                <a:gridCol w="2324939">
                  <a:extLst>
                    <a:ext uri="{9D8B030D-6E8A-4147-A177-3AD203B41FA5}">
                      <a16:colId xmlns:a16="http://schemas.microsoft.com/office/drawing/2014/main" val="3492365418"/>
                    </a:ext>
                  </a:extLst>
                </a:gridCol>
                <a:gridCol w="1713115">
                  <a:extLst>
                    <a:ext uri="{9D8B030D-6E8A-4147-A177-3AD203B41FA5}">
                      <a16:colId xmlns:a16="http://schemas.microsoft.com/office/drawing/2014/main" val="1003965701"/>
                    </a:ext>
                  </a:extLst>
                </a:gridCol>
              </a:tblGrid>
              <a:tr h="337035">
                <a:tc>
                  <a:txBody>
                    <a:bodyPr/>
                    <a:lstStyle/>
                    <a:p>
                      <a:pPr marL="0" marR="0" algn="just">
                        <a:lnSpc>
                          <a:spcPct val="150000"/>
                        </a:lnSpc>
                        <a:spcBef>
                          <a:spcPts val="0"/>
                        </a:spcBef>
                        <a:spcAft>
                          <a:spcPts val="0"/>
                        </a:spcAft>
                      </a:pPr>
                      <a:r>
                        <a:rPr lang="en-VN" sz="1100" b="1">
                          <a:effectLst/>
                          <a:latin typeface="Times New Roman" panose="02020603050405020304" pitchFamily="18" charset="0"/>
                          <a:cs typeface="Times New Roman" panose="02020603050405020304" pitchFamily="18" charset="0"/>
                        </a:rPr>
                        <a:t>Quyết định thiết kế</a:t>
                      </a:r>
                      <a:endParaRPr lang="en-VN" sz="1100" b="1">
                        <a:effectLst/>
                        <a:latin typeface="Times New Roman" panose="02020603050405020304" pitchFamily="18" charset="0"/>
                        <a:ea typeface="Calibri" panose="020F0502020204030204" pitchFamily="34" charset="0"/>
                        <a:cs typeface="Times New Roman" panose="02020603050405020304" pitchFamily="18" charset="0"/>
                      </a:endParaRPr>
                    </a:p>
                  </a:txBody>
                  <a:tcPr marL="24365" marR="24365" marT="16243" marB="16243" anchor="ctr"/>
                </a:tc>
                <a:tc>
                  <a:txBody>
                    <a:bodyPr/>
                    <a:lstStyle/>
                    <a:p>
                      <a:pPr marL="0" marR="0" algn="just">
                        <a:lnSpc>
                          <a:spcPct val="150000"/>
                        </a:lnSpc>
                        <a:spcBef>
                          <a:spcPts val="0"/>
                        </a:spcBef>
                        <a:spcAft>
                          <a:spcPts val="0"/>
                        </a:spcAft>
                      </a:pPr>
                      <a:r>
                        <a:rPr lang="en-VN" sz="1100" b="1">
                          <a:effectLst/>
                          <a:latin typeface="Times New Roman" panose="02020603050405020304" pitchFamily="18" charset="0"/>
                          <a:cs typeface="Times New Roman" panose="02020603050405020304" pitchFamily="18" charset="0"/>
                        </a:rPr>
                        <a:t>Cơ sở / persona liên quan</a:t>
                      </a:r>
                      <a:endParaRPr lang="en-VN" sz="1100" b="1">
                        <a:effectLst/>
                        <a:latin typeface="Times New Roman" panose="02020603050405020304" pitchFamily="18" charset="0"/>
                        <a:ea typeface="Calibri" panose="020F0502020204030204" pitchFamily="34" charset="0"/>
                        <a:cs typeface="Times New Roman" panose="02020603050405020304" pitchFamily="18" charset="0"/>
                      </a:endParaRPr>
                    </a:p>
                  </a:txBody>
                  <a:tcPr marL="24365" marR="24365" marT="16243" marB="16243" anchor="ctr"/>
                </a:tc>
                <a:tc>
                  <a:txBody>
                    <a:bodyPr/>
                    <a:lstStyle/>
                    <a:p>
                      <a:pPr marL="0" marR="0" algn="just">
                        <a:lnSpc>
                          <a:spcPct val="150000"/>
                        </a:lnSpc>
                        <a:spcBef>
                          <a:spcPts val="0"/>
                        </a:spcBef>
                        <a:spcAft>
                          <a:spcPts val="0"/>
                        </a:spcAft>
                      </a:pPr>
                      <a:r>
                        <a:rPr lang="en-VN" sz="1100" b="1">
                          <a:effectLst/>
                          <a:latin typeface="Times New Roman" panose="02020603050405020304" pitchFamily="18" charset="0"/>
                          <a:cs typeface="Times New Roman" panose="02020603050405020304" pitchFamily="18" charset="0"/>
                        </a:rPr>
                        <a:t>Kết quả trong wireframe</a:t>
                      </a:r>
                      <a:endParaRPr lang="en-VN" sz="1100" b="1">
                        <a:effectLst/>
                        <a:latin typeface="Times New Roman" panose="02020603050405020304" pitchFamily="18" charset="0"/>
                        <a:ea typeface="Calibri" panose="020F0502020204030204" pitchFamily="34" charset="0"/>
                        <a:cs typeface="Times New Roman" panose="02020603050405020304" pitchFamily="18" charset="0"/>
                      </a:endParaRPr>
                    </a:p>
                  </a:txBody>
                  <a:tcPr marL="24365" marR="24365" marT="16243" marB="16243" anchor="ctr"/>
                </a:tc>
                <a:extLst>
                  <a:ext uri="{0D108BD9-81ED-4DB2-BD59-A6C34878D82A}">
                    <a16:rowId xmlns:a16="http://schemas.microsoft.com/office/drawing/2014/main" val="3231811838"/>
                  </a:ext>
                </a:extLst>
              </a:tr>
              <a:tr h="652964">
                <a:tc>
                  <a:txBody>
                    <a:bodyPr/>
                    <a:lstStyle/>
                    <a:p>
                      <a:pPr marL="0" marR="0" algn="just">
                        <a:lnSpc>
                          <a:spcPct val="150000"/>
                        </a:lnSpc>
                        <a:spcBef>
                          <a:spcPts val="0"/>
                        </a:spcBef>
                        <a:spcAft>
                          <a:spcPts val="0"/>
                        </a:spcAft>
                      </a:pPr>
                      <a:r>
                        <a:rPr lang="en-VN" sz="600">
                          <a:effectLst/>
                        </a:rPr>
                        <a:t>Cho phép guest checkout (không bắt đăng ký)</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Persona "Minh" — sinh viên cần mua nhanh, ngại điền form dài. FPT Shop yêu cầu đăng ký làm mất khách vãng lai.</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Form checkout ở mục 3.6.3 không có checkpoint bắt đăng nhập.</a:t>
                      </a:r>
                      <a:endParaRPr lang="en-VN" sz="500">
                        <a:effectLst/>
                        <a:latin typeface="Calibri" panose="020F0502020204030204" pitchFamily="34" charset="0"/>
                        <a:ea typeface="Calibri" panose="020F0502020204030204" pitchFamily="34" charset="0"/>
                      </a:endParaRPr>
                    </a:p>
                  </a:txBody>
                  <a:tcPr marL="24365" marR="24365" marT="16243" marB="16243" anchor="ctr"/>
                </a:tc>
                <a:extLst>
                  <a:ext uri="{0D108BD9-81ED-4DB2-BD59-A6C34878D82A}">
                    <a16:rowId xmlns:a16="http://schemas.microsoft.com/office/drawing/2014/main" val="4159259009"/>
                  </a:ext>
                </a:extLst>
              </a:tr>
              <a:tr h="725922">
                <a:tc>
                  <a:txBody>
                    <a:bodyPr/>
                    <a:lstStyle/>
                    <a:p>
                      <a:pPr marL="0" marR="0" algn="just">
                        <a:lnSpc>
                          <a:spcPct val="150000"/>
                        </a:lnSpc>
                        <a:spcBef>
                          <a:spcPts val="0"/>
                        </a:spcBef>
                        <a:spcAft>
                          <a:spcPts val="0"/>
                        </a:spcAft>
                      </a:pPr>
                      <a:r>
                        <a:rPr lang="en-VN" sz="600">
                          <a:effectLst/>
                        </a:rPr>
                        <a:t>Menu danh mục dạng thanh nav ngang, luôn hiển thị</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Persona "Chị Hà" — mẹ mua laptop cho con, muốn duyệt nhanh theo mục đích sử dụng. Học từ Thegioididong.</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Nav bar cố định ngay dưới header ở tất cả wireframe.</a:t>
                      </a:r>
                      <a:endParaRPr lang="en-VN" sz="500">
                        <a:effectLst/>
                        <a:latin typeface="Calibri" panose="020F0502020204030204" pitchFamily="34" charset="0"/>
                        <a:ea typeface="Calibri" panose="020F0502020204030204" pitchFamily="34" charset="0"/>
                      </a:endParaRPr>
                    </a:p>
                  </a:txBody>
                  <a:tcPr marL="24365" marR="24365" marT="16243" marB="16243" anchor="ctr"/>
                </a:tc>
                <a:extLst>
                  <a:ext uri="{0D108BD9-81ED-4DB2-BD59-A6C34878D82A}">
                    <a16:rowId xmlns:a16="http://schemas.microsoft.com/office/drawing/2014/main" val="2458089649"/>
                  </a:ext>
                </a:extLst>
              </a:tr>
              <a:tr h="810929">
                <a:tc>
                  <a:txBody>
                    <a:bodyPr/>
                    <a:lstStyle/>
                    <a:p>
                      <a:pPr marL="0" marR="0" algn="just">
                        <a:lnSpc>
                          <a:spcPct val="150000"/>
                        </a:lnSpc>
                        <a:spcBef>
                          <a:spcPts val="0"/>
                        </a:spcBef>
                        <a:spcAft>
                          <a:spcPts val="0"/>
                        </a:spcAft>
                      </a:pPr>
                      <a:r>
                        <a:rPr lang="en-VN" sz="600">
                          <a:effectLst/>
                        </a:rPr>
                        <a:t>Hero banner đơn giản, chỉ 1 CTA chính</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Học từ điểm yếu của CellphoneS (banner khuyến mãi quá nhiều gây rối). Nguyên tắc "Aesthetic &amp; Minimalist Design" của Nielsen.</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Wireframe 3.6.1 chỉ có 1 CTA "Xem ưu đãi" trên hero.</a:t>
                      </a:r>
                      <a:endParaRPr lang="en-VN" sz="500">
                        <a:effectLst/>
                        <a:latin typeface="Calibri" panose="020F0502020204030204" pitchFamily="34" charset="0"/>
                        <a:ea typeface="Calibri" panose="020F0502020204030204" pitchFamily="34" charset="0"/>
                      </a:endParaRPr>
                    </a:p>
                  </a:txBody>
                  <a:tcPr marL="24365" marR="24365" marT="16243" marB="16243" anchor="ctr"/>
                </a:tc>
                <a:extLst>
                  <a:ext uri="{0D108BD9-81ED-4DB2-BD59-A6C34878D82A}">
                    <a16:rowId xmlns:a16="http://schemas.microsoft.com/office/drawing/2014/main" val="4150002631"/>
                  </a:ext>
                </a:extLst>
              </a:tr>
              <a:tr h="652964">
                <a:tc>
                  <a:txBody>
                    <a:bodyPr/>
                    <a:lstStyle/>
                    <a:p>
                      <a:pPr marL="0" marR="0" algn="just">
                        <a:lnSpc>
                          <a:spcPct val="150000"/>
                        </a:lnSpc>
                        <a:spcBef>
                          <a:spcPts val="0"/>
                        </a:spcBef>
                        <a:spcAft>
                          <a:spcPts val="0"/>
                        </a:spcAft>
                      </a:pPr>
                      <a:r>
                        <a:rPr lang="en-VN" sz="600">
                          <a:effectLst/>
                        </a:rPr>
                        <a:t>Grid sản phẩm 4 cột, ảnh + tên + giá KM nổi bật</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Persona "Anh Tuấn" — dân IT có kinh nghiệm, cần so sánh nhanh giá cả. Bố cục học từ ShopDunk (thoáng, đẹp).</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Cả 2 grid (nổi bật + xem nhiều) trong wireframe home dùng đúng layout này.</a:t>
                      </a:r>
                      <a:endParaRPr lang="en-VN" sz="500">
                        <a:effectLst/>
                        <a:latin typeface="Calibri" panose="020F0502020204030204" pitchFamily="34" charset="0"/>
                        <a:ea typeface="Calibri" panose="020F0502020204030204" pitchFamily="34" charset="0"/>
                      </a:endParaRPr>
                    </a:p>
                  </a:txBody>
                  <a:tcPr marL="24365" marR="24365" marT="16243" marB="16243" anchor="ctr"/>
                </a:tc>
                <a:extLst>
                  <a:ext uri="{0D108BD9-81ED-4DB2-BD59-A6C34878D82A}">
                    <a16:rowId xmlns:a16="http://schemas.microsoft.com/office/drawing/2014/main" val="1563488652"/>
                  </a:ext>
                </a:extLst>
              </a:tr>
              <a:tr h="652964">
                <a:tc>
                  <a:txBody>
                    <a:bodyPr/>
                    <a:lstStyle/>
                    <a:p>
                      <a:pPr marL="0" marR="0" algn="just">
                        <a:lnSpc>
                          <a:spcPct val="150000"/>
                        </a:lnSpc>
                        <a:spcBef>
                          <a:spcPts val="0"/>
                        </a:spcBef>
                        <a:spcAft>
                          <a:spcPts val="0"/>
                        </a:spcAft>
                      </a:pPr>
                      <a:r>
                        <a:rPr lang="en-VN" sz="600">
                          <a:effectLst/>
                        </a:rPr>
                        <a:t>Chi tiết SP: ảnh nửa trái, thông tin + CTA nửa phải</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Chuẩn mực UX phổ biến (Amazon, ShopDunk). Giúp user "scan" nhanh giá và nút mua mà không cần cuộn.</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Wireframe 3.6.2 dùng bố cục 2 cột 50/50.</a:t>
                      </a:r>
                      <a:endParaRPr lang="en-VN" sz="500">
                        <a:effectLst/>
                        <a:latin typeface="Calibri" panose="020F0502020204030204" pitchFamily="34" charset="0"/>
                        <a:ea typeface="Calibri" panose="020F0502020204030204" pitchFamily="34" charset="0"/>
                      </a:endParaRPr>
                    </a:p>
                  </a:txBody>
                  <a:tcPr marL="24365" marR="24365" marT="16243" marB="16243" anchor="ctr"/>
                </a:tc>
                <a:extLst>
                  <a:ext uri="{0D108BD9-81ED-4DB2-BD59-A6C34878D82A}">
                    <a16:rowId xmlns:a16="http://schemas.microsoft.com/office/drawing/2014/main" val="2547468492"/>
                  </a:ext>
                </a:extLst>
              </a:tr>
              <a:tr h="810929">
                <a:tc>
                  <a:txBody>
                    <a:bodyPr/>
                    <a:lstStyle/>
                    <a:p>
                      <a:pPr marL="0" marR="0" algn="just">
                        <a:lnSpc>
                          <a:spcPct val="150000"/>
                        </a:lnSpc>
                        <a:spcBef>
                          <a:spcPts val="0"/>
                        </a:spcBef>
                        <a:spcAft>
                          <a:spcPts val="0"/>
                        </a:spcAft>
                      </a:pPr>
                      <a:r>
                        <a:rPr lang="en-VN" sz="600">
                          <a:effectLst/>
                        </a:rPr>
                        <a:t>Checkout 1 form đơn giản (không multi-step nhiều bước)</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Persona "Minh" — sinh viên ngại quy trình dài. Điểm yếu của FPT Shop.</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Wireframe 3.6.3 gộp mọi trường vào 1 trang, có progress bar 3 bước để user biết mình đang ở đâu.</a:t>
                      </a:r>
                      <a:endParaRPr lang="en-VN" sz="500">
                        <a:effectLst/>
                        <a:latin typeface="Calibri" panose="020F0502020204030204" pitchFamily="34" charset="0"/>
                        <a:ea typeface="Calibri" panose="020F0502020204030204" pitchFamily="34" charset="0"/>
                      </a:endParaRPr>
                    </a:p>
                  </a:txBody>
                  <a:tcPr marL="24365" marR="24365" marT="16243" marB="16243" anchor="ctr"/>
                </a:tc>
                <a:extLst>
                  <a:ext uri="{0D108BD9-81ED-4DB2-BD59-A6C34878D82A}">
                    <a16:rowId xmlns:a16="http://schemas.microsoft.com/office/drawing/2014/main" val="3479893026"/>
                  </a:ext>
                </a:extLst>
              </a:tr>
              <a:tr h="495000">
                <a:tc>
                  <a:txBody>
                    <a:bodyPr/>
                    <a:lstStyle/>
                    <a:p>
                      <a:pPr marL="0" marR="0" algn="just">
                        <a:lnSpc>
                          <a:spcPct val="150000"/>
                        </a:lnSpc>
                        <a:spcBef>
                          <a:spcPts val="0"/>
                        </a:spcBef>
                        <a:spcAft>
                          <a:spcPts val="0"/>
                        </a:spcAft>
                      </a:pPr>
                      <a:r>
                        <a:rPr lang="en-VN" sz="600">
                          <a:effectLst/>
                        </a:rPr>
                        <a:t>Order summary cố định bên phải trong checkout</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Giúp user luôn thấy tổng tiền khi điền form (Nielsen: Visibility of system status).</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Cột phải wireframe 3.6.3 hiển thị đầy đủ SP + phí + tổng.</a:t>
                      </a:r>
                      <a:endParaRPr lang="en-VN" sz="500">
                        <a:effectLst/>
                        <a:latin typeface="Calibri" panose="020F0502020204030204" pitchFamily="34" charset="0"/>
                        <a:ea typeface="Calibri" panose="020F0502020204030204" pitchFamily="34" charset="0"/>
                      </a:endParaRPr>
                    </a:p>
                  </a:txBody>
                  <a:tcPr marL="24365" marR="24365" marT="16243" marB="16243" anchor="ctr"/>
                </a:tc>
                <a:extLst>
                  <a:ext uri="{0D108BD9-81ED-4DB2-BD59-A6C34878D82A}">
                    <a16:rowId xmlns:a16="http://schemas.microsoft.com/office/drawing/2014/main" val="2469058671"/>
                  </a:ext>
                </a:extLst>
              </a:tr>
              <a:tr h="495000">
                <a:tc>
                  <a:txBody>
                    <a:bodyPr/>
                    <a:lstStyle/>
                    <a:p>
                      <a:pPr marL="0" marR="0" algn="just">
                        <a:lnSpc>
                          <a:spcPct val="150000"/>
                        </a:lnSpc>
                        <a:spcBef>
                          <a:spcPts val="0"/>
                        </a:spcBef>
                        <a:spcAft>
                          <a:spcPts val="0"/>
                        </a:spcAft>
                      </a:pPr>
                      <a:r>
                        <a:rPr lang="en-VN" sz="600">
                          <a:effectLst/>
                        </a:rPr>
                        <a:t>Badge số lượng trên icon giỏ hàng</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Feedback tức thì khi user thêm SP — Nielsen: Visibility of system status.</a:t>
                      </a:r>
                      <a:endParaRPr lang="en-VN" sz="500">
                        <a:effectLst/>
                        <a:latin typeface="Calibri" panose="020F0502020204030204" pitchFamily="34" charset="0"/>
                        <a:ea typeface="Calibri" panose="020F0502020204030204" pitchFamily="34" charset="0"/>
                      </a:endParaRPr>
                    </a:p>
                  </a:txBody>
                  <a:tcPr marL="24365" marR="24365" marT="16243" marB="16243" anchor="ctr"/>
                </a:tc>
                <a:tc>
                  <a:txBody>
                    <a:bodyPr/>
                    <a:lstStyle/>
                    <a:p>
                      <a:pPr marL="0" marR="0" algn="just">
                        <a:lnSpc>
                          <a:spcPct val="150000"/>
                        </a:lnSpc>
                        <a:spcBef>
                          <a:spcPts val="0"/>
                        </a:spcBef>
                        <a:spcAft>
                          <a:spcPts val="0"/>
                        </a:spcAft>
                      </a:pPr>
                      <a:r>
                        <a:rPr lang="en-VN" sz="600">
                          <a:effectLst/>
                        </a:rPr>
                        <a:t>Header wireframe 3.6.1 có badge "2" đỏ trên icon giỏ hàng.</a:t>
                      </a:r>
                      <a:endParaRPr lang="en-VN" sz="500">
                        <a:effectLst/>
                        <a:latin typeface="Calibri" panose="020F0502020204030204" pitchFamily="34" charset="0"/>
                        <a:ea typeface="Calibri" panose="020F0502020204030204" pitchFamily="34" charset="0"/>
                      </a:endParaRPr>
                    </a:p>
                  </a:txBody>
                  <a:tcPr marL="24365" marR="24365" marT="16243" marB="16243" anchor="ctr"/>
                </a:tc>
                <a:extLst>
                  <a:ext uri="{0D108BD9-81ED-4DB2-BD59-A6C34878D82A}">
                    <a16:rowId xmlns:a16="http://schemas.microsoft.com/office/drawing/2014/main" val="2999126722"/>
                  </a:ext>
                </a:extLst>
              </a:tr>
            </a:tbl>
          </a:graphicData>
        </a:graphic>
      </p:graphicFrame>
    </p:spTree>
    <p:extLst>
      <p:ext uri="{BB962C8B-B14F-4D97-AF65-F5344CB8AC3E}">
        <p14:creationId xmlns:p14="http://schemas.microsoft.com/office/powerpoint/2010/main" val="22253546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3.7</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Cơ sở và lý do lựa chọn thiết kế low-fi </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7" name="TextBox 6">
            <a:extLst>
              <a:ext uri="{FF2B5EF4-FFF2-40B4-BE49-F238E27FC236}">
                <a16:creationId xmlns:a16="http://schemas.microsoft.com/office/drawing/2014/main" id="{4E3C40FA-A665-7F3E-DBBA-A2E1B8CD56C6}"/>
              </a:ext>
            </a:extLst>
          </p:cNvPr>
          <p:cNvSpPr txBox="1"/>
          <p:nvPr/>
        </p:nvSpPr>
        <p:spPr>
          <a:xfrm>
            <a:off x="733371" y="1325089"/>
            <a:ext cx="6103256" cy="463397"/>
          </a:xfrm>
          <a:prstGeom prst="rect">
            <a:avLst/>
          </a:prstGeom>
          <a:noFill/>
        </p:spPr>
        <p:txBody>
          <a:bodyPr wrap="square">
            <a:spAutoFit/>
          </a:bodyPr>
          <a:lstStyle/>
          <a:p>
            <a:pPr marL="0" marR="0" algn="just">
              <a:lnSpc>
                <a:spcPct val="150000"/>
              </a:lnSpc>
              <a:spcBef>
                <a:spcPts val="1000"/>
              </a:spcBef>
              <a:spcAft>
                <a:spcPts val="0"/>
              </a:spcAft>
            </a:pPr>
            <a:r>
              <a:rPr lang="en-VN" sz="1800">
                <a:solidFill>
                  <a:srgbClr val="0F172A"/>
                </a:solidFill>
                <a:effectLst/>
                <a:latin typeface="Times New Roman" panose="02020603050405020304" pitchFamily="18" charset="0"/>
                <a:ea typeface="Calibri" panose="020F0502020204030204" pitchFamily="34" charset="0"/>
              </a:rPr>
              <a:t>Những đánh đổi (trade-offs) đã cân nhắc</a:t>
            </a:r>
            <a:r>
              <a:rPr lang="en-VN">
                <a:effectLst/>
              </a:rPr>
              <a:t> </a:t>
            </a:r>
            <a:endParaRPr lang="en-VN" sz="1600" b="1">
              <a:solidFill>
                <a:srgbClr val="334155"/>
              </a:solidFill>
              <a:effectLst/>
              <a:latin typeface="Calibri" panose="020F0502020204030204" pitchFamily="34" charset="0"/>
            </a:endParaRPr>
          </a:p>
        </p:txBody>
      </p:sp>
      <p:sp>
        <p:nvSpPr>
          <p:cNvPr id="4" name="TextBox 3">
            <a:extLst>
              <a:ext uri="{FF2B5EF4-FFF2-40B4-BE49-F238E27FC236}">
                <a16:creationId xmlns:a16="http://schemas.microsoft.com/office/drawing/2014/main" id="{49DFD709-108E-FBF2-E044-69F8325E32D3}"/>
              </a:ext>
            </a:extLst>
          </p:cNvPr>
          <p:cNvSpPr txBox="1"/>
          <p:nvPr/>
        </p:nvSpPr>
        <p:spPr>
          <a:xfrm>
            <a:off x="548640" y="1980236"/>
            <a:ext cx="11000232" cy="4651466"/>
          </a:xfrm>
          <a:prstGeom prst="rect">
            <a:avLst/>
          </a:prstGeom>
          <a:noFill/>
        </p:spPr>
        <p:txBody>
          <a:bodyPr wrap="square">
            <a:spAutoFit/>
          </a:bodyPr>
          <a:lstStyle/>
          <a:p>
            <a:pPr marL="254000" marR="0" indent="-127000" algn="just">
              <a:lnSpc>
                <a:spcPct val="150000"/>
              </a:lnSpc>
              <a:spcBef>
                <a:spcPts val="100"/>
              </a:spcBef>
              <a:spcAft>
                <a:spcPts val="0"/>
              </a:spcAft>
            </a:pPr>
            <a:r>
              <a:rPr lang="en-VN" b="1">
                <a:effectLst/>
                <a:latin typeface="Times New Roman" panose="02020603050405020304" pitchFamily="18" charset="0"/>
                <a:ea typeface="Calibri" panose="020F0502020204030204" pitchFamily="34" charset="0"/>
                <a:cs typeface="Times New Roman" panose="02020603050405020304" pitchFamily="18" charset="0"/>
              </a:rPr>
              <a:t>• Bố cục thoáng vs. mật độ thông tin:</a:t>
            </a:r>
            <a:r>
              <a:rPr lang="en-VN">
                <a:effectLst/>
                <a:latin typeface="Times New Roman" panose="02020603050405020304" pitchFamily="18" charset="0"/>
                <a:ea typeface="Calibri" panose="020F0502020204030204" pitchFamily="34" charset="0"/>
                <a:cs typeface="Times New Roman" panose="02020603050405020304" pitchFamily="18" charset="0"/>
              </a:rPr>
              <a:t> Chọn thoáng như ShopDunk (nhiều khoảng trắng) thay vì dày đặc như Thegioididong. Ưu tiên trải nghiệm sạch sẽ, chấp nhận user phải cuộn nhiều hơn. Với phạm vi cửa hàng nhỏ (~10-30 SP), cuộn không phải vấn đề lớn.</a:t>
            </a:r>
          </a:p>
          <a:p>
            <a:pPr marL="254000" marR="0" indent="-127000" algn="just">
              <a:lnSpc>
                <a:spcPct val="150000"/>
              </a:lnSpc>
              <a:spcBef>
                <a:spcPts val="100"/>
              </a:spcBef>
              <a:spcAft>
                <a:spcPts val="0"/>
              </a:spcAft>
            </a:pPr>
            <a:r>
              <a:rPr lang="en-VN" b="1">
                <a:effectLst/>
                <a:latin typeface="Times New Roman" panose="02020603050405020304" pitchFamily="18" charset="0"/>
                <a:ea typeface="Calibri" panose="020F0502020204030204" pitchFamily="34" charset="0"/>
                <a:cs typeface="Times New Roman" panose="02020603050405020304" pitchFamily="18" charset="0"/>
              </a:rPr>
              <a:t>• Guest checkout vs. bắt đăng ký:</a:t>
            </a:r>
            <a:r>
              <a:rPr lang="en-VN">
                <a:effectLst/>
                <a:latin typeface="Times New Roman" panose="02020603050405020304" pitchFamily="18" charset="0"/>
                <a:ea typeface="Calibri" panose="020F0502020204030204" pitchFamily="34" charset="0"/>
                <a:cs typeface="Times New Roman" panose="02020603050405020304" pitchFamily="18" charset="0"/>
              </a:rPr>
              <a:t> Cho phép guest checkout dù hy sinh khả năng "nhớ" user cho lần mua sau. Đổi lại tỉ lệ chuyển đổi cao hơn. Có thể thêm bước "tạo tài khoản?" SAU khi đặt hàng thành công như một tuỳ chọn.</a:t>
            </a:r>
          </a:p>
          <a:p>
            <a:pPr marL="254000" marR="0" indent="-127000" algn="just">
              <a:lnSpc>
                <a:spcPct val="150000"/>
              </a:lnSpc>
              <a:spcBef>
                <a:spcPts val="100"/>
              </a:spcBef>
              <a:spcAft>
                <a:spcPts val="0"/>
              </a:spcAft>
            </a:pPr>
            <a:r>
              <a:rPr lang="en-VN" b="1">
                <a:effectLst/>
                <a:latin typeface="Times New Roman" panose="02020603050405020304" pitchFamily="18" charset="0"/>
                <a:ea typeface="Calibri" panose="020F0502020204030204" pitchFamily="34" charset="0"/>
                <a:cs typeface="Times New Roman" panose="02020603050405020304" pitchFamily="18" charset="0"/>
              </a:rPr>
              <a:t>• Menu danh mục sticky vs. drop-down mega menu:</a:t>
            </a:r>
            <a:r>
              <a:rPr lang="en-VN">
                <a:effectLst/>
                <a:latin typeface="Times New Roman" panose="02020603050405020304" pitchFamily="18" charset="0"/>
                <a:ea typeface="Calibri" panose="020F0502020204030204" pitchFamily="34" charset="0"/>
                <a:cs typeface="Times New Roman" panose="02020603050405020304" pitchFamily="18" charset="0"/>
              </a:rPr>
              <a:t> Chọn nav ngang tĩnh với 4-5 danh mục chính thay vì mega menu nhiều cấp. Cửa hàng chỉ có 3 danh mục (Văn phòng / Gaming / MacBook), mega menu không cần thiết và làm tăng độ phức tạp.</a:t>
            </a:r>
          </a:p>
          <a:p>
            <a:pPr marL="254000" marR="0" indent="-127000" algn="just">
              <a:lnSpc>
                <a:spcPct val="150000"/>
              </a:lnSpc>
              <a:spcBef>
                <a:spcPts val="100"/>
              </a:spcBef>
              <a:spcAft>
                <a:spcPts val="0"/>
              </a:spcAft>
            </a:pPr>
            <a:r>
              <a:rPr lang="en-VN" b="1">
                <a:effectLst/>
                <a:latin typeface="Times New Roman" panose="02020603050405020304" pitchFamily="18" charset="0"/>
                <a:ea typeface="Calibri" panose="020F0502020204030204" pitchFamily="34" charset="0"/>
                <a:cs typeface="Times New Roman" panose="02020603050405020304" pitchFamily="18" charset="0"/>
              </a:rPr>
              <a:t>• Low-fi không có màu vs. có màu chức năng:</a:t>
            </a:r>
            <a:r>
              <a:rPr lang="en-VN">
                <a:effectLst/>
                <a:latin typeface="Times New Roman" panose="02020603050405020304" pitchFamily="18" charset="0"/>
                <a:ea typeface="Calibri" panose="020F0502020204030204" pitchFamily="34" charset="0"/>
                <a:cs typeface="Times New Roman" panose="02020603050405020304" pitchFamily="18" charset="0"/>
              </a:rPr>
              <a:t> Nhóm quyết định giữ một chút màu chức năng (đỏ cho giá KM/CTA chính, xanh cho trạng thái thành công) ngay ở low-fi để test được rằng hierarchy thị giác đã đúng — thay vì phải chờ đến hi-fi mới phát hiện.</a:t>
            </a:r>
          </a:p>
        </p:txBody>
      </p:sp>
    </p:spTree>
    <p:extLst>
      <p:ext uri="{BB962C8B-B14F-4D97-AF65-F5344CB8AC3E}">
        <p14:creationId xmlns:p14="http://schemas.microsoft.com/office/powerpoint/2010/main" val="35048081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ea typeface="Arial" pitchFamily="34" charset="-122"/>
                <a:cs typeface="Times New Roman" panose="02020603050405020304" pitchFamily="18" charset="0"/>
              </a:rPr>
              <a:t>3. CẤU TRÚC VÀ WIREFRAME (LOW-FI)</a:t>
            </a:r>
            <a:endParaRPr lang="en-US" sz="26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3.7</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Cơ sở và lý do lựa chọn thiết kế low-fi </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7" name="TextBox 6">
            <a:extLst>
              <a:ext uri="{FF2B5EF4-FFF2-40B4-BE49-F238E27FC236}">
                <a16:creationId xmlns:a16="http://schemas.microsoft.com/office/drawing/2014/main" id="{4E3C40FA-A665-7F3E-DBBA-A2E1B8CD56C6}"/>
              </a:ext>
            </a:extLst>
          </p:cNvPr>
          <p:cNvSpPr txBox="1"/>
          <p:nvPr/>
        </p:nvSpPr>
        <p:spPr>
          <a:xfrm>
            <a:off x="733371" y="1325089"/>
            <a:ext cx="6103256" cy="463397"/>
          </a:xfrm>
          <a:prstGeom prst="rect">
            <a:avLst/>
          </a:prstGeom>
          <a:noFill/>
        </p:spPr>
        <p:txBody>
          <a:bodyPr wrap="square">
            <a:spAutoFit/>
          </a:bodyPr>
          <a:lstStyle/>
          <a:p>
            <a:pPr marL="0" marR="0" algn="just">
              <a:lnSpc>
                <a:spcPct val="150000"/>
              </a:lnSpc>
              <a:spcBef>
                <a:spcPts val="1000"/>
              </a:spcBef>
              <a:spcAft>
                <a:spcPts val="0"/>
              </a:spcAft>
            </a:pPr>
            <a:r>
              <a:rPr lang="en-VN" sz="1800">
                <a:solidFill>
                  <a:srgbClr val="0F172A"/>
                </a:solidFill>
                <a:effectLst/>
                <a:latin typeface="Times New Roman" panose="02020603050405020304" pitchFamily="18" charset="0"/>
                <a:ea typeface="Calibri" panose="020F0502020204030204" pitchFamily="34" charset="0"/>
              </a:rPr>
              <a:t>Vấn đề dự kiến sẽ giải quyết ở hi-fi </a:t>
            </a:r>
            <a:endParaRPr lang="en-VN" sz="1600" b="1">
              <a:solidFill>
                <a:srgbClr val="334155"/>
              </a:solidFill>
              <a:effectLst/>
              <a:latin typeface="Calibri" panose="020F0502020204030204" pitchFamily="34" charset="0"/>
            </a:endParaRPr>
          </a:p>
        </p:txBody>
      </p:sp>
      <p:sp>
        <p:nvSpPr>
          <p:cNvPr id="4" name="TextBox 3">
            <a:extLst>
              <a:ext uri="{FF2B5EF4-FFF2-40B4-BE49-F238E27FC236}">
                <a16:creationId xmlns:a16="http://schemas.microsoft.com/office/drawing/2014/main" id="{49DFD709-108E-FBF2-E044-69F8325E32D3}"/>
              </a:ext>
            </a:extLst>
          </p:cNvPr>
          <p:cNvSpPr txBox="1"/>
          <p:nvPr/>
        </p:nvSpPr>
        <p:spPr>
          <a:xfrm>
            <a:off x="548640" y="1980236"/>
            <a:ext cx="11000232" cy="3164969"/>
          </a:xfrm>
          <a:prstGeom prst="rect">
            <a:avLst/>
          </a:prstGeom>
          <a:noFill/>
        </p:spPr>
        <p:txBody>
          <a:bodyPr wrap="square">
            <a:spAutoFit/>
          </a:bodyPr>
          <a:lstStyle/>
          <a:p>
            <a:pPr marL="254000" marR="0" indent="-127000" algn="just">
              <a:lnSpc>
                <a:spcPct val="150000"/>
              </a:lnSpc>
              <a:spcBef>
                <a:spcPts val="100"/>
              </a:spcBef>
              <a:spcAft>
                <a:spcPts val="0"/>
              </a:spcAft>
            </a:pPr>
            <a:r>
              <a:rPr lang="en-VN" sz="1800" b="1">
                <a:effectLst/>
                <a:latin typeface="Times New Roman" panose="02020603050405020304" pitchFamily="18" charset="0"/>
                <a:ea typeface="Calibri" panose="020F0502020204030204" pitchFamily="34" charset="0"/>
              </a:rPr>
              <a:t>• Hệ màu cụ thể:</a:t>
            </a:r>
            <a:r>
              <a:rPr lang="en-VN" sz="1800">
                <a:effectLst/>
                <a:latin typeface="Times New Roman" panose="02020603050405020304" pitchFamily="18" charset="0"/>
                <a:ea typeface="Calibri" panose="020F0502020204030204" pitchFamily="34" charset="0"/>
              </a:rPr>
              <a:t> Low-fi chỉ dùng đen-trắng-xám + 1 màu đỏ cho CTA. Hi-fi cần chọn primary color phù hợp với thương hiệu "Laptop Vui" (tông tươi trẻ, năng động).</a:t>
            </a:r>
            <a:endParaRPr lang="en-VN" sz="1800">
              <a:effectLst/>
              <a:latin typeface="Calibri" panose="020F0502020204030204" pitchFamily="34" charset="0"/>
              <a:ea typeface="Calibri" panose="020F0502020204030204" pitchFamily="34" charset="0"/>
            </a:endParaRPr>
          </a:p>
          <a:p>
            <a:pPr marL="254000" marR="0" indent="-127000" algn="just">
              <a:lnSpc>
                <a:spcPct val="150000"/>
              </a:lnSpc>
              <a:spcBef>
                <a:spcPts val="100"/>
              </a:spcBef>
              <a:spcAft>
                <a:spcPts val="0"/>
              </a:spcAft>
            </a:pPr>
            <a:r>
              <a:rPr lang="en-VN" sz="1800" b="1">
                <a:effectLst/>
                <a:latin typeface="Times New Roman" panose="02020603050405020304" pitchFamily="18" charset="0"/>
                <a:ea typeface="Calibri" panose="020F0502020204030204" pitchFamily="34" charset="0"/>
              </a:rPr>
              <a:t>• Font chữ Tiếng Việt:</a:t>
            </a:r>
            <a:r>
              <a:rPr lang="en-VN" sz="1800">
                <a:effectLst/>
                <a:latin typeface="Times New Roman" panose="02020603050405020304" pitchFamily="18" charset="0"/>
                <a:ea typeface="Calibri" panose="020F0502020204030204" pitchFamily="34" charset="0"/>
              </a:rPr>
              <a:t> Cần chọn font hỗ trợ tiếng Việt có dấu tốt, độ đọc cao cho cả header và body. Sẽ đánh giá Inter, Be Vietnam Pro, hoặc Roboto Vietnamese.</a:t>
            </a:r>
            <a:endParaRPr lang="en-VN" sz="1800">
              <a:effectLst/>
              <a:latin typeface="Calibri" panose="020F0502020204030204" pitchFamily="34" charset="0"/>
              <a:ea typeface="Calibri" panose="020F0502020204030204" pitchFamily="34" charset="0"/>
            </a:endParaRPr>
          </a:p>
          <a:p>
            <a:pPr marL="254000" marR="0" indent="-127000" algn="just">
              <a:lnSpc>
                <a:spcPct val="150000"/>
              </a:lnSpc>
              <a:spcBef>
                <a:spcPts val="100"/>
              </a:spcBef>
              <a:spcAft>
                <a:spcPts val="0"/>
              </a:spcAft>
            </a:pPr>
            <a:r>
              <a:rPr lang="en-VN" sz="1800" b="1">
                <a:effectLst/>
                <a:latin typeface="Times New Roman" panose="02020603050405020304" pitchFamily="18" charset="0"/>
                <a:ea typeface="Calibri" panose="020F0502020204030204" pitchFamily="34" charset="0"/>
              </a:rPr>
              <a:t>• Micro-interactions:</a:t>
            </a:r>
            <a:r>
              <a:rPr lang="en-VN" sz="1800">
                <a:effectLst/>
                <a:latin typeface="Times New Roman" panose="02020603050405020304" pitchFamily="18" charset="0"/>
                <a:ea typeface="Calibri" panose="020F0502020204030204" pitchFamily="34" charset="0"/>
              </a:rPr>
              <a:t> Hover state trên product card, animation khi thêm vào giỏ, feedback khi submit form — chưa thể hiện ở low-fi.</a:t>
            </a:r>
            <a:endParaRPr lang="en-VN" sz="1800">
              <a:effectLst/>
              <a:latin typeface="Calibri" panose="020F0502020204030204" pitchFamily="34" charset="0"/>
              <a:ea typeface="Calibri" panose="020F0502020204030204" pitchFamily="34" charset="0"/>
            </a:endParaRPr>
          </a:p>
          <a:p>
            <a:r>
              <a:rPr lang="en-VN" sz="1800" b="1">
                <a:effectLst/>
                <a:latin typeface="Times New Roman" panose="02020603050405020304" pitchFamily="18" charset="0"/>
                <a:ea typeface="Calibri" panose="020F0502020204030204" pitchFamily="34" charset="0"/>
              </a:rPr>
              <a:t>• Responsive breakpoints:</a:t>
            </a:r>
            <a:r>
              <a:rPr lang="en-VN" sz="1800">
                <a:effectLst/>
                <a:latin typeface="Times New Roman" panose="02020603050405020304" pitchFamily="18" charset="0"/>
                <a:ea typeface="Calibri" panose="020F0502020204030204" pitchFamily="34" charset="0"/>
              </a:rPr>
              <a:t> Low-fi chỉ vẽ ở kích thước desktop. Hi-fi phải chứng minh bố cục thay đổi hợp lý ở tablet (~768px) và mobile (~375px).</a:t>
            </a:r>
            <a:r>
              <a:rPr lang="en-VN">
                <a:effectLst/>
              </a:rPr>
              <a:t> </a:t>
            </a:r>
            <a:endParaRPr lang="en-VN">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512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4.1</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Design System - Hệ thống thiết kế  </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12" name="TextBox 11">
            <a:extLst>
              <a:ext uri="{FF2B5EF4-FFF2-40B4-BE49-F238E27FC236}">
                <a16:creationId xmlns:a16="http://schemas.microsoft.com/office/drawing/2014/main" id="{90472F70-1CE8-A77A-E922-9B535D33EF50}"/>
              </a:ext>
            </a:extLst>
          </p:cNvPr>
          <p:cNvSpPr txBox="1"/>
          <p:nvPr/>
        </p:nvSpPr>
        <p:spPr>
          <a:xfrm>
            <a:off x="461811" y="1087134"/>
            <a:ext cx="6103256" cy="463397"/>
          </a:xfrm>
          <a:prstGeom prst="rect">
            <a:avLst/>
          </a:prstGeom>
          <a:noFill/>
        </p:spPr>
        <p:txBody>
          <a:bodyPr wrap="square">
            <a:spAutoFit/>
          </a:bodyPr>
          <a:lstStyle/>
          <a:p>
            <a:pPr marL="0" marR="0" algn="just">
              <a:lnSpc>
                <a:spcPct val="150000"/>
              </a:lnSpc>
              <a:spcBef>
                <a:spcPts val="0"/>
              </a:spcBef>
              <a:spcAft>
                <a:spcPts val="0"/>
              </a:spcAft>
            </a:pPr>
            <a:r>
              <a:rPr lang="en-VN" sz="1800" b="1">
                <a:effectLst/>
                <a:latin typeface="Times New Roman" panose="02020603050405020304" pitchFamily="18" charset="0"/>
                <a:ea typeface="Calibri" panose="020F0502020204030204" pitchFamily="34" charset="0"/>
              </a:rPr>
              <a:t>Bảng màu (Color Palette):</a:t>
            </a:r>
            <a:endParaRPr lang="en-VN" sz="1400">
              <a:effectLst/>
              <a:latin typeface="Calibri" panose="020F0502020204030204" pitchFamily="34" charset="0"/>
              <a:ea typeface="Calibri" panose="020F0502020204030204" pitchFamily="34" charset="0"/>
            </a:endParaRPr>
          </a:p>
        </p:txBody>
      </p:sp>
      <p:graphicFrame>
        <p:nvGraphicFramePr>
          <p:cNvPr id="13" name="Table 12">
            <a:extLst>
              <a:ext uri="{FF2B5EF4-FFF2-40B4-BE49-F238E27FC236}">
                <a16:creationId xmlns:a16="http://schemas.microsoft.com/office/drawing/2014/main" id="{94327683-45EC-019A-0644-C4A013A94CAE}"/>
              </a:ext>
            </a:extLst>
          </p:cNvPr>
          <p:cNvGraphicFramePr>
            <a:graphicFrameLocks noGrp="1"/>
          </p:cNvGraphicFramePr>
          <p:nvPr>
            <p:extLst>
              <p:ext uri="{D42A27DB-BD31-4B8C-83A1-F6EECF244321}">
                <p14:modId xmlns:p14="http://schemas.microsoft.com/office/powerpoint/2010/main" val="88715766"/>
              </p:ext>
            </p:extLst>
          </p:nvPr>
        </p:nvGraphicFramePr>
        <p:xfrm>
          <a:off x="1146629" y="1654117"/>
          <a:ext cx="6465207" cy="3417907"/>
        </p:xfrm>
        <a:graphic>
          <a:graphicData uri="http://schemas.openxmlformats.org/drawingml/2006/table">
            <a:tbl>
              <a:tblPr>
                <a:tableStyleId>{5C22544A-7EE6-4342-B048-85BDC9FD1C3A}</a:tableStyleId>
              </a:tblPr>
              <a:tblGrid>
                <a:gridCol w="1876996">
                  <a:extLst>
                    <a:ext uri="{9D8B030D-6E8A-4147-A177-3AD203B41FA5}">
                      <a16:colId xmlns:a16="http://schemas.microsoft.com/office/drawing/2014/main" val="1623101560"/>
                    </a:ext>
                  </a:extLst>
                </a:gridCol>
                <a:gridCol w="1390367">
                  <a:extLst>
                    <a:ext uri="{9D8B030D-6E8A-4147-A177-3AD203B41FA5}">
                      <a16:colId xmlns:a16="http://schemas.microsoft.com/office/drawing/2014/main" val="3691862600"/>
                    </a:ext>
                  </a:extLst>
                </a:gridCol>
                <a:gridCol w="3197844">
                  <a:extLst>
                    <a:ext uri="{9D8B030D-6E8A-4147-A177-3AD203B41FA5}">
                      <a16:colId xmlns:a16="http://schemas.microsoft.com/office/drawing/2014/main" val="4079942990"/>
                    </a:ext>
                  </a:extLst>
                </a:gridCol>
              </a:tblGrid>
              <a:tr h="346387">
                <a:tc>
                  <a:txBody>
                    <a:bodyPr/>
                    <a:lstStyle/>
                    <a:p>
                      <a:pPr marL="0" marR="0" algn="ctr">
                        <a:lnSpc>
                          <a:spcPct val="150000"/>
                        </a:lnSpc>
                        <a:spcBef>
                          <a:spcPts val="0"/>
                        </a:spcBef>
                        <a:spcAft>
                          <a:spcPts val="0"/>
                        </a:spcAft>
                      </a:pPr>
                      <a:r>
                        <a:rPr lang="en-VN" sz="1300" b="1">
                          <a:effectLst/>
                        </a:rPr>
                        <a:t>Vai trò</a:t>
                      </a:r>
                      <a:endParaRPr lang="en-VN" sz="1100" b="1">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ctr">
                        <a:lnSpc>
                          <a:spcPct val="150000"/>
                        </a:lnSpc>
                        <a:spcBef>
                          <a:spcPts val="0"/>
                        </a:spcBef>
                        <a:spcAft>
                          <a:spcPts val="0"/>
                        </a:spcAft>
                      </a:pPr>
                      <a:r>
                        <a:rPr lang="en-VN" sz="1300" b="1">
                          <a:effectLst/>
                        </a:rPr>
                        <a:t>Mã màu</a:t>
                      </a:r>
                      <a:endParaRPr lang="en-VN" sz="1100" b="1">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ctr">
                        <a:lnSpc>
                          <a:spcPct val="150000"/>
                        </a:lnSpc>
                        <a:spcBef>
                          <a:spcPts val="0"/>
                        </a:spcBef>
                        <a:spcAft>
                          <a:spcPts val="0"/>
                        </a:spcAft>
                      </a:pPr>
                      <a:r>
                        <a:rPr lang="en-VN" sz="1300" b="1">
                          <a:effectLst/>
                        </a:rPr>
                        <a:t>Sử dụng</a:t>
                      </a:r>
                      <a:endParaRPr lang="en-VN" sz="1100" b="1">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31829921"/>
                  </a:ext>
                </a:extLst>
              </a:tr>
              <a:tr h="646811">
                <a:tc>
                  <a:txBody>
                    <a:bodyPr/>
                    <a:lstStyle/>
                    <a:p>
                      <a:pPr marL="0" marR="0" algn="just">
                        <a:lnSpc>
                          <a:spcPct val="150000"/>
                        </a:lnSpc>
                        <a:spcBef>
                          <a:spcPts val="0"/>
                        </a:spcBef>
                        <a:spcAft>
                          <a:spcPts val="0"/>
                        </a:spcAft>
                      </a:pPr>
                      <a:r>
                        <a:rPr lang="en-VN" sz="1300">
                          <a:effectLst/>
                        </a:rPr>
                        <a:t>Primary (Xanh dương)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#0d6efd</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Nút chính (CTA), link, badge nổi bật, header admin</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43466281"/>
                  </a:ext>
                </a:extLst>
              </a:tr>
              <a:tr h="346387">
                <a:tc>
                  <a:txBody>
                    <a:bodyPr/>
                    <a:lstStyle/>
                    <a:p>
                      <a:pPr marL="0" marR="0" algn="just">
                        <a:lnSpc>
                          <a:spcPct val="150000"/>
                        </a:lnSpc>
                        <a:spcBef>
                          <a:spcPts val="0"/>
                        </a:spcBef>
                        <a:spcAft>
                          <a:spcPts val="0"/>
                        </a:spcAft>
                      </a:pPr>
                      <a:r>
                        <a:rPr lang="en-VN" sz="1300">
                          <a:effectLst/>
                        </a:rPr>
                        <a:t>Danger (Đỏ)</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#dc3545</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Giá khuyến mãi, nút xoá, thông báo lỗi</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1670064114"/>
                  </a:ext>
                </a:extLst>
              </a:tr>
              <a:tr h="346387">
                <a:tc>
                  <a:txBody>
                    <a:bodyPr/>
                    <a:lstStyle/>
                    <a:p>
                      <a:pPr marL="0" marR="0" algn="just">
                        <a:lnSpc>
                          <a:spcPct val="150000"/>
                        </a:lnSpc>
                        <a:spcBef>
                          <a:spcPts val="0"/>
                        </a:spcBef>
                        <a:spcAft>
                          <a:spcPts val="0"/>
                        </a:spcAft>
                      </a:pPr>
                      <a:r>
                        <a:rPr lang="en-VN" sz="1300">
                          <a:effectLst/>
                        </a:rPr>
                        <a:t>Success (Xanh lá)</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#198754</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Thông báo thành công, badge "Còn hàng"</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654308870"/>
                  </a:ext>
                </a:extLst>
              </a:tr>
              <a:tr h="346387">
                <a:tc>
                  <a:txBody>
                    <a:bodyPr/>
                    <a:lstStyle/>
                    <a:p>
                      <a:pPr marL="0" marR="0" algn="just">
                        <a:lnSpc>
                          <a:spcPct val="150000"/>
                        </a:lnSpc>
                        <a:spcBef>
                          <a:spcPts val="0"/>
                        </a:spcBef>
                        <a:spcAft>
                          <a:spcPts val="0"/>
                        </a:spcAft>
                      </a:pPr>
                      <a:r>
                        <a:rPr lang="en-VN" sz="1300">
                          <a:effectLst/>
                        </a:rPr>
                        <a:t>Warning (Vàng cam)</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#ffc107</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Cảnh báo, badge "Đang giảm giá"</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138021265"/>
                  </a:ext>
                </a:extLst>
              </a:tr>
              <a:tr h="346387">
                <a:tc>
                  <a:txBody>
                    <a:bodyPr/>
                    <a:lstStyle/>
                    <a:p>
                      <a:pPr marL="0" marR="0" algn="just">
                        <a:lnSpc>
                          <a:spcPct val="150000"/>
                        </a:lnSpc>
                        <a:spcBef>
                          <a:spcPts val="0"/>
                        </a:spcBef>
                        <a:spcAft>
                          <a:spcPts val="0"/>
                        </a:spcAft>
                      </a:pPr>
                      <a:r>
                        <a:rPr lang="en-VN" sz="1300">
                          <a:effectLst/>
                        </a:rPr>
                        <a:t>Dark (Đen)</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#0f172a</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Header bar, sidebar admin, text chính</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105027782"/>
                  </a:ext>
                </a:extLst>
              </a:tr>
              <a:tr h="346387">
                <a:tc>
                  <a:txBody>
                    <a:bodyPr/>
                    <a:lstStyle/>
                    <a:p>
                      <a:pPr marL="0" marR="0" algn="just">
                        <a:lnSpc>
                          <a:spcPct val="150000"/>
                        </a:lnSpc>
                        <a:spcBef>
                          <a:spcPts val="0"/>
                        </a:spcBef>
                        <a:spcAft>
                          <a:spcPts val="0"/>
                        </a:spcAft>
                      </a:pPr>
                      <a:r>
                        <a:rPr lang="en-VN" sz="1300">
                          <a:effectLst/>
                        </a:rPr>
                        <a:t>Muted (Xám)</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#64748b</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Text phụ, breadcrumb, placeholder</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2399178878"/>
                  </a:ext>
                </a:extLst>
              </a:tr>
              <a:tr h="346387">
                <a:tc>
                  <a:txBody>
                    <a:bodyPr/>
                    <a:lstStyle/>
                    <a:p>
                      <a:pPr marL="0" marR="0" algn="just">
                        <a:lnSpc>
                          <a:spcPct val="150000"/>
                        </a:lnSpc>
                        <a:spcBef>
                          <a:spcPts val="0"/>
                        </a:spcBef>
                        <a:spcAft>
                          <a:spcPts val="0"/>
                        </a:spcAft>
                      </a:pPr>
                      <a:r>
                        <a:rPr lang="en-VN" sz="1300">
                          <a:effectLst/>
                        </a:rPr>
                        <a:t>Background</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#f8f9fa / #ffffff</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Nền trang, card sản phẩm</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677808468"/>
                  </a:ext>
                </a:extLst>
              </a:tr>
              <a:tr h="346387">
                <a:tc>
                  <a:txBody>
                    <a:bodyPr/>
                    <a:lstStyle/>
                    <a:p>
                      <a:pPr marL="0" marR="0" algn="just">
                        <a:lnSpc>
                          <a:spcPct val="150000"/>
                        </a:lnSpc>
                        <a:spcBef>
                          <a:spcPts val="0"/>
                        </a:spcBef>
                        <a:spcAft>
                          <a:spcPts val="0"/>
                        </a:spcAft>
                      </a:pPr>
                      <a:r>
                        <a:rPr lang="en-VN" sz="1300">
                          <a:effectLst/>
                        </a:rPr>
                        <a:t>Border</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#dee2e6</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Viền input, table divider</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2041798982"/>
                  </a:ext>
                </a:extLst>
              </a:tr>
            </a:tbl>
          </a:graphicData>
        </a:graphic>
      </p:graphicFrame>
    </p:spTree>
    <p:extLst>
      <p:ext uri="{BB962C8B-B14F-4D97-AF65-F5344CB8AC3E}">
        <p14:creationId xmlns:p14="http://schemas.microsoft.com/office/powerpoint/2010/main" val="6307044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4.1</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Design System - Hệ thống thiết kế  </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15" name="TextBox 14">
            <a:extLst>
              <a:ext uri="{FF2B5EF4-FFF2-40B4-BE49-F238E27FC236}">
                <a16:creationId xmlns:a16="http://schemas.microsoft.com/office/drawing/2014/main" id="{A0F07ABE-D564-97FB-4114-97FCFCAE2CA5}"/>
              </a:ext>
            </a:extLst>
          </p:cNvPr>
          <p:cNvSpPr txBox="1"/>
          <p:nvPr/>
        </p:nvSpPr>
        <p:spPr>
          <a:xfrm>
            <a:off x="733371" y="1043154"/>
            <a:ext cx="6103256" cy="4771691"/>
          </a:xfrm>
          <a:prstGeom prst="rect">
            <a:avLst/>
          </a:prstGeom>
          <a:noFill/>
        </p:spPr>
        <p:txBody>
          <a:bodyPr wrap="square">
            <a:spAutoFit/>
          </a:bodyPr>
          <a:lstStyle/>
          <a:p>
            <a:pPr marL="0" marR="0" algn="just">
              <a:lnSpc>
                <a:spcPct val="150000"/>
              </a:lnSpc>
              <a:spcBef>
                <a:spcPts val="0"/>
              </a:spcBef>
              <a:spcAft>
                <a:spcPts val="0"/>
              </a:spcAft>
            </a:pPr>
            <a:r>
              <a:rPr lang="en-VN" sz="1200" b="1">
                <a:effectLst/>
                <a:latin typeface="Times New Roman" panose="02020603050405020304" pitchFamily="18" charset="0"/>
                <a:ea typeface="Calibri" panose="020F0502020204030204" pitchFamily="34" charset="0"/>
              </a:rPr>
              <a:t>Typography:</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Font family: Bootstrap default system fonts (San Francisco trên iOS/macOS, Segoe UI trên Windows, Roboto trên Android)</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Heading (H1): 2rem, bold - dùng cho tiêu đề trang chính</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Heading (H2): 1.5rem, bold - dùng cho section title</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Body: 1rem (16px), regular - text chính</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Small: 0.875rem - meta info, timestamp</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Price display: 1.5rem, bold, màu danger nếu có KM</a:t>
            </a:r>
            <a:endParaRPr lang="en-VN" sz="1200">
              <a:effectLst/>
              <a:latin typeface="Calibri" panose="020F0502020204030204" pitchFamily="34" charset="0"/>
              <a:ea typeface="Calibri" panose="020F0502020204030204" pitchFamily="34" charset="0"/>
            </a:endParaRPr>
          </a:p>
          <a:p>
            <a:pPr marL="0" marR="0" algn="just">
              <a:lnSpc>
                <a:spcPct val="150000"/>
              </a:lnSpc>
              <a:spcBef>
                <a:spcPts val="0"/>
              </a:spcBef>
              <a:spcAft>
                <a:spcPts val="0"/>
              </a:spcAft>
            </a:pPr>
            <a:r>
              <a:rPr lang="en-VN" sz="1200" b="1">
                <a:effectLst/>
                <a:latin typeface="Times New Roman" panose="02020603050405020304" pitchFamily="18" charset="0"/>
                <a:ea typeface="Calibri" panose="020F0502020204030204" pitchFamily="34" charset="0"/>
              </a:rPr>
              <a:t>Spacing &amp; Layout:</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Grid: Bootstrap 12-column, gutter 24px</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Container: max-width 1140px trên desktop, full-width trên mobile</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Border radius: 0.5rem cho card, button; 0.25rem cho input</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Shadow: box-shadow nhẹ (0 2px 4px rgba(0,0,0,0.05)) cho card sản phẩm</a:t>
            </a:r>
            <a:endParaRPr lang="en-VN" sz="1200">
              <a:effectLst/>
              <a:latin typeface="Calibri" panose="020F0502020204030204" pitchFamily="34" charset="0"/>
              <a:ea typeface="Calibri" panose="020F0502020204030204" pitchFamily="34" charset="0"/>
            </a:endParaRPr>
          </a:p>
          <a:p>
            <a:pPr marL="0" marR="0" algn="just">
              <a:lnSpc>
                <a:spcPct val="150000"/>
              </a:lnSpc>
              <a:spcBef>
                <a:spcPts val="0"/>
              </a:spcBef>
              <a:spcAft>
                <a:spcPts val="0"/>
              </a:spcAft>
            </a:pPr>
            <a:r>
              <a:rPr lang="en-VN" sz="1200" b="1">
                <a:effectLst/>
                <a:latin typeface="Times New Roman" panose="02020603050405020304" pitchFamily="18" charset="0"/>
                <a:ea typeface="Calibri" panose="020F0502020204030204" pitchFamily="34" charset="0"/>
              </a:rPr>
              <a:t>Icons:</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Bootstrap Icons v1.11 (bi-*): bi-cart, bi-laptop, bi-search, bi-person-circle, bi-eye, bi-heart, bi-trash</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Icon size mặc định: 1rem trong nav, 1.5rem trong hero</a:t>
            </a:r>
            <a:endParaRPr lang="en-VN" sz="12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798880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4.2</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Giao diện web/desktop</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15" name="TextBox 14">
            <a:extLst>
              <a:ext uri="{FF2B5EF4-FFF2-40B4-BE49-F238E27FC236}">
                <a16:creationId xmlns:a16="http://schemas.microsoft.com/office/drawing/2014/main" id="{A0F07ABE-D564-97FB-4114-97FCFCAE2CA5}"/>
              </a:ext>
            </a:extLst>
          </p:cNvPr>
          <p:cNvSpPr txBox="1"/>
          <p:nvPr/>
        </p:nvSpPr>
        <p:spPr>
          <a:xfrm>
            <a:off x="733371" y="1043154"/>
            <a:ext cx="6103256" cy="498663"/>
          </a:xfrm>
          <a:prstGeom prst="rect">
            <a:avLst/>
          </a:prstGeom>
          <a:noFill/>
        </p:spPr>
        <p:txBody>
          <a:bodyPr wrap="square">
            <a:spAutoFit/>
          </a:bodyPr>
          <a:lstStyle/>
          <a:p>
            <a:pPr marL="0" marR="0" algn="just">
              <a:lnSpc>
                <a:spcPct val="150000"/>
              </a:lnSpc>
              <a:spcBef>
                <a:spcPts val="0"/>
              </a:spcBef>
              <a:spcAft>
                <a:spcPts val="0"/>
              </a:spcAft>
            </a:pPr>
            <a:r>
              <a:rPr lang="en-VN" sz="2000">
                <a:effectLst/>
                <a:latin typeface="Times New Roman" panose="02020603050405020304" pitchFamily="18" charset="0"/>
                <a:ea typeface="Calibri" panose="020F0502020204030204" pitchFamily="34" charset="0"/>
                <a:cs typeface="Times New Roman" panose="02020603050405020304" pitchFamily="18" charset="0"/>
              </a:rPr>
              <a:t>Trang chủ</a:t>
            </a:r>
          </a:p>
        </p:txBody>
      </p:sp>
      <p:pic>
        <p:nvPicPr>
          <p:cNvPr id="3" name="Picture 2">
            <a:extLst>
              <a:ext uri="{FF2B5EF4-FFF2-40B4-BE49-F238E27FC236}">
                <a16:creationId xmlns:a16="http://schemas.microsoft.com/office/drawing/2014/main" id="{675FE906-64D7-7626-8DF5-15DEF3E3FBB6}"/>
              </a:ext>
            </a:extLst>
          </p:cNvPr>
          <p:cNvPicPr>
            <a:picLocks noChangeAspect="1"/>
          </p:cNvPicPr>
          <p:nvPr/>
        </p:nvPicPr>
        <p:blipFill>
          <a:blip r:embed="rId3"/>
          <a:srcRect/>
          <a:stretch>
            <a:fillRect/>
          </a:stretch>
        </p:blipFill>
        <p:spPr bwMode="auto">
          <a:xfrm>
            <a:off x="2656115" y="1220677"/>
            <a:ext cx="7247753" cy="5637323"/>
          </a:xfrm>
          <a:prstGeom prst="rect">
            <a:avLst/>
          </a:prstGeom>
        </p:spPr>
      </p:pic>
    </p:spTree>
    <p:extLst>
      <p:ext uri="{BB962C8B-B14F-4D97-AF65-F5344CB8AC3E}">
        <p14:creationId xmlns:p14="http://schemas.microsoft.com/office/powerpoint/2010/main" val="839631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4.2</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Giao diện web/desktop</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15" name="TextBox 14">
            <a:extLst>
              <a:ext uri="{FF2B5EF4-FFF2-40B4-BE49-F238E27FC236}">
                <a16:creationId xmlns:a16="http://schemas.microsoft.com/office/drawing/2014/main" id="{A0F07ABE-D564-97FB-4114-97FCFCAE2CA5}"/>
              </a:ext>
            </a:extLst>
          </p:cNvPr>
          <p:cNvSpPr txBox="1"/>
          <p:nvPr/>
        </p:nvSpPr>
        <p:spPr>
          <a:xfrm>
            <a:off x="461811" y="1058125"/>
            <a:ext cx="6103256" cy="504625"/>
          </a:xfrm>
          <a:prstGeom prst="rect">
            <a:avLst/>
          </a:prstGeom>
          <a:noFill/>
        </p:spPr>
        <p:txBody>
          <a:bodyPr wrap="square">
            <a:spAutoFit/>
          </a:bodyPr>
          <a:lstStyle/>
          <a:p>
            <a:pPr marL="0" marR="0" algn="just">
              <a:lnSpc>
                <a:spcPct val="150000"/>
              </a:lnSpc>
              <a:spcBef>
                <a:spcPts val="0"/>
              </a:spcBef>
              <a:spcAft>
                <a:spcPts val="0"/>
              </a:spcAft>
            </a:pPr>
            <a:r>
              <a:rPr lang="en-VN" sz="1800">
                <a:solidFill>
                  <a:srgbClr val="0F172A"/>
                </a:solidFill>
                <a:effectLst/>
                <a:latin typeface="Times New Roman" panose="02020603050405020304" pitchFamily="18" charset="0"/>
                <a:ea typeface="Calibri" panose="020F0502020204030204" pitchFamily="34" charset="0"/>
              </a:rPr>
              <a:t>Trang chi tiết sản phẩm</a:t>
            </a:r>
            <a:r>
              <a:rPr lang="en-VN" sz="2000">
                <a:effectLst/>
              </a:rPr>
              <a:t> </a:t>
            </a:r>
            <a:endParaRPr lang="en-VN" sz="200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CFC240E-5EAB-BE32-2EA2-3364EA524226}"/>
              </a:ext>
            </a:extLst>
          </p:cNvPr>
          <p:cNvPicPr>
            <a:picLocks noChangeAspect="1"/>
          </p:cNvPicPr>
          <p:nvPr/>
        </p:nvPicPr>
        <p:blipFill>
          <a:blip r:embed="rId3"/>
          <a:srcRect/>
          <a:stretch>
            <a:fillRect/>
          </a:stretch>
        </p:blipFill>
        <p:spPr bwMode="auto">
          <a:xfrm>
            <a:off x="3143250" y="1624647"/>
            <a:ext cx="5905500" cy="3608705"/>
          </a:xfrm>
          <a:prstGeom prst="rect">
            <a:avLst/>
          </a:prstGeom>
        </p:spPr>
      </p:pic>
    </p:spTree>
    <p:extLst>
      <p:ext uri="{BB962C8B-B14F-4D97-AF65-F5344CB8AC3E}">
        <p14:creationId xmlns:p14="http://schemas.microsoft.com/office/powerpoint/2010/main" val="32076692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4.2</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Giao diện web/desktop</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15" name="TextBox 14">
            <a:extLst>
              <a:ext uri="{FF2B5EF4-FFF2-40B4-BE49-F238E27FC236}">
                <a16:creationId xmlns:a16="http://schemas.microsoft.com/office/drawing/2014/main" id="{A0F07ABE-D564-97FB-4114-97FCFCAE2CA5}"/>
              </a:ext>
            </a:extLst>
          </p:cNvPr>
          <p:cNvSpPr txBox="1"/>
          <p:nvPr/>
        </p:nvSpPr>
        <p:spPr>
          <a:xfrm>
            <a:off x="461811" y="1058125"/>
            <a:ext cx="6103256" cy="458011"/>
          </a:xfrm>
          <a:prstGeom prst="rect">
            <a:avLst/>
          </a:prstGeom>
          <a:noFill/>
        </p:spPr>
        <p:txBody>
          <a:bodyPr wrap="square">
            <a:spAutoFit/>
          </a:bodyPr>
          <a:lstStyle/>
          <a:p>
            <a:pPr marL="0" marR="0" algn="just">
              <a:lnSpc>
                <a:spcPct val="150000"/>
              </a:lnSpc>
              <a:spcBef>
                <a:spcPts val="0"/>
              </a:spcBef>
              <a:spcAft>
                <a:spcPts val="0"/>
              </a:spcAft>
            </a:pPr>
            <a:r>
              <a:rPr lang="en-VN" sz="1800">
                <a:solidFill>
                  <a:srgbClr val="0F172A"/>
                </a:solidFill>
                <a:effectLst/>
                <a:latin typeface="Times New Roman" panose="02020603050405020304" pitchFamily="18" charset="0"/>
                <a:ea typeface="Calibri" panose="020F0502020204030204" pitchFamily="34" charset="0"/>
              </a:rPr>
              <a:t>Giỏ hàng</a:t>
            </a:r>
            <a:endParaRPr lang="en-VN" sz="200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14CD9223-85CA-0C8A-AC11-6A3DF54F14B7}"/>
              </a:ext>
            </a:extLst>
          </p:cNvPr>
          <p:cNvPicPr>
            <a:picLocks noChangeAspect="1"/>
          </p:cNvPicPr>
          <p:nvPr/>
        </p:nvPicPr>
        <p:blipFill>
          <a:blip r:embed="rId3"/>
          <a:srcRect/>
          <a:stretch>
            <a:fillRect/>
          </a:stretch>
        </p:blipFill>
        <p:spPr bwMode="auto">
          <a:xfrm>
            <a:off x="3143250" y="1788795"/>
            <a:ext cx="5905500" cy="3280410"/>
          </a:xfrm>
          <a:prstGeom prst="rect">
            <a:avLst/>
          </a:prstGeom>
        </p:spPr>
      </p:pic>
    </p:spTree>
    <p:extLst>
      <p:ext uri="{BB962C8B-B14F-4D97-AF65-F5344CB8AC3E}">
        <p14:creationId xmlns:p14="http://schemas.microsoft.com/office/powerpoint/2010/main" val="1493930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4.2</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Giao diện web/desktop</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7" name="TextBox 6">
            <a:extLst>
              <a:ext uri="{FF2B5EF4-FFF2-40B4-BE49-F238E27FC236}">
                <a16:creationId xmlns:a16="http://schemas.microsoft.com/office/drawing/2014/main" id="{F19CBC15-AD25-5FBD-EF58-5847F610D996}"/>
              </a:ext>
            </a:extLst>
          </p:cNvPr>
          <p:cNvSpPr txBox="1"/>
          <p:nvPr/>
        </p:nvSpPr>
        <p:spPr>
          <a:xfrm>
            <a:off x="643128" y="1372122"/>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Thanh toán</a:t>
            </a:r>
            <a:r>
              <a:rPr lang="en-VN">
                <a:effectLst/>
              </a:rPr>
              <a:t> </a:t>
            </a:r>
            <a:endParaRPr lang="en-VN"/>
          </a:p>
        </p:txBody>
      </p:sp>
      <p:pic>
        <p:nvPicPr>
          <p:cNvPr id="8" name="Picture 7">
            <a:extLst>
              <a:ext uri="{FF2B5EF4-FFF2-40B4-BE49-F238E27FC236}">
                <a16:creationId xmlns:a16="http://schemas.microsoft.com/office/drawing/2014/main" id="{D3F3C990-8C40-31A4-8FF2-9BAAC0199DFB}"/>
              </a:ext>
            </a:extLst>
          </p:cNvPr>
          <p:cNvPicPr>
            <a:picLocks noChangeAspect="1"/>
          </p:cNvPicPr>
          <p:nvPr/>
        </p:nvPicPr>
        <p:blipFill>
          <a:blip r:embed="rId3"/>
          <a:srcRect/>
          <a:stretch>
            <a:fillRect/>
          </a:stretch>
        </p:blipFill>
        <p:spPr bwMode="auto">
          <a:xfrm>
            <a:off x="3143249" y="1723072"/>
            <a:ext cx="6926257" cy="4001589"/>
          </a:xfrm>
          <a:prstGeom prst="rect">
            <a:avLst/>
          </a:prstGeom>
        </p:spPr>
      </p:pic>
    </p:spTree>
    <p:extLst>
      <p:ext uri="{BB962C8B-B14F-4D97-AF65-F5344CB8AC3E}">
        <p14:creationId xmlns:p14="http://schemas.microsoft.com/office/powerpoint/2010/main" val="15996452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520152"/>
            <a:ext cx="11000232" cy="1133965"/>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4.2</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Giao diện web/desktop</a:t>
            </a:r>
          </a:p>
          <a:p>
            <a:pPr>
              <a:lnSpc>
                <a:spcPct val="150000"/>
              </a:lnSpc>
            </a:pP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7" name="TextBox 6">
            <a:extLst>
              <a:ext uri="{FF2B5EF4-FFF2-40B4-BE49-F238E27FC236}">
                <a16:creationId xmlns:a16="http://schemas.microsoft.com/office/drawing/2014/main" id="{F19CBC15-AD25-5FBD-EF58-5847F610D996}"/>
              </a:ext>
            </a:extLst>
          </p:cNvPr>
          <p:cNvSpPr txBox="1"/>
          <p:nvPr/>
        </p:nvSpPr>
        <p:spPr>
          <a:xfrm>
            <a:off x="643128" y="1372122"/>
            <a:ext cx="6103256" cy="369332"/>
          </a:xfrm>
          <a:prstGeom prst="rect">
            <a:avLst/>
          </a:prstGeom>
          <a:noFill/>
        </p:spPr>
        <p:txBody>
          <a:bodyPr wrap="square">
            <a:spAutoFit/>
          </a:bodyPr>
          <a:lstStyle/>
          <a:p>
            <a:r>
              <a:rPr lang="en-VN"/>
              <a:t>Đăng nhập/đăng ký</a:t>
            </a:r>
          </a:p>
        </p:txBody>
      </p:sp>
      <p:pic>
        <p:nvPicPr>
          <p:cNvPr id="3" name="Picture 2">
            <a:extLst>
              <a:ext uri="{FF2B5EF4-FFF2-40B4-BE49-F238E27FC236}">
                <a16:creationId xmlns:a16="http://schemas.microsoft.com/office/drawing/2014/main" id="{0DF5BE48-9C22-AA18-9F05-483470BDC768}"/>
              </a:ext>
            </a:extLst>
          </p:cNvPr>
          <p:cNvPicPr>
            <a:picLocks noChangeAspect="1"/>
          </p:cNvPicPr>
          <p:nvPr/>
        </p:nvPicPr>
        <p:blipFill>
          <a:blip r:embed="rId3"/>
          <a:srcRect/>
          <a:stretch>
            <a:fillRect/>
          </a:stretch>
        </p:blipFill>
        <p:spPr bwMode="auto">
          <a:xfrm>
            <a:off x="3143250" y="1919922"/>
            <a:ext cx="5905500" cy="3018155"/>
          </a:xfrm>
          <a:prstGeom prst="rect">
            <a:avLst/>
          </a:prstGeom>
        </p:spPr>
      </p:pic>
    </p:spTree>
    <p:extLst>
      <p:ext uri="{BB962C8B-B14F-4D97-AF65-F5344CB8AC3E}">
        <p14:creationId xmlns:p14="http://schemas.microsoft.com/office/powerpoint/2010/main" val="20675267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731520" y="566356"/>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4.3</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Giao diện admin</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8" name="TextBox 7">
            <a:extLst>
              <a:ext uri="{FF2B5EF4-FFF2-40B4-BE49-F238E27FC236}">
                <a16:creationId xmlns:a16="http://schemas.microsoft.com/office/drawing/2014/main" id="{16B1990C-A5DB-25C3-338E-17BB9938AFED}"/>
              </a:ext>
            </a:extLst>
          </p:cNvPr>
          <p:cNvSpPr txBox="1"/>
          <p:nvPr/>
        </p:nvSpPr>
        <p:spPr>
          <a:xfrm>
            <a:off x="918029" y="1329687"/>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Bảng điều khiển (Dashboard)</a:t>
            </a:r>
            <a:r>
              <a:rPr lang="en-VN">
                <a:effectLst/>
              </a:rPr>
              <a:t> </a:t>
            </a:r>
            <a:endParaRPr lang="en-VN"/>
          </a:p>
        </p:txBody>
      </p:sp>
      <p:pic>
        <p:nvPicPr>
          <p:cNvPr id="9" name="Picture 8">
            <a:extLst>
              <a:ext uri="{FF2B5EF4-FFF2-40B4-BE49-F238E27FC236}">
                <a16:creationId xmlns:a16="http://schemas.microsoft.com/office/drawing/2014/main" id="{3A1675EF-F90B-A3A4-4385-9CC16CE956CF}"/>
              </a:ext>
            </a:extLst>
          </p:cNvPr>
          <p:cNvPicPr>
            <a:picLocks noChangeAspect="1"/>
          </p:cNvPicPr>
          <p:nvPr/>
        </p:nvPicPr>
        <p:blipFill>
          <a:blip r:embed="rId3"/>
          <a:srcRect/>
          <a:stretch>
            <a:fillRect/>
          </a:stretch>
        </p:blipFill>
        <p:spPr bwMode="auto">
          <a:xfrm>
            <a:off x="4068535" y="1514353"/>
            <a:ext cx="5905500" cy="4067810"/>
          </a:xfrm>
          <a:prstGeom prst="rect">
            <a:avLst/>
          </a:prstGeom>
        </p:spPr>
      </p:pic>
    </p:spTree>
    <p:extLst>
      <p:ext uri="{BB962C8B-B14F-4D97-AF65-F5344CB8AC3E}">
        <p14:creationId xmlns:p14="http://schemas.microsoft.com/office/powerpoint/2010/main" val="2913460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731520" y="566356"/>
            <a:ext cx="11000232" cy="579967"/>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4.3</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Giao diện admin</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733371" y="1133339"/>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sp>
        <p:nvSpPr>
          <p:cNvPr id="8" name="TextBox 7">
            <a:extLst>
              <a:ext uri="{FF2B5EF4-FFF2-40B4-BE49-F238E27FC236}">
                <a16:creationId xmlns:a16="http://schemas.microsoft.com/office/drawing/2014/main" id="{16B1990C-A5DB-25C3-338E-17BB9938AFED}"/>
              </a:ext>
            </a:extLst>
          </p:cNvPr>
          <p:cNvSpPr txBox="1"/>
          <p:nvPr/>
        </p:nvSpPr>
        <p:spPr>
          <a:xfrm>
            <a:off x="918029" y="1329687"/>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Form thêm/sửa sản phẩm</a:t>
            </a:r>
            <a:r>
              <a:rPr lang="en-VN">
                <a:effectLst/>
              </a:rPr>
              <a:t> </a:t>
            </a:r>
            <a:endParaRPr lang="en-VN"/>
          </a:p>
        </p:txBody>
      </p:sp>
      <p:pic>
        <p:nvPicPr>
          <p:cNvPr id="3" name="Picture 2">
            <a:extLst>
              <a:ext uri="{FF2B5EF4-FFF2-40B4-BE49-F238E27FC236}">
                <a16:creationId xmlns:a16="http://schemas.microsoft.com/office/drawing/2014/main" id="{67285832-F8ED-CF58-85FC-766C254E54CA}"/>
              </a:ext>
            </a:extLst>
          </p:cNvPr>
          <p:cNvPicPr>
            <a:picLocks noChangeAspect="1"/>
          </p:cNvPicPr>
          <p:nvPr/>
        </p:nvPicPr>
        <p:blipFill>
          <a:blip r:embed="rId3"/>
          <a:srcRect/>
          <a:stretch>
            <a:fillRect/>
          </a:stretch>
        </p:blipFill>
        <p:spPr bwMode="auto">
          <a:xfrm>
            <a:off x="4709484" y="1345063"/>
            <a:ext cx="5905500" cy="4199255"/>
          </a:xfrm>
          <a:prstGeom prst="rect">
            <a:avLst/>
          </a:prstGeom>
        </p:spPr>
      </p:pic>
    </p:spTree>
    <p:extLst>
      <p:ext uri="{BB962C8B-B14F-4D97-AF65-F5344CB8AC3E}">
        <p14:creationId xmlns:p14="http://schemas.microsoft.com/office/powerpoint/2010/main" val="76039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1191768" y="839765"/>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4.4</a:t>
            </a:r>
            <a:r>
              <a:rPr lang="vi-VN" sz="2400" b="1">
                <a:solidFill>
                  <a:srgbClr val="7030A0"/>
                </a:solidFill>
                <a:effectLst/>
                <a:latin typeface="Times New Roman" panose="02020603050405020304" pitchFamily="18" charset="0"/>
                <a:cs typeface="Times New Roman" panose="02020603050405020304" pitchFamily="18" charset="0"/>
              </a:rPr>
              <a:t>.</a:t>
            </a:r>
            <a:r>
              <a:rPr lang="en-VN" sz="1800">
                <a:solidFill>
                  <a:srgbClr val="0F172A"/>
                </a:solidFill>
                <a:effectLst/>
                <a:latin typeface="Times New Roman" panose="02020603050405020304" pitchFamily="18" charset="0"/>
                <a:ea typeface="Calibri" panose="020F0502020204030204" pitchFamily="34" charset="0"/>
              </a:rPr>
              <a:t> </a:t>
            </a:r>
            <a:r>
              <a:rPr lang="en-VN" sz="2400" b="1">
                <a:solidFill>
                  <a:srgbClr val="7030A0"/>
                </a:solidFill>
                <a:latin typeface="Times New Roman" panose="02020603050405020304" pitchFamily="18" charset="0"/>
                <a:cs typeface="Times New Roman" panose="02020603050405020304" pitchFamily="18" charset="0"/>
              </a:rPr>
              <a:t>Giao diện</a:t>
            </a:r>
            <a:r>
              <a:rPr lang="en-VN" sz="2400" b="1">
                <a:solidFill>
                  <a:srgbClr val="7030A0"/>
                </a:solidFill>
                <a:effectLst/>
                <a:latin typeface="Times New Roman" panose="02020603050405020304" pitchFamily="18" charset="0"/>
                <a:ea typeface="Calibri" panose="020F0502020204030204" pitchFamily="34" charset="0"/>
              </a:rPr>
              <a:t> ứng dụng di động (Mobile - React Native)</a:t>
            </a:r>
            <a:r>
              <a:rPr lang="en-VN" sz="2400" b="1">
                <a:solidFill>
                  <a:srgbClr val="7030A0"/>
                </a:solidFill>
                <a:effectLst/>
              </a:rPr>
              <a:t> </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A0947306-F658-D4B6-4E92-58EDA5D008E7}"/>
              </a:ext>
            </a:extLst>
          </p:cNvPr>
          <p:cNvSpPr txBox="1"/>
          <p:nvPr/>
        </p:nvSpPr>
        <p:spPr>
          <a:xfrm>
            <a:off x="1191768" y="988621"/>
            <a:ext cx="6103256" cy="423449"/>
          </a:xfrm>
          <a:prstGeom prst="rect">
            <a:avLst/>
          </a:prstGeom>
          <a:noFill/>
        </p:spPr>
        <p:txBody>
          <a:bodyPr wrap="square">
            <a:spAutoFit/>
          </a:bodyPr>
          <a:lstStyle/>
          <a:p>
            <a:pPr marL="0" marR="0" algn="just">
              <a:lnSpc>
                <a:spcPct val="150000"/>
              </a:lnSpc>
              <a:spcBef>
                <a:spcPts val="1000"/>
              </a:spcBef>
              <a:spcAft>
                <a:spcPts val="0"/>
              </a:spcAft>
            </a:pPr>
            <a:endParaRPr lang="en-VN" sz="1600" b="1">
              <a:solidFill>
                <a:srgbClr val="334155"/>
              </a:solidFill>
              <a:effectLst/>
              <a:latin typeface="Calibri" panose="020F0502020204030204" pitchFamily="34" charset="0"/>
            </a:endParaRPr>
          </a:p>
        </p:txBody>
      </p:sp>
      <p:graphicFrame>
        <p:nvGraphicFramePr>
          <p:cNvPr id="4" name="Table 3">
            <a:extLst>
              <a:ext uri="{FF2B5EF4-FFF2-40B4-BE49-F238E27FC236}">
                <a16:creationId xmlns:a16="http://schemas.microsoft.com/office/drawing/2014/main" id="{BF76C0E9-4902-A784-1AA7-4E6E1538A290}"/>
              </a:ext>
            </a:extLst>
          </p:cNvPr>
          <p:cNvGraphicFramePr>
            <a:graphicFrameLocks noGrp="1"/>
          </p:cNvGraphicFramePr>
          <p:nvPr>
            <p:extLst>
              <p:ext uri="{D42A27DB-BD31-4B8C-83A1-F6EECF244321}">
                <p14:modId xmlns:p14="http://schemas.microsoft.com/office/powerpoint/2010/main" val="1327886814"/>
              </p:ext>
            </p:extLst>
          </p:nvPr>
        </p:nvGraphicFramePr>
        <p:xfrm>
          <a:off x="2394858" y="1472171"/>
          <a:ext cx="9154014" cy="3285111"/>
        </p:xfrm>
        <a:graphic>
          <a:graphicData uri="http://schemas.openxmlformats.org/drawingml/2006/table">
            <a:tbl>
              <a:tblPr>
                <a:tableStyleId>{5C22544A-7EE6-4342-B048-85BDC9FD1C3A}</a:tableStyleId>
              </a:tblPr>
              <a:tblGrid>
                <a:gridCol w="2118824">
                  <a:extLst>
                    <a:ext uri="{9D8B030D-6E8A-4147-A177-3AD203B41FA5}">
                      <a16:colId xmlns:a16="http://schemas.microsoft.com/office/drawing/2014/main" val="328210361"/>
                    </a:ext>
                  </a:extLst>
                </a:gridCol>
                <a:gridCol w="3236947">
                  <a:extLst>
                    <a:ext uri="{9D8B030D-6E8A-4147-A177-3AD203B41FA5}">
                      <a16:colId xmlns:a16="http://schemas.microsoft.com/office/drawing/2014/main" val="3826121227"/>
                    </a:ext>
                  </a:extLst>
                </a:gridCol>
                <a:gridCol w="3798243">
                  <a:extLst>
                    <a:ext uri="{9D8B030D-6E8A-4147-A177-3AD203B41FA5}">
                      <a16:colId xmlns:a16="http://schemas.microsoft.com/office/drawing/2014/main" val="3999508368"/>
                    </a:ext>
                  </a:extLst>
                </a:gridCol>
              </a:tblGrid>
              <a:tr h="203635">
                <a:tc>
                  <a:txBody>
                    <a:bodyPr/>
                    <a:lstStyle/>
                    <a:p>
                      <a:pPr marL="0" marR="0" algn="ctr">
                        <a:lnSpc>
                          <a:spcPct val="150000"/>
                        </a:lnSpc>
                        <a:spcBef>
                          <a:spcPts val="0"/>
                        </a:spcBef>
                        <a:spcAft>
                          <a:spcPts val="0"/>
                        </a:spcAft>
                      </a:pPr>
                      <a:r>
                        <a:rPr lang="en-VN" sz="1100" b="1">
                          <a:effectLst/>
                        </a:rPr>
                        <a:t>Màn hình</a:t>
                      </a:r>
                      <a:endParaRPr lang="en-VN" sz="900" b="1">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b="1">
                          <a:effectLst/>
                        </a:rPr>
                        <a:t>File nguồn</a:t>
                      </a:r>
                      <a:endParaRPr lang="en-VN" sz="900" b="1">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b="1">
                          <a:effectLst/>
                        </a:rPr>
                        <a:t>Chức năng chính</a:t>
                      </a:r>
                      <a:endParaRPr lang="en-VN" sz="900" b="1">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21458869"/>
                  </a:ext>
                </a:extLst>
              </a:tr>
              <a:tr h="735887">
                <a:tc>
                  <a:txBody>
                    <a:bodyPr/>
                    <a:lstStyle/>
                    <a:p>
                      <a:pPr marL="0" marR="0" algn="just">
                        <a:lnSpc>
                          <a:spcPct val="150000"/>
                        </a:lnSpc>
                        <a:spcBef>
                          <a:spcPts val="0"/>
                        </a:spcBef>
                        <a:spcAft>
                          <a:spcPts val="0"/>
                        </a:spcAft>
                      </a:pPr>
                      <a:r>
                        <a:rPr lang="en-VN" sz="1100">
                          <a:effectLst/>
                        </a:rPr>
                        <a:t>LoginScreen</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mobile_app/src/screens/LoginScreen.js</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Form đăng nhập với input email, password. Nút submit gọi API /login.</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4745945"/>
                  </a:ext>
                </a:extLst>
              </a:tr>
              <a:tr h="558237">
                <a:tc>
                  <a:txBody>
                    <a:bodyPr/>
                    <a:lstStyle/>
                    <a:p>
                      <a:pPr marL="0" marR="0" algn="just">
                        <a:lnSpc>
                          <a:spcPct val="150000"/>
                        </a:lnSpc>
                        <a:spcBef>
                          <a:spcPts val="0"/>
                        </a:spcBef>
                        <a:spcAft>
                          <a:spcPts val="0"/>
                        </a:spcAft>
                      </a:pPr>
                      <a:r>
                        <a:rPr lang="en-VN" sz="1100">
                          <a:effectLst/>
                        </a:rPr>
                        <a:t>HomeScreen</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mobile_app/src/screens/HomeScreen.js</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Danh sách SP dạng FlatList, tương tự trang chủ web.</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2677783"/>
                  </a:ext>
                </a:extLst>
              </a:tr>
              <a:tr h="381811">
                <a:tc>
                  <a:txBody>
                    <a:bodyPr/>
                    <a:lstStyle/>
                    <a:p>
                      <a:pPr marL="0" marR="0" algn="just">
                        <a:lnSpc>
                          <a:spcPct val="150000"/>
                        </a:lnSpc>
                        <a:spcBef>
                          <a:spcPts val="0"/>
                        </a:spcBef>
                        <a:spcAft>
                          <a:spcPts val="0"/>
                        </a:spcAft>
                      </a:pPr>
                      <a:r>
                        <a:rPr lang="en-VN" sz="1100">
                          <a:effectLst/>
                        </a:rPr>
                        <a:t>ProductDetailScreen</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mobile_app/src/screens/ProductDetailScreen.js</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Chi tiết SP, nút "Thêm vào giỏ".</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82171157"/>
                  </a:ext>
                </a:extLst>
              </a:tr>
              <a:tr h="558237">
                <a:tc>
                  <a:txBody>
                    <a:bodyPr/>
                    <a:lstStyle/>
                    <a:p>
                      <a:pPr marL="0" marR="0" algn="just">
                        <a:lnSpc>
                          <a:spcPct val="150000"/>
                        </a:lnSpc>
                        <a:spcBef>
                          <a:spcPts val="0"/>
                        </a:spcBef>
                        <a:spcAft>
                          <a:spcPts val="0"/>
                        </a:spcAft>
                      </a:pPr>
                      <a:r>
                        <a:rPr lang="en-VN" sz="1100">
                          <a:effectLst/>
                        </a:rPr>
                        <a:t>CartScreen</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mobile_app/src/screens/CartScreen.js</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Danh sách SP trong giỏ, nút xoá, cập nhật số lượng.</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0784186"/>
                  </a:ext>
                </a:extLst>
              </a:tr>
              <a:tr h="381811">
                <a:tc>
                  <a:txBody>
                    <a:bodyPr/>
                    <a:lstStyle/>
                    <a:p>
                      <a:pPr marL="0" marR="0" algn="just">
                        <a:lnSpc>
                          <a:spcPct val="150000"/>
                        </a:lnSpc>
                        <a:spcBef>
                          <a:spcPts val="0"/>
                        </a:spcBef>
                        <a:spcAft>
                          <a:spcPts val="0"/>
                        </a:spcAft>
                      </a:pPr>
                      <a:r>
                        <a:rPr lang="en-VN" sz="1100">
                          <a:effectLst/>
                        </a:rPr>
                        <a:t>CheckoutScreen</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mobile_app/src/screens/CheckoutScreen.js</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Form nhập thông tin nhận hàng.</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65639383"/>
                  </a:ext>
                </a:extLst>
              </a:tr>
              <a:tr h="381811">
                <a:tc>
                  <a:txBody>
                    <a:bodyPr/>
                    <a:lstStyle/>
                    <a:p>
                      <a:pPr marL="0" marR="0" algn="just">
                        <a:lnSpc>
                          <a:spcPct val="150000"/>
                        </a:lnSpc>
                        <a:spcBef>
                          <a:spcPts val="0"/>
                        </a:spcBef>
                        <a:spcAft>
                          <a:spcPts val="0"/>
                        </a:spcAft>
                      </a:pPr>
                      <a:r>
                        <a:rPr lang="en-VN" sz="1100">
                          <a:effectLst/>
                        </a:rPr>
                        <a:t>AdminScreen</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mobile_app/src/screens/AdminScreen.js</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n-VN" sz="1100">
                          <a:effectLst/>
                        </a:rPr>
                        <a:t>Truy cập tính năng admin trên mobile.</a:t>
                      </a:r>
                      <a:endParaRPr lang="en-VN" sz="900">
                        <a:effectLst/>
                        <a:latin typeface="Calibri" panose="020F0502020204030204" pitchFamily="34" charset="0"/>
                        <a:ea typeface="Calibri" panose="020F0502020204030204" pitchFamily="34" charset="0"/>
                      </a:endParaRPr>
                    </a:p>
                  </a:txBody>
                  <a:tcPr marL="46371" marR="46371" marT="30914" marB="3091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9421558"/>
                  </a:ext>
                </a:extLst>
              </a:tr>
            </a:tbl>
          </a:graphicData>
        </a:graphic>
      </p:graphicFrame>
      <p:sp>
        <p:nvSpPr>
          <p:cNvPr id="9" name="TextBox 8">
            <a:extLst>
              <a:ext uri="{FF2B5EF4-FFF2-40B4-BE49-F238E27FC236}">
                <a16:creationId xmlns:a16="http://schemas.microsoft.com/office/drawing/2014/main" id="{AB8D79DB-E8E9-2968-71EE-DE05CDCAA1E5}"/>
              </a:ext>
            </a:extLst>
          </p:cNvPr>
          <p:cNvSpPr txBox="1"/>
          <p:nvPr/>
        </p:nvSpPr>
        <p:spPr>
          <a:xfrm>
            <a:off x="845458" y="4858977"/>
            <a:ext cx="8511757" cy="1724703"/>
          </a:xfrm>
          <a:prstGeom prst="rect">
            <a:avLst/>
          </a:prstGeom>
          <a:noFill/>
        </p:spPr>
        <p:txBody>
          <a:bodyPr wrap="square">
            <a:spAutoFit/>
          </a:bodyPr>
          <a:lstStyle/>
          <a:p>
            <a:pPr marL="0" marR="0" algn="just">
              <a:lnSpc>
                <a:spcPct val="150000"/>
              </a:lnSpc>
              <a:spcBef>
                <a:spcPts val="0"/>
              </a:spcBef>
              <a:spcAft>
                <a:spcPts val="0"/>
              </a:spcAft>
            </a:pPr>
            <a:r>
              <a:rPr lang="en-VN" sz="1200" b="1">
                <a:effectLst/>
                <a:latin typeface="Times New Roman" panose="02020603050405020304" pitchFamily="18" charset="0"/>
                <a:ea typeface="Calibri" panose="020F0502020204030204" pitchFamily="34" charset="0"/>
              </a:rPr>
              <a:t>Nguyên tắc thiết kế mobile:</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Sử dụng Native components (View, ScrollView, FlatList) để đạt hiệu năng tốt.</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Bottom Tab Navigation cho các mục chính: Home, Search, Cart, Profile.</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Stack Navigation cho các luồng nested (Home → Detail → Cart → Checkout).</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Context API (AuthContext) lưu trạng thái đăng nhập toàn app.</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Arial" panose="020B0604020202020204" pitchFamily="34" charset="0"/>
              <a:buChar char="●"/>
            </a:pPr>
            <a:r>
              <a:rPr lang="en-VN" sz="1200">
                <a:effectLst/>
                <a:latin typeface="Times New Roman" panose="02020603050405020304" pitchFamily="18" charset="0"/>
                <a:ea typeface="Calibri" panose="020F0502020204030204" pitchFamily="34" charset="0"/>
              </a:rPr>
              <a:t>Bàn phím ảo phù hợp: type="tel" cho điện thoại, type="email" cho email.</a:t>
            </a:r>
            <a:endParaRPr lang="en-VN" sz="12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6822250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4. </a:t>
            </a:r>
            <a:r>
              <a:rPr lang="en-VN" sz="2600" b="1" kern="0" spc="200">
                <a:solidFill>
                  <a:schemeClr val="accent1">
                    <a:lumMod val="50000"/>
                  </a:schemeClr>
                </a:solidFill>
                <a:latin typeface="Times New Roman" panose="02020603050405020304" pitchFamily="18" charset="0"/>
                <a:cs typeface="Times New Roman" panose="02020603050405020304" pitchFamily="18" charset="0"/>
              </a:rPr>
              <a:t>THIẾT KẾ GIAO DIỆN (HI-FI PROTOTYPE) </a:t>
            </a:r>
            <a:endParaRPr lang="en-US" sz="2600" b="1" kern="0" spc="200"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4.5</a:t>
            </a:r>
            <a:r>
              <a:rPr lang="vi-VN" sz="2400" b="1">
                <a:solidFill>
                  <a:srgbClr val="7030A0"/>
                </a:solidFill>
                <a:effectLst/>
                <a:latin typeface="Times New Roman" panose="02020603050405020304" pitchFamily="18" charset="0"/>
                <a:cs typeface="Times New Roman" panose="02020603050405020304" pitchFamily="18" charset="0"/>
              </a:rPr>
              <a:t>.</a:t>
            </a:r>
            <a:r>
              <a:rPr lang="en-VN" sz="2400" b="1">
                <a:solidFill>
                  <a:srgbClr val="7030A0"/>
                </a:solidFill>
                <a:effectLst/>
                <a:latin typeface="Times New Roman" panose="02020603050405020304" pitchFamily="18" charset="0"/>
                <a:ea typeface="Calibri" panose="020F0502020204030204" pitchFamily="34" charset="0"/>
              </a:rPr>
              <a:t> Đánh giá thiết kế hi-fi theo heuristics của Nielsen</a:t>
            </a:r>
            <a:r>
              <a:rPr lang="en-VN" sz="2400" b="1">
                <a:solidFill>
                  <a:srgbClr val="7030A0"/>
                </a:solidFill>
                <a:effectLst/>
              </a:rPr>
              <a:t> </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AAE88FA0-C6CD-0DB8-3DE8-8A92471A856E}"/>
              </a:ext>
            </a:extLst>
          </p:cNvPr>
          <p:cNvGraphicFramePr>
            <a:graphicFrameLocks noGrp="1"/>
          </p:cNvGraphicFramePr>
          <p:nvPr>
            <p:extLst>
              <p:ext uri="{D42A27DB-BD31-4B8C-83A1-F6EECF244321}">
                <p14:modId xmlns:p14="http://schemas.microsoft.com/office/powerpoint/2010/main" val="727295499"/>
              </p:ext>
            </p:extLst>
          </p:nvPr>
        </p:nvGraphicFramePr>
        <p:xfrm>
          <a:off x="1295727" y="1238958"/>
          <a:ext cx="7242629" cy="5601541"/>
        </p:xfrm>
        <a:graphic>
          <a:graphicData uri="http://schemas.openxmlformats.org/drawingml/2006/table">
            <a:tbl>
              <a:tblPr>
                <a:tableStyleId>{5C22544A-7EE6-4342-B048-85BDC9FD1C3A}</a:tableStyleId>
              </a:tblPr>
              <a:tblGrid>
                <a:gridCol w="1866656">
                  <a:extLst>
                    <a:ext uri="{9D8B030D-6E8A-4147-A177-3AD203B41FA5}">
                      <a16:colId xmlns:a16="http://schemas.microsoft.com/office/drawing/2014/main" val="3316383939"/>
                    </a:ext>
                  </a:extLst>
                </a:gridCol>
                <a:gridCol w="1045328">
                  <a:extLst>
                    <a:ext uri="{9D8B030D-6E8A-4147-A177-3AD203B41FA5}">
                      <a16:colId xmlns:a16="http://schemas.microsoft.com/office/drawing/2014/main" val="1299884664"/>
                    </a:ext>
                  </a:extLst>
                </a:gridCol>
                <a:gridCol w="4330645">
                  <a:extLst>
                    <a:ext uri="{9D8B030D-6E8A-4147-A177-3AD203B41FA5}">
                      <a16:colId xmlns:a16="http://schemas.microsoft.com/office/drawing/2014/main" val="359069590"/>
                    </a:ext>
                  </a:extLst>
                </a:gridCol>
              </a:tblGrid>
              <a:tr h="177902">
                <a:tc>
                  <a:txBody>
                    <a:bodyPr/>
                    <a:lstStyle/>
                    <a:p>
                      <a:pPr marL="0" marR="0" algn="ctr">
                        <a:lnSpc>
                          <a:spcPct val="150000"/>
                        </a:lnSpc>
                        <a:spcBef>
                          <a:spcPts val="0"/>
                        </a:spcBef>
                        <a:spcAft>
                          <a:spcPts val="0"/>
                        </a:spcAft>
                      </a:pPr>
                      <a:r>
                        <a:rPr lang="en-VN" sz="1100" b="1">
                          <a:effectLst/>
                          <a:latin typeface="Times New Roman" panose="02020603050405020304" pitchFamily="18" charset="0"/>
                          <a:cs typeface="Times New Roman" panose="02020603050405020304" pitchFamily="18" charset="0"/>
                        </a:rPr>
                        <a:t>Heuristic</a:t>
                      </a:r>
                      <a:endParaRPr lang="en-VN" sz="1100" b="1">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b="1">
                          <a:effectLst/>
                          <a:latin typeface="Times New Roman" panose="02020603050405020304" pitchFamily="18" charset="0"/>
                          <a:cs typeface="Times New Roman" panose="02020603050405020304" pitchFamily="18" charset="0"/>
                        </a:rPr>
                        <a:t>Đánh giá</a:t>
                      </a:r>
                      <a:endParaRPr lang="en-VN" sz="1100" b="1">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b="1">
                          <a:effectLst/>
                          <a:latin typeface="Times New Roman" panose="02020603050405020304" pitchFamily="18" charset="0"/>
                          <a:cs typeface="Times New Roman" panose="02020603050405020304" pitchFamily="18" charset="0"/>
                        </a:rPr>
                        <a:t>Bằng chứng / Ghi chú</a:t>
                      </a:r>
                      <a:endParaRPr lang="en-VN" sz="1100" b="1">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59238011"/>
                  </a:ext>
                </a:extLst>
              </a:tr>
              <a:tr h="487467">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1. Visibility of system status</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Tốt</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Badge giỏ hàng cập nhật số lượng tức thì; flash messages sau login/register; loading state khi checkout.</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6514643"/>
                  </a:ext>
                </a:extLst>
              </a:tr>
              <a:tr h="487467">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2. Match between system and real world</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Tốt</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Ngôn ngữ đơn giản, tiếng Việt tự nhiên ("Giỏ hàng", "Đặt hàng", "Xem chi tiết"), không dùng thuật ngữ kỹ thuật.</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5380986"/>
                  </a:ext>
                </a:extLst>
              </a:tr>
              <a:tr h="487467">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3. User control and freedom</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Khá</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Có nút "Quay lại" trong giỏ; xoá SP khỏi giỏ dễ dàng. Còn thiếu: nút "Hoàn tác" khi lỡ xoá; không có "Lưu để mua sau".</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23407541"/>
                  </a:ext>
                </a:extLst>
              </a:tr>
              <a:tr h="487467">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4. Consistency and standards</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Tốt</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Bootstrap 5 làm nền tảng đảm bảo nhất quán button/form/color. Icon Bootstrap xuyên suốt. Terminology thống nhất web và mobile.</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959126"/>
                  </a:ext>
                </a:extLst>
              </a:tr>
              <a:tr h="487467">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5. Error prevention</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Cần cải thiện</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Validation client-side còn thiếu ở form checkout (chỉ validate server-side). Không có bước xác nhận trước khi xoá SP admin. Xem V-UX-04, V-FUN-04.</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3462375"/>
                  </a:ext>
                </a:extLst>
              </a:tr>
              <a:tr h="332685">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6. Recognition rather than recall</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Tốt</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Menu danh mục luôn hiển thị; breadcrumb ở chi tiết SP; giỏ hàng luôn ở góc phải.</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07277214"/>
                  </a:ext>
                </a:extLst>
              </a:tr>
              <a:tr h="487467">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7. Flexibility and efficiency of use</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Khá</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Guest checkout cho người mua nhanh; có tìm kiếm cho power user. Còn thiếu: keyboard shortcut, lưu địa chỉ giao hàng.</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5026775"/>
                  </a:ext>
                </a:extLst>
              </a:tr>
              <a:tr h="332685">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8. Aesthetic and minimalist design</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Tốt</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Bố cục thoáng, nhiều khoảng trắng, mỗi trang chỉ 1 CTA chính. Không có banner/popup gây rối.</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4089739"/>
                  </a:ext>
                </a:extLst>
              </a:tr>
              <a:tr h="487467">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9. Help users recognize, diagnose, recover from errors</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Cần cải thiện</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Thông báo lỗi hiện dạng die() text plain (V-FUN-09) — trang trắng không header/footer. Cần page error đẹp với gợi ý hành động.</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91638364"/>
                  </a:ext>
                </a:extLst>
              </a:tr>
              <a:tr h="487467">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10. Help and documentation</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Cần cải thiện</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nSpc>
                          <a:spcPct val="150000"/>
                        </a:lnSpc>
                        <a:spcBef>
                          <a:spcPts val="0"/>
                        </a:spcBef>
                        <a:spcAft>
                          <a:spcPts val="0"/>
                        </a:spcAft>
                      </a:pPr>
                      <a:r>
                        <a:rPr lang="en-VN" sz="1100">
                          <a:effectLst/>
                          <a:latin typeface="Times New Roman" panose="02020603050405020304" pitchFamily="18" charset="0"/>
                          <a:cs typeface="Times New Roman" panose="02020603050405020304" pitchFamily="18" charset="0"/>
                        </a:rPr>
                        <a:t>Chưa có trang FAQ, hướng dẫn mua hàng, chính sách đổi trả — mới có link stub ở footer. Cần bổ sung nội dung thực.</a:t>
                      </a:r>
                      <a:endParaRPr lang="en-VN" sz="1100">
                        <a:effectLst/>
                        <a:latin typeface="Times New Roman" panose="02020603050405020304" pitchFamily="18" charset="0"/>
                        <a:ea typeface="Calibri" panose="020F0502020204030204" pitchFamily="34" charset="0"/>
                        <a:cs typeface="Times New Roman" panose="02020603050405020304" pitchFamily="18" charset="0"/>
                      </a:endParaRPr>
                    </a:p>
                  </a:txBody>
                  <a:tcPr marL="27308" marR="27308" marT="18205" marB="182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124952"/>
                  </a:ext>
                </a:extLst>
              </a:tr>
            </a:tbl>
          </a:graphicData>
        </a:graphic>
      </p:graphicFrame>
    </p:spTree>
    <p:extLst>
      <p:ext uri="{BB962C8B-B14F-4D97-AF65-F5344CB8AC3E}">
        <p14:creationId xmlns:p14="http://schemas.microsoft.com/office/powerpoint/2010/main" val="36774800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.1.</a:t>
            </a:r>
            <a:r>
              <a:rPr lang="en-VN" sz="2400" b="1">
                <a:solidFill>
                  <a:srgbClr val="7030A0"/>
                </a:solidFill>
                <a:effectLst/>
                <a:latin typeface="Times New Roman" panose="02020603050405020304" pitchFamily="18" charset="0"/>
                <a:ea typeface="Calibri" panose="020F0502020204030204" pitchFamily="34" charset="0"/>
              </a:rPr>
              <a:t> Các luồng tương tác</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B5D4581B-AF1A-6F6C-10BA-E030F8E9DCAC}"/>
              </a:ext>
            </a:extLst>
          </p:cNvPr>
          <p:cNvSpPr txBox="1"/>
          <p:nvPr/>
        </p:nvSpPr>
        <p:spPr>
          <a:xfrm>
            <a:off x="381001" y="1402807"/>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Luồng đăng ký &amp; đăng nhập</a:t>
            </a:r>
            <a:r>
              <a:rPr lang="en-VN">
                <a:effectLst/>
              </a:rPr>
              <a:t> </a:t>
            </a:r>
            <a:endParaRPr lang="en-VN"/>
          </a:p>
        </p:txBody>
      </p:sp>
      <p:pic>
        <p:nvPicPr>
          <p:cNvPr id="7" name="Picture 6">
            <a:extLst>
              <a:ext uri="{FF2B5EF4-FFF2-40B4-BE49-F238E27FC236}">
                <a16:creationId xmlns:a16="http://schemas.microsoft.com/office/drawing/2014/main" id="{E83BAAD8-A64F-958B-1109-335EA6CE546E}"/>
              </a:ext>
            </a:extLst>
          </p:cNvPr>
          <p:cNvPicPr>
            <a:picLocks noChangeAspect="1"/>
          </p:cNvPicPr>
          <p:nvPr/>
        </p:nvPicPr>
        <p:blipFill>
          <a:blip r:embed="rId3"/>
          <a:srcRect/>
          <a:stretch>
            <a:fillRect/>
          </a:stretch>
        </p:blipFill>
        <p:spPr bwMode="auto">
          <a:xfrm>
            <a:off x="3817257" y="695873"/>
            <a:ext cx="5762172" cy="6243039"/>
          </a:xfrm>
          <a:prstGeom prst="rect">
            <a:avLst/>
          </a:prstGeom>
        </p:spPr>
      </p:pic>
    </p:spTree>
    <p:extLst>
      <p:ext uri="{BB962C8B-B14F-4D97-AF65-F5344CB8AC3E}">
        <p14:creationId xmlns:p14="http://schemas.microsoft.com/office/powerpoint/2010/main" val="14229679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.1.</a:t>
            </a:r>
            <a:r>
              <a:rPr lang="en-VN" sz="2400" b="1">
                <a:solidFill>
                  <a:srgbClr val="7030A0"/>
                </a:solidFill>
                <a:effectLst/>
                <a:latin typeface="Times New Roman" panose="02020603050405020304" pitchFamily="18" charset="0"/>
                <a:ea typeface="Calibri" panose="020F0502020204030204" pitchFamily="34" charset="0"/>
              </a:rPr>
              <a:t> Các luồng tương tác</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D2180DD6-9099-E422-F993-CE95E53C2FD3}"/>
              </a:ext>
            </a:extLst>
          </p:cNvPr>
          <p:cNvSpPr txBox="1"/>
          <p:nvPr/>
        </p:nvSpPr>
        <p:spPr>
          <a:xfrm>
            <a:off x="424543" y="1412070"/>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Luồng mua hàng (Add-to-cart → Checkout)</a:t>
            </a:r>
            <a:r>
              <a:rPr lang="en-VN">
                <a:effectLst/>
              </a:rPr>
              <a:t> </a:t>
            </a:r>
            <a:endParaRPr lang="en-VN"/>
          </a:p>
        </p:txBody>
      </p:sp>
      <p:pic>
        <p:nvPicPr>
          <p:cNvPr id="8" name="Picture 7">
            <a:extLst>
              <a:ext uri="{FF2B5EF4-FFF2-40B4-BE49-F238E27FC236}">
                <a16:creationId xmlns:a16="http://schemas.microsoft.com/office/drawing/2014/main" id="{5BF8B990-A5F3-A530-8DCD-17A1397E3B42}"/>
              </a:ext>
            </a:extLst>
          </p:cNvPr>
          <p:cNvPicPr>
            <a:picLocks noChangeAspect="1"/>
          </p:cNvPicPr>
          <p:nvPr/>
        </p:nvPicPr>
        <p:blipFill>
          <a:blip r:embed="rId3"/>
          <a:srcRect/>
          <a:stretch>
            <a:fillRect/>
          </a:stretch>
        </p:blipFill>
        <p:spPr bwMode="auto">
          <a:xfrm>
            <a:off x="5202637" y="203665"/>
            <a:ext cx="4492905" cy="6534152"/>
          </a:xfrm>
          <a:prstGeom prst="rect">
            <a:avLst/>
          </a:prstGeom>
        </p:spPr>
      </p:pic>
    </p:spTree>
    <p:extLst>
      <p:ext uri="{BB962C8B-B14F-4D97-AF65-F5344CB8AC3E}">
        <p14:creationId xmlns:p14="http://schemas.microsoft.com/office/powerpoint/2010/main" val="622630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.1.</a:t>
            </a:r>
            <a:r>
              <a:rPr lang="en-VN" sz="2400" b="1">
                <a:solidFill>
                  <a:srgbClr val="7030A0"/>
                </a:solidFill>
                <a:effectLst/>
                <a:latin typeface="Times New Roman" panose="02020603050405020304" pitchFamily="18" charset="0"/>
                <a:ea typeface="Calibri" panose="020F0502020204030204" pitchFamily="34" charset="0"/>
              </a:rPr>
              <a:t> Các luồng tương tác</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3508A502-C120-0880-E523-D7A959AF0F30}"/>
              </a:ext>
            </a:extLst>
          </p:cNvPr>
          <p:cNvSpPr txBox="1"/>
          <p:nvPr/>
        </p:nvSpPr>
        <p:spPr>
          <a:xfrm>
            <a:off x="700315" y="1596736"/>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Luồng admin CRUD sản phẩm</a:t>
            </a:r>
            <a:r>
              <a:rPr lang="en-VN">
                <a:effectLst/>
              </a:rPr>
              <a:t> </a:t>
            </a:r>
            <a:endParaRPr lang="en-VN"/>
          </a:p>
        </p:txBody>
      </p:sp>
      <p:pic>
        <p:nvPicPr>
          <p:cNvPr id="7" name="Picture 6">
            <a:extLst>
              <a:ext uri="{FF2B5EF4-FFF2-40B4-BE49-F238E27FC236}">
                <a16:creationId xmlns:a16="http://schemas.microsoft.com/office/drawing/2014/main" id="{491465E9-985B-9290-6D3C-FB9D7F881975}"/>
              </a:ext>
            </a:extLst>
          </p:cNvPr>
          <p:cNvPicPr>
            <a:picLocks noChangeAspect="1"/>
          </p:cNvPicPr>
          <p:nvPr/>
        </p:nvPicPr>
        <p:blipFill>
          <a:blip r:embed="rId3"/>
          <a:srcRect/>
          <a:stretch>
            <a:fillRect/>
          </a:stretch>
        </p:blipFill>
        <p:spPr bwMode="auto">
          <a:xfrm>
            <a:off x="4202301" y="382992"/>
            <a:ext cx="6049010" cy="6049010"/>
          </a:xfrm>
          <a:prstGeom prst="rect">
            <a:avLst/>
          </a:prstGeom>
        </p:spPr>
      </p:pic>
    </p:spTree>
    <p:extLst>
      <p:ext uri="{BB962C8B-B14F-4D97-AF65-F5344CB8AC3E}">
        <p14:creationId xmlns:p14="http://schemas.microsoft.com/office/powerpoint/2010/main" val="6057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.2.</a:t>
            </a:r>
            <a:r>
              <a:rPr lang="en-VN" sz="2400" b="1">
                <a:solidFill>
                  <a:srgbClr val="7030A0"/>
                </a:solidFill>
                <a:effectLst/>
                <a:latin typeface="Times New Roman" panose="02020603050405020304" pitchFamily="18" charset="0"/>
                <a:ea typeface="Calibri" panose="020F0502020204030204" pitchFamily="34" charset="0"/>
              </a:rPr>
              <a:t> Kiểm thử chức năng</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59DF256B-BA55-4836-FAAE-0C29B978C156}"/>
              </a:ext>
            </a:extLst>
          </p:cNvPr>
          <p:cNvSpPr txBox="1"/>
          <p:nvPr/>
        </p:nvSpPr>
        <p:spPr>
          <a:xfrm>
            <a:off x="468087" y="1412070"/>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Nhóm test case: Trang chủ &amp; Điều hướng</a:t>
            </a:r>
            <a:r>
              <a:rPr lang="en-VN">
                <a:effectLst/>
              </a:rPr>
              <a:t> </a:t>
            </a:r>
            <a:endParaRPr lang="en-VN"/>
          </a:p>
        </p:txBody>
      </p:sp>
      <p:graphicFrame>
        <p:nvGraphicFramePr>
          <p:cNvPr id="8" name="Table 7">
            <a:extLst>
              <a:ext uri="{FF2B5EF4-FFF2-40B4-BE49-F238E27FC236}">
                <a16:creationId xmlns:a16="http://schemas.microsoft.com/office/drawing/2014/main" id="{09C183FB-1D08-135F-F26F-32C55A451B92}"/>
              </a:ext>
            </a:extLst>
          </p:cNvPr>
          <p:cNvGraphicFramePr>
            <a:graphicFrameLocks noGrp="1"/>
          </p:cNvGraphicFramePr>
          <p:nvPr>
            <p:extLst>
              <p:ext uri="{D42A27DB-BD31-4B8C-83A1-F6EECF244321}">
                <p14:modId xmlns:p14="http://schemas.microsoft.com/office/powerpoint/2010/main" val="1263978332"/>
              </p:ext>
            </p:extLst>
          </p:nvPr>
        </p:nvGraphicFramePr>
        <p:xfrm>
          <a:off x="4961217" y="889220"/>
          <a:ext cx="4182783" cy="5711167"/>
        </p:xfrm>
        <a:graphic>
          <a:graphicData uri="http://schemas.openxmlformats.org/drawingml/2006/table">
            <a:tbl>
              <a:tblPr>
                <a:tableStyleId>{5C22544A-7EE6-4342-B048-85BDC9FD1C3A}</a:tableStyleId>
              </a:tblPr>
              <a:tblGrid>
                <a:gridCol w="425069">
                  <a:extLst>
                    <a:ext uri="{9D8B030D-6E8A-4147-A177-3AD203B41FA5}">
                      <a16:colId xmlns:a16="http://schemas.microsoft.com/office/drawing/2014/main" val="2943782066"/>
                    </a:ext>
                  </a:extLst>
                </a:gridCol>
                <a:gridCol w="778125">
                  <a:extLst>
                    <a:ext uri="{9D8B030D-6E8A-4147-A177-3AD203B41FA5}">
                      <a16:colId xmlns:a16="http://schemas.microsoft.com/office/drawing/2014/main" val="2564945697"/>
                    </a:ext>
                  </a:extLst>
                </a:gridCol>
                <a:gridCol w="1432393">
                  <a:extLst>
                    <a:ext uri="{9D8B030D-6E8A-4147-A177-3AD203B41FA5}">
                      <a16:colId xmlns:a16="http://schemas.microsoft.com/office/drawing/2014/main" val="3153908515"/>
                    </a:ext>
                  </a:extLst>
                </a:gridCol>
                <a:gridCol w="986338">
                  <a:extLst>
                    <a:ext uri="{9D8B030D-6E8A-4147-A177-3AD203B41FA5}">
                      <a16:colId xmlns:a16="http://schemas.microsoft.com/office/drawing/2014/main" val="2453139672"/>
                    </a:ext>
                  </a:extLst>
                </a:gridCol>
                <a:gridCol w="560858">
                  <a:extLst>
                    <a:ext uri="{9D8B030D-6E8A-4147-A177-3AD203B41FA5}">
                      <a16:colId xmlns:a16="http://schemas.microsoft.com/office/drawing/2014/main" val="3652676822"/>
                    </a:ext>
                  </a:extLst>
                </a:gridCol>
              </a:tblGrid>
              <a:tr h="142154">
                <a:tc>
                  <a:txBody>
                    <a:bodyPr/>
                    <a:lstStyle/>
                    <a:p>
                      <a:pPr marL="0" marR="0" algn="ctr">
                        <a:lnSpc>
                          <a:spcPct val="150000"/>
                        </a:lnSpc>
                        <a:spcBef>
                          <a:spcPts val="0"/>
                        </a:spcBef>
                        <a:spcAft>
                          <a:spcPts val="0"/>
                        </a:spcAft>
                      </a:pPr>
                      <a:r>
                        <a:rPr lang="en-VN" sz="500">
                          <a:effectLst/>
                        </a:rPr>
                        <a:t>ID</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gn="ctr">
                        <a:lnSpc>
                          <a:spcPct val="150000"/>
                        </a:lnSpc>
                        <a:spcBef>
                          <a:spcPts val="0"/>
                        </a:spcBef>
                        <a:spcAft>
                          <a:spcPts val="0"/>
                        </a:spcAft>
                      </a:pPr>
                      <a:r>
                        <a:rPr lang="en-VN" sz="500">
                          <a:effectLst/>
                        </a:rPr>
                        <a:t>Tình huống</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gn="ctr">
                        <a:lnSpc>
                          <a:spcPct val="150000"/>
                        </a:lnSpc>
                        <a:spcBef>
                          <a:spcPts val="0"/>
                        </a:spcBef>
                        <a:spcAft>
                          <a:spcPts val="0"/>
                        </a:spcAft>
                      </a:pPr>
                      <a:r>
                        <a:rPr lang="en-VN" sz="500">
                          <a:effectLst/>
                        </a:rPr>
                        <a:t>Các bước / Dữ liệu</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gn="ctr">
                        <a:lnSpc>
                          <a:spcPct val="150000"/>
                        </a:lnSpc>
                        <a:spcBef>
                          <a:spcPts val="0"/>
                        </a:spcBef>
                        <a:spcAft>
                          <a:spcPts val="0"/>
                        </a:spcAft>
                      </a:pPr>
                      <a:r>
                        <a:rPr lang="en-VN" sz="500">
                          <a:effectLst/>
                        </a:rPr>
                        <a:t>Kết quả kỳ vọng</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gn="ctr">
                        <a:lnSpc>
                          <a:spcPct val="150000"/>
                        </a:lnSpc>
                        <a:spcBef>
                          <a:spcPts val="0"/>
                        </a:spcBef>
                        <a:spcAft>
                          <a:spcPts val="0"/>
                        </a:spcAft>
                      </a:pPr>
                      <a:r>
                        <a:rPr lang="en-VN" sz="500">
                          <a:effectLst/>
                        </a:rPr>
                        <a:t>Ưu tiên</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2497224119"/>
                  </a:ext>
                </a:extLst>
              </a:tr>
              <a:tr h="896240">
                <a:tc>
                  <a:txBody>
                    <a:bodyPr/>
                    <a:lstStyle/>
                    <a:p>
                      <a:pPr marL="0" marR="0">
                        <a:lnSpc>
                          <a:spcPct val="150000"/>
                        </a:lnSpc>
                        <a:spcBef>
                          <a:spcPts val="0"/>
                        </a:spcBef>
                        <a:spcAft>
                          <a:spcPts val="0"/>
                        </a:spcAft>
                      </a:pPr>
                      <a:r>
                        <a:rPr lang="en-VN" sz="500">
                          <a:effectLst/>
                        </a:rPr>
                        <a:t>TC-HOME-01</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Truy cập trang chủ lần đầu</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1. Mở URL /banhang/</a:t>
                      </a:r>
                      <a:endParaRPr lang="en-VN" sz="400">
                        <a:effectLst/>
                      </a:endParaRPr>
                    </a:p>
                    <a:p>
                      <a:pPr marL="0" marR="0">
                        <a:lnSpc>
                          <a:spcPct val="150000"/>
                        </a:lnSpc>
                        <a:spcBef>
                          <a:spcPts val="0"/>
                        </a:spcBef>
                        <a:spcAft>
                          <a:spcPts val="0"/>
                        </a:spcAft>
                      </a:pPr>
                      <a:r>
                        <a:rPr lang="en-VN" sz="500">
                          <a:effectLst/>
                        </a:rPr>
                        <a:t>2. Quan sát trang</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Trang hiển thị đầy đủ 5 khu vực: header, nav, showcase, benefit grid, 2 product-grid. Không có lỗi 500.</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1996919253"/>
                  </a:ext>
                </a:extLst>
              </a:tr>
              <a:tr h="519197">
                <a:tc>
                  <a:txBody>
                    <a:bodyPr/>
                    <a:lstStyle/>
                    <a:p>
                      <a:pPr marL="0" marR="0">
                        <a:lnSpc>
                          <a:spcPct val="150000"/>
                        </a:lnSpc>
                        <a:spcBef>
                          <a:spcPts val="0"/>
                        </a:spcBef>
                        <a:spcAft>
                          <a:spcPts val="0"/>
                        </a:spcAft>
                      </a:pPr>
                      <a:r>
                        <a:rPr lang="en-VN" sz="500">
                          <a:effectLst/>
                        </a:rPr>
                        <a:t>TC-HOME-02</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Menu danh mục động</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1. Kiểm tra list "Danh mục laptop" trên panel trái</a:t>
                      </a:r>
                      <a:endParaRPr lang="en-VN" sz="400">
                        <a:effectLst/>
                      </a:endParaRPr>
                    </a:p>
                    <a:p>
                      <a:pPr marL="0" marR="0">
                        <a:lnSpc>
                          <a:spcPct val="150000"/>
                        </a:lnSpc>
                        <a:spcBef>
                          <a:spcPts val="0"/>
                        </a:spcBef>
                        <a:spcAft>
                          <a:spcPts val="0"/>
                        </a:spcAft>
                      </a:pPr>
                      <a:r>
                        <a:rPr lang="en-VN" sz="500">
                          <a:effectLst/>
                        </a:rPr>
                        <a:t>2. So sánh với bảng loai (anhien=1)</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Đúng số danh mục đang hiển thị, sắp theo cột thutu.</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3450357977"/>
                  </a:ext>
                </a:extLst>
              </a:tr>
              <a:tr h="644878">
                <a:tc>
                  <a:txBody>
                    <a:bodyPr/>
                    <a:lstStyle/>
                    <a:p>
                      <a:pPr marL="0" marR="0">
                        <a:lnSpc>
                          <a:spcPct val="150000"/>
                        </a:lnSpc>
                        <a:spcBef>
                          <a:spcPts val="0"/>
                        </a:spcBef>
                        <a:spcAft>
                          <a:spcPts val="0"/>
                        </a:spcAft>
                      </a:pPr>
                      <a:r>
                        <a:rPr lang="en-VN" sz="500">
                          <a:effectLst/>
                        </a:rPr>
                        <a:t>TC-HOME-03</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Section "Laptop nổi bật"</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1. Xem section featured</a:t>
                      </a:r>
                      <a:endParaRPr lang="en-VN" sz="400">
                        <a:effectLst/>
                      </a:endParaRPr>
                    </a:p>
                    <a:p>
                      <a:pPr marL="0" marR="0">
                        <a:lnSpc>
                          <a:spcPct val="150000"/>
                        </a:lnSpc>
                        <a:spcBef>
                          <a:spcPts val="0"/>
                        </a:spcBef>
                        <a:spcAft>
                          <a:spcPts val="0"/>
                        </a:spcAft>
                      </a:pPr>
                      <a:r>
                        <a:rPr lang="en-VN" sz="500">
                          <a:effectLst/>
                        </a:rPr>
                        <a:t>2. Đối chiếu SQL</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Chỉ hiển thị SP có hot=1 AND anhien=1, tối đa 8 sản phẩm, sắp theo ngày DESC.</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738696861"/>
                  </a:ext>
                </a:extLst>
              </a:tr>
              <a:tr h="519197">
                <a:tc>
                  <a:txBody>
                    <a:bodyPr/>
                    <a:lstStyle/>
                    <a:p>
                      <a:pPr marL="0" marR="0">
                        <a:lnSpc>
                          <a:spcPct val="150000"/>
                        </a:lnSpc>
                        <a:spcBef>
                          <a:spcPts val="0"/>
                        </a:spcBef>
                        <a:spcAft>
                          <a:spcPts val="0"/>
                        </a:spcAft>
                      </a:pPr>
                      <a:r>
                        <a:rPr lang="en-VN" sz="500">
                          <a:effectLst/>
                        </a:rPr>
                        <a:t>TC-HOME-04</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Section "Sản phẩm xem nhiều"</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Xem section thứ 2</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Sắp theo soluotxem DESC, tối đa 8 SP, chỉ SP anhien=1.</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4010775527"/>
                  </a:ext>
                </a:extLst>
              </a:tr>
              <a:tr h="393516">
                <a:tc>
                  <a:txBody>
                    <a:bodyPr/>
                    <a:lstStyle/>
                    <a:p>
                      <a:pPr marL="0" marR="0">
                        <a:lnSpc>
                          <a:spcPct val="150000"/>
                        </a:lnSpc>
                        <a:spcBef>
                          <a:spcPts val="0"/>
                        </a:spcBef>
                        <a:spcAft>
                          <a:spcPts val="0"/>
                        </a:spcAft>
                      </a:pPr>
                      <a:r>
                        <a:rPr lang="en-VN" sz="500">
                          <a:effectLst/>
                        </a:rPr>
                        <a:t>TC-HOME-05</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Bấm nút "Xem ưu đãi" ở hero</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Click vào button "Xem ưu đãi"</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Trang scroll xuống #featured-products.</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3223611789"/>
                  </a:ext>
                </a:extLst>
              </a:tr>
              <a:tr h="393516">
                <a:tc>
                  <a:txBody>
                    <a:bodyPr/>
                    <a:lstStyle/>
                    <a:p>
                      <a:pPr marL="0" marR="0">
                        <a:lnSpc>
                          <a:spcPct val="150000"/>
                        </a:lnSpc>
                        <a:spcBef>
                          <a:spcPts val="0"/>
                        </a:spcBef>
                        <a:spcAft>
                          <a:spcPts val="0"/>
                        </a:spcAft>
                      </a:pPr>
                      <a:r>
                        <a:rPr lang="en-VN" sz="500">
                          <a:effectLst/>
                        </a:rPr>
                        <a:t>TC-HOME-06</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Bấm brand LAPTOP VUI</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Click logo brand</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Về lại trang chủ /banhang/.</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3175875714"/>
                  </a:ext>
                </a:extLst>
              </a:tr>
              <a:tr h="896240">
                <a:tc>
                  <a:txBody>
                    <a:bodyPr/>
                    <a:lstStyle/>
                    <a:p>
                      <a:pPr marL="0" marR="0">
                        <a:lnSpc>
                          <a:spcPct val="150000"/>
                        </a:lnSpc>
                        <a:spcBef>
                          <a:spcPts val="0"/>
                        </a:spcBef>
                        <a:spcAft>
                          <a:spcPts val="0"/>
                        </a:spcAft>
                      </a:pPr>
                      <a:r>
                        <a:rPr lang="en-VN" sz="500">
                          <a:effectLst/>
                        </a:rPr>
                        <a:t>TC-HOME-07</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Tương thích di động</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Thu nhỏ trình duyệt &lt; 768px</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Header-benefits ẩn (d-none d-md-flex); menu bung ra qua nút hamburger; icon giỏ hàng xuất hiện độc lập.</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3459747103"/>
                  </a:ext>
                </a:extLst>
              </a:tr>
              <a:tr h="393516">
                <a:tc>
                  <a:txBody>
                    <a:bodyPr/>
                    <a:lstStyle/>
                    <a:p>
                      <a:pPr marL="0" marR="0">
                        <a:lnSpc>
                          <a:spcPct val="150000"/>
                        </a:lnSpc>
                        <a:spcBef>
                          <a:spcPts val="0"/>
                        </a:spcBef>
                        <a:spcAft>
                          <a:spcPts val="0"/>
                        </a:spcAft>
                      </a:pPr>
                      <a:r>
                        <a:rPr lang="en-VN" sz="500">
                          <a:effectLst/>
                        </a:rPr>
                        <a:t>TC-HOME-08</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Badge số lượng giỏ hàng</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Thêm 2 SP rồi quay lại trang chủ</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Icon cart hiển thị số 2 (array_sum(cart)).</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1845110926"/>
                  </a:ext>
                </a:extLst>
              </a:tr>
              <a:tr h="519197">
                <a:tc>
                  <a:txBody>
                    <a:bodyPr/>
                    <a:lstStyle/>
                    <a:p>
                      <a:pPr marL="0" marR="0">
                        <a:lnSpc>
                          <a:spcPct val="150000"/>
                        </a:lnSpc>
                        <a:spcBef>
                          <a:spcPts val="0"/>
                        </a:spcBef>
                        <a:spcAft>
                          <a:spcPts val="0"/>
                        </a:spcAft>
                      </a:pPr>
                      <a:r>
                        <a:rPr lang="en-VN" sz="500">
                          <a:effectLst/>
                        </a:rPr>
                        <a:t>TC-HOME-09</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Truy cập route không tồn tại</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Vào /banhang/xxx-invalid</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HTTP 404 với thông báo "Không tìm thấy đường dẫn:...".</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362558959"/>
                  </a:ext>
                </a:extLst>
              </a:tr>
              <a:tr h="393516">
                <a:tc>
                  <a:txBody>
                    <a:bodyPr/>
                    <a:lstStyle/>
                    <a:p>
                      <a:pPr marL="0" marR="0">
                        <a:lnSpc>
                          <a:spcPct val="150000"/>
                        </a:lnSpc>
                        <a:spcBef>
                          <a:spcPts val="0"/>
                        </a:spcBef>
                        <a:spcAft>
                          <a:spcPts val="0"/>
                        </a:spcAft>
                      </a:pPr>
                      <a:r>
                        <a:rPr lang="en-VN" sz="500">
                          <a:effectLst/>
                        </a:rPr>
                        <a:t>TC-HOME-10</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Gửi phương thức không hỗ trợ</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PUT /banhang/</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HTTP 405.</a:t>
                      </a:r>
                      <a:endParaRPr lang="en-VN" sz="400">
                        <a:effectLst/>
                        <a:latin typeface="Calibri" panose="020F0502020204030204" pitchFamily="34" charset="0"/>
                        <a:ea typeface="Calibri" panose="020F0502020204030204" pitchFamily="34" charset="0"/>
                      </a:endParaRPr>
                    </a:p>
                  </a:txBody>
                  <a:tcPr marL="20095" marR="20095" marT="13396" marB="13396" anchor="ctr"/>
                </a:tc>
                <a:tc>
                  <a:txBody>
                    <a:bodyPr/>
                    <a:lstStyle/>
                    <a:p>
                      <a:pPr marL="0" marR="0">
                        <a:lnSpc>
                          <a:spcPct val="150000"/>
                        </a:lnSpc>
                        <a:spcBef>
                          <a:spcPts val="0"/>
                        </a:spcBef>
                        <a:spcAft>
                          <a:spcPts val="0"/>
                        </a:spcAft>
                      </a:pPr>
                      <a:r>
                        <a:rPr lang="en-VN" sz="500">
                          <a:effectLst/>
                        </a:rPr>
                        <a:t>L</a:t>
                      </a:r>
                      <a:endParaRPr lang="en-VN" sz="400">
                        <a:effectLst/>
                        <a:latin typeface="Calibri" panose="020F0502020204030204" pitchFamily="34" charset="0"/>
                        <a:ea typeface="Calibri" panose="020F0502020204030204" pitchFamily="34" charset="0"/>
                      </a:endParaRPr>
                    </a:p>
                  </a:txBody>
                  <a:tcPr marL="20095" marR="20095" marT="13396" marB="13396" anchor="ctr"/>
                </a:tc>
                <a:extLst>
                  <a:ext uri="{0D108BD9-81ED-4DB2-BD59-A6C34878D82A}">
                    <a16:rowId xmlns:a16="http://schemas.microsoft.com/office/drawing/2014/main" val="4160767078"/>
                  </a:ext>
                </a:extLst>
              </a:tr>
            </a:tbl>
          </a:graphicData>
        </a:graphic>
      </p:graphicFrame>
    </p:spTree>
    <p:extLst>
      <p:ext uri="{BB962C8B-B14F-4D97-AF65-F5344CB8AC3E}">
        <p14:creationId xmlns:p14="http://schemas.microsoft.com/office/powerpoint/2010/main" val="3557832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.2.</a:t>
            </a:r>
            <a:r>
              <a:rPr lang="en-VN" sz="2400" b="1">
                <a:solidFill>
                  <a:srgbClr val="7030A0"/>
                </a:solidFill>
                <a:effectLst/>
                <a:latin typeface="Times New Roman" panose="02020603050405020304" pitchFamily="18" charset="0"/>
                <a:ea typeface="Calibri" panose="020F0502020204030204" pitchFamily="34" charset="0"/>
              </a:rPr>
              <a:t> Kiểm thử chức năng</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0A538629-CC6D-405C-6ECB-EC90E69A7D0C}"/>
              </a:ext>
            </a:extLst>
          </p:cNvPr>
          <p:cNvSpPr txBox="1"/>
          <p:nvPr/>
        </p:nvSpPr>
        <p:spPr>
          <a:xfrm>
            <a:off x="277080" y="1249288"/>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Nhóm test case: Xem chi tiết sản phẩm và danh mục</a:t>
            </a:r>
            <a:r>
              <a:rPr lang="en-VN">
                <a:effectLst/>
              </a:rPr>
              <a:t> </a:t>
            </a:r>
            <a:endParaRPr lang="en-VN"/>
          </a:p>
        </p:txBody>
      </p:sp>
      <p:graphicFrame>
        <p:nvGraphicFramePr>
          <p:cNvPr id="7" name="Table 6">
            <a:extLst>
              <a:ext uri="{FF2B5EF4-FFF2-40B4-BE49-F238E27FC236}">
                <a16:creationId xmlns:a16="http://schemas.microsoft.com/office/drawing/2014/main" id="{B2E200A2-DD7F-1E79-EF9F-73537F256327}"/>
              </a:ext>
            </a:extLst>
          </p:cNvPr>
          <p:cNvGraphicFramePr>
            <a:graphicFrameLocks noGrp="1"/>
          </p:cNvGraphicFramePr>
          <p:nvPr>
            <p:extLst>
              <p:ext uri="{D42A27DB-BD31-4B8C-83A1-F6EECF244321}">
                <p14:modId xmlns:p14="http://schemas.microsoft.com/office/powerpoint/2010/main" val="290383572"/>
              </p:ext>
            </p:extLst>
          </p:nvPr>
        </p:nvGraphicFramePr>
        <p:xfrm>
          <a:off x="5849258" y="382991"/>
          <a:ext cx="4235458" cy="5860112"/>
        </p:xfrm>
        <a:graphic>
          <a:graphicData uri="http://schemas.openxmlformats.org/drawingml/2006/table">
            <a:tbl>
              <a:tblPr>
                <a:tableStyleId>{5C22544A-7EE6-4342-B048-85BDC9FD1C3A}</a:tableStyleId>
              </a:tblPr>
              <a:tblGrid>
                <a:gridCol w="855576">
                  <a:extLst>
                    <a:ext uri="{9D8B030D-6E8A-4147-A177-3AD203B41FA5}">
                      <a16:colId xmlns:a16="http://schemas.microsoft.com/office/drawing/2014/main" val="985133765"/>
                    </a:ext>
                  </a:extLst>
                </a:gridCol>
                <a:gridCol w="752075">
                  <a:extLst>
                    <a:ext uri="{9D8B030D-6E8A-4147-A177-3AD203B41FA5}">
                      <a16:colId xmlns:a16="http://schemas.microsoft.com/office/drawing/2014/main" val="3511018871"/>
                    </a:ext>
                  </a:extLst>
                </a:gridCol>
                <a:gridCol w="1100752">
                  <a:extLst>
                    <a:ext uri="{9D8B030D-6E8A-4147-A177-3AD203B41FA5}">
                      <a16:colId xmlns:a16="http://schemas.microsoft.com/office/drawing/2014/main" val="1494910599"/>
                    </a:ext>
                  </a:extLst>
                </a:gridCol>
                <a:gridCol w="1046881">
                  <a:extLst>
                    <a:ext uri="{9D8B030D-6E8A-4147-A177-3AD203B41FA5}">
                      <a16:colId xmlns:a16="http://schemas.microsoft.com/office/drawing/2014/main" val="993163191"/>
                    </a:ext>
                  </a:extLst>
                </a:gridCol>
                <a:gridCol w="480174">
                  <a:extLst>
                    <a:ext uri="{9D8B030D-6E8A-4147-A177-3AD203B41FA5}">
                      <a16:colId xmlns:a16="http://schemas.microsoft.com/office/drawing/2014/main" val="2432355786"/>
                    </a:ext>
                  </a:extLst>
                </a:gridCol>
              </a:tblGrid>
              <a:tr h="172036">
                <a:tc>
                  <a:txBody>
                    <a:bodyPr/>
                    <a:lstStyle/>
                    <a:p>
                      <a:pPr marL="0" marR="0" algn="just">
                        <a:lnSpc>
                          <a:spcPct val="150000"/>
                        </a:lnSpc>
                        <a:spcBef>
                          <a:spcPts val="0"/>
                        </a:spcBef>
                        <a:spcAft>
                          <a:spcPts val="0"/>
                        </a:spcAft>
                      </a:pPr>
                      <a:r>
                        <a:rPr lang="en-VN" sz="500">
                          <a:effectLst/>
                        </a:rPr>
                        <a:t>ID</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Tình huống</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Các bước / Dữ liệu</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Kết quả kỳ vọng</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Ưu tiên</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2363049304"/>
                  </a:ext>
                </a:extLst>
              </a:tr>
              <a:tr h="622245">
                <a:tc>
                  <a:txBody>
                    <a:bodyPr/>
                    <a:lstStyle/>
                    <a:p>
                      <a:pPr marL="0" marR="0" algn="just">
                        <a:lnSpc>
                          <a:spcPct val="150000"/>
                        </a:lnSpc>
                        <a:spcBef>
                          <a:spcPts val="0"/>
                        </a:spcBef>
                        <a:spcAft>
                          <a:spcPts val="0"/>
                        </a:spcAft>
                      </a:pPr>
                      <a:r>
                        <a:rPr lang="en-VN" sz="500">
                          <a:effectLst/>
                        </a:rPr>
                        <a:t>TC-DETAIL-01</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Xem chi tiết SP tồn tại</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GET /sp?id=1</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Hiển thị ảnh, tên, giá, mô tả, meta. soluotxem tăng +1 sau khi refresh.</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2831233808"/>
                  </a:ext>
                </a:extLst>
              </a:tr>
              <a:tr h="472176">
                <a:tc>
                  <a:txBody>
                    <a:bodyPr/>
                    <a:lstStyle/>
                    <a:p>
                      <a:pPr marL="0" marR="0" algn="just">
                        <a:lnSpc>
                          <a:spcPct val="150000"/>
                        </a:lnSpc>
                        <a:spcBef>
                          <a:spcPts val="0"/>
                        </a:spcBef>
                        <a:spcAft>
                          <a:spcPts val="0"/>
                        </a:spcAft>
                      </a:pPr>
                      <a:r>
                        <a:rPr lang="en-VN" sz="500">
                          <a:effectLst/>
                        </a:rPr>
                        <a:t>TC-DETAIL-02</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ID SP không tồn tại</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GET /sp?id=99999</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HTTP 404 với thông báo "Không tìm thấy sản phẩm."</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617880282"/>
                  </a:ext>
                </a:extLst>
              </a:tr>
              <a:tr h="322106">
                <a:tc>
                  <a:txBody>
                    <a:bodyPr/>
                    <a:lstStyle/>
                    <a:p>
                      <a:pPr marL="0" marR="0" algn="just">
                        <a:lnSpc>
                          <a:spcPct val="150000"/>
                        </a:lnSpc>
                        <a:spcBef>
                          <a:spcPts val="0"/>
                        </a:spcBef>
                        <a:spcAft>
                          <a:spcPts val="0"/>
                        </a:spcAft>
                      </a:pPr>
                      <a:r>
                        <a:rPr lang="en-VN" sz="500">
                          <a:effectLst/>
                        </a:rPr>
                        <a:t>TC-DETAIL-03</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ID SP là chuỗi</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GET /sp?id=abc</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Server ép sang (int)0 → return 404.</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308008070"/>
                  </a:ext>
                </a:extLst>
              </a:tr>
              <a:tr h="322106">
                <a:tc>
                  <a:txBody>
                    <a:bodyPr/>
                    <a:lstStyle/>
                    <a:p>
                      <a:pPr marL="0" marR="0" algn="just">
                        <a:lnSpc>
                          <a:spcPct val="150000"/>
                        </a:lnSpc>
                        <a:spcBef>
                          <a:spcPts val="0"/>
                        </a:spcBef>
                        <a:spcAft>
                          <a:spcPts val="0"/>
                        </a:spcAft>
                      </a:pPr>
                      <a:r>
                        <a:rPr lang="en-VN" sz="500">
                          <a:effectLst/>
                        </a:rPr>
                        <a:t>TC-DETAIL-04</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ID SP âm</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GET /sp?id=-5</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max(0, ...) → 0 → 404.</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1957934259"/>
                  </a:ext>
                </a:extLst>
              </a:tr>
              <a:tr h="322106">
                <a:tc>
                  <a:txBody>
                    <a:bodyPr/>
                    <a:lstStyle/>
                    <a:p>
                      <a:pPr marL="0" marR="0" algn="just">
                        <a:lnSpc>
                          <a:spcPct val="150000"/>
                        </a:lnSpc>
                        <a:spcBef>
                          <a:spcPts val="0"/>
                        </a:spcBef>
                        <a:spcAft>
                          <a:spcPts val="0"/>
                        </a:spcAft>
                      </a:pPr>
                      <a:r>
                        <a:rPr lang="en-VN" sz="500">
                          <a:effectLst/>
                        </a:rPr>
                        <a:t>TC-DETAIL-05</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SP đã ẩn (anhien=0)</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Admin tắt hiển thị SP, guest xem detail</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404.</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1096799657"/>
                  </a:ext>
                </a:extLst>
              </a:tr>
              <a:tr h="472176">
                <a:tc>
                  <a:txBody>
                    <a:bodyPr/>
                    <a:lstStyle/>
                    <a:p>
                      <a:pPr marL="0" marR="0" algn="just">
                        <a:lnSpc>
                          <a:spcPct val="150000"/>
                        </a:lnSpc>
                        <a:spcBef>
                          <a:spcPts val="0"/>
                        </a:spcBef>
                        <a:spcAft>
                          <a:spcPts val="0"/>
                        </a:spcAft>
                      </a:pPr>
                      <a:r>
                        <a:rPr lang="en-VN" sz="500">
                          <a:effectLst/>
                        </a:rPr>
                        <a:t>TC-DETAIL-06</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SP có giá khuyến mãi</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Xem SP có gia_km &gt; 0 và &lt; gia</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Hiện nhãn "Đang giảm giá", giá KM đỏ + giá cũ gạch ngang.</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2155441074"/>
                  </a:ext>
                </a:extLst>
              </a:tr>
              <a:tr h="322106">
                <a:tc>
                  <a:txBody>
                    <a:bodyPr/>
                    <a:lstStyle/>
                    <a:p>
                      <a:pPr marL="0" marR="0" algn="just">
                        <a:lnSpc>
                          <a:spcPct val="150000"/>
                        </a:lnSpc>
                        <a:spcBef>
                          <a:spcPts val="0"/>
                        </a:spcBef>
                        <a:spcAft>
                          <a:spcPts val="0"/>
                        </a:spcAft>
                      </a:pPr>
                      <a:r>
                        <a:rPr lang="en-VN" sz="500">
                          <a:effectLst/>
                        </a:rPr>
                        <a:t>TC-DETAIL-07</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SP không có KM</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Xem SP có gia_km = 0</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Chỉ hiện 1 mức giá.</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1613776419"/>
                  </a:ext>
                </a:extLst>
              </a:tr>
              <a:tr h="472176">
                <a:tc>
                  <a:txBody>
                    <a:bodyPr/>
                    <a:lstStyle/>
                    <a:p>
                      <a:pPr marL="0" marR="0" algn="just">
                        <a:lnSpc>
                          <a:spcPct val="150000"/>
                        </a:lnSpc>
                        <a:spcBef>
                          <a:spcPts val="0"/>
                        </a:spcBef>
                        <a:spcAft>
                          <a:spcPts val="0"/>
                        </a:spcAft>
                      </a:pPr>
                      <a:r>
                        <a:rPr lang="en-VN" sz="500">
                          <a:effectLst/>
                        </a:rPr>
                        <a:t>TC-DETAIL-08</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Mô tả có ký tự đặc biệt</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SP có mota chứa &lt; &gt; &amp; "quotes"</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Render đúng qua htmlspecialchars, không XSS.</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3244869275"/>
                  </a:ext>
                </a:extLst>
              </a:tr>
              <a:tr h="472176">
                <a:tc>
                  <a:txBody>
                    <a:bodyPr/>
                    <a:lstStyle/>
                    <a:p>
                      <a:pPr marL="0" marR="0" algn="just">
                        <a:lnSpc>
                          <a:spcPct val="150000"/>
                        </a:lnSpc>
                        <a:spcBef>
                          <a:spcPts val="0"/>
                        </a:spcBef>
                        <a:spcAft>
                          <a:spcPts val="0"/>
                        </a:spcAft>
                      </a:pPr>
                      <a:r>
                        <a:rPr lang="en-VN" sz="500">
                          <a:effectLst/>
                        </a:rPr>
                        <a:t>TC-DETAIL-09</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Mô tả rỗng</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SP có mota=""</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Hiện fallback "Thông tin sản phẩm đang được cập nhật."</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3516825109"/>
                  </a:ext>
                </a:extLst>
              </a:tr>
              <a:tr h="472176">
                <a:tc>
                  <a:txBody>
                    <a:bodyPr/>
                    <a:lstStyle/>
                    <a:p>
                      <a:pPr marL="0" marR="0" algn="just">
                        <a:lnSpc>
                          <a:spcPct val="150000"/>
                        </a:lnSpc>
                        <a:spcBef>
                          <a:spcPts val="0"/>
                        </a:spcBef>
                        <a:spcAft>
                          <a:spcPts val="0"/>
                        </a:spcAft>
                      </a:pPr>
                      <a:r>
                        <a:rPr lang="en-VN" sz="500">
                          <a:effectLst/>
                        </a:rPr>
                        <a:t>TC-DETAIL-10</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Danh mục hợp lệ</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GET /loai?idloai=1&amp;page=1</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Hiện tối đa 12 SP, kèm phân trang nếu &gt; 12.</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2070098477"/>
                  </a:ext>
                </a:extLst>
              </a:tr>
              <a:tr h="322106">
                <a:tc>
                  <a:txBody>
                    <a:bodyPr/>
                    <a:lstStyle/>
                    <a:p>
                      <a:pPr marL="0" marR="0" algn="just">
                        <a:lnSpc>
                          <a:spcPct val="150000"/>
                        </a:lnSpc>
                        <a:spcBef>
                          <a:spcPts val="0"/>
                        </a:spcBef>
                        <a:spcAft>
                          <a:spcPts val="0"/>
                        </a:spcAft>
                      </a:pPr>
                      <a:r>
                        <a:rPr lang="en-VN" sz="500">
                          <a:effectLst/>
                        </a:rPr>
                        <a:t>TC-DETAIL-11</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Danh mục không tồn tại</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GET /loai?idloai=999</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404.</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187524444"/>
                  </a:ext>
                </a:extLst>
              </a:tr>
              <a:tr h="472176">
                <a:tc>
                  <a:txBody>
                    <a:bodyPr/>
                    <a:lstStyle/>
                    <a:p>
                      <a:pPr marL="0" marR="0" algn="just">
                        <a:lnSpc>
                          <a:spcPct val="150000"/>
                        </a:lnSpc>
                        <a:spcBef>
                          <a:spcPts val="0"/>
                        </a:spcBef>
                        <a:spcAft>
                          <a:spcPts val="0"/>
                        </a:spcAft>
                      </a:pPr>
                      <a:r>
                        <a:rPr lang="en-VN" sz="500">
                          <a:effectLst/>
                        </a:rPr>
                        <a:t>TC-DETAIL-12</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Trang vượt quá tổng</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GET /loai?idloai=1&amp;page=99</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pageNum bị min() về tongSoTrang.</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978445094"/>
                  </a:ext>
                </a:extLst>
              </a:tr>
              <a:tr h="622245">
                <a:tc>
                  <a:txBody>
                    <a:bodyPr/>
                    <a:lstStyle/>
                    <a:p>
                      <a:pPr marL="0" marR="0" algn="just">
                        <a:lnSpc>
                          <a:spcPct val="150000"/>
                        </a:lnSpc>
                        <a:spcBef>
                          <a:spcPts val="0"/>
                        </a:spcBef>
                        <a:spcAft>
                          <a:spcPts val="0"/>
                        </a:spcAft>
                      </a:pPr>
                      <a:r>
                        <a:rPr lang="en-VN" sz="500">
                          <a:effectLst/>
                        </a:rPr>
                        <a:t>TC-DETAIL-13</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Số lượng SP trong danh mục = 0</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Danh mục rỗng, xem trang</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tongSoTrang=1, trang hiển thị trống nhưng vẫn có breadcrumb.</a:t>
                      </a:r>
                      <a:endParaRPr lang="en-VN" sz="400">
                        <a:effectLst/>
                        <a:latin typeface="Calibri" panose="020F0502020204030204" pitchFamily="34" charset="0"/>
                        <a:ea typeface="Calibri" panose="020F0502020204030204" pitchFamily="34" charset="0"/>
                      </a:endParaRPr>
                    </a:p>
                  </a:txBody>
                  <a:tcPr marL="21406" marR="21406" marT="14271" marB="14271" anchor="ctr"/>
                </a:tc>
                <a:tc>
                  <a:txBody>
                    <a:bodyPr/>
                    <a:lstStyle/>
                    <a:p>
                      <a:pPr marL="0" marR="0" algn="just">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1406" marR="21406" marT="14271" marB="14271" anchor="ctr"/>
                </a:tc>
                <a:extLst>
                  <a:ext uri="{0D108BD9-81ED-4DB2-BD59-A6C34878D82A}">
                    <a16:rowId xmlns:a16="http://schemas.microsoft.com/office/drawing/2014/main" val="3291099835"/>
                  </a:ext>
                </a:extLst>
              </a:tr>
            </a:tbl>
          </a:graphicData>
        </a:graphic>
      </p:graphicFrame>
    </p:spTree>
    <p:extLst>
      <p:ext uri="{BB962C8B-B14F-4D97-AF65-F5344CB8AC3E}">
        <p14:creationId xmlns:p14="http://schemas.microsoft.com/office/powerpoint/2010/main" val="1931792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.2.</a:t>
            </a:r>
            <a:r>
              <a:rPr lang="en-VN" sz="2400" b="1">
                <a:solidFill>
                  <a:srgbClr val="7030A0"/>
                </a:solidFill>
                <a:effectLst/>
                <a:latin typeface="Times New Roman" panose="02020603050405020304" pitchFamily="18" charset="0"/>
                <a:ea typeface="Calibri" panose="020F0502020204030204" pitchFamily="34" charset="0"/>
              </a:rPr>
              <a:t> Kiểm thử chức năng</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6D8D0D0F-BD3B-A2A2-677D-457A5C0F6FD0}"/>
              </a:ext>
            </a:extLst>
          </p:cNvPr>
          <p:cNvSpPr txBox="1"/>
          <p:nvPr/>
        </p:nvSpPr>
        <p:spPr>
          <a:xfrm>
            <a:off x="595884" y="1249288"/>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Nhóm test case: Tìm kiếm</a:t>
            </a:r>
            <a:r>
              <a:rPr lang="en-VN">
                <a:effectLst/>
              </a:rPr>
              <a:t> </a:t>
            </a:r>
            <a:endParaRPr lang="en-VN"/>
          </a:p>
        </p:txBody>
      </p:sp>
      <p:graphicFrame>
        <p:nvGraphicFramePr>
          <p:cNvPr id="8" name="Table 7">
            <a:extLst>
              <a:ext uri="{FF2B5EF4-FFF2-40B4-BE49-F238E27FC236}">
                <a16:creationId xmlns:a16="http://schemas.microsoft.com/office/drawing/2014/main" id="{59A41AA7-7CA3-EB89-024B-59998BEDBF18}"/>
              </a:ext>
            </a:extLst>
          </p:cNvPr>
          <p:cNvGraphicFramePr>
            <a:graphicFrameLocks noGrp="1"/>
          </p:cNvGraphicFramePr>
          <p:nvPr>
            <p:extLst>
              <p:ext uri="{D42A27DB-BD31-4B8C-83A1-F6EECF244321}">
                <p14:modId xmlns:p14="http://schemas.microsoft.com/office/powerpoint/2010/main" val="2721081016"/>
              </p:ext>
            </p:extLst>
          </p:nvPr>
        </p:nvGraphicFramePr>
        <p:xfrm>
          <a:off x="5558169" y="99522"/>
          <a:ext cx="4528833" cy="6143579"/>
        </p:xfrm>
        <a:graphic>
          <a:graphicData uri="http://schemas.openxmlformats.org/drawingml/2006/table">
            <a:tbl>
              <a:tblPr>
                <a:tableStyleId>{5C22544A-7EE6-4342-B048-85BDC9FD1C3A}</a:tableStyleId>
              </a:tblPr>
              <a:tblGrid>
                <a:gridCol w="908913">
                  <a:extLst>
                    <a:ext uri="{9D8B030D-6E8A-4147-A177-3AD203B41FA5}">
                      <a16:colId xmlns:a16="http://schemas.microsoft.com/office/drawing/2014/main" val="4135401736"/>
                    </a:ext>
                  </a:extLst>
                </a:gridCol>
                <a:gridCol w="707082">
                  <a:extLst>
                    <a:ext uri="{9D8B030D-6E8A-4147-A177-3AD203B41FA5}">
                      <a16:colId xmlns:a16="http://schemas.microsoft.com/office/drawing/2014/main" val="1111892731"/>
                    </a:ext>
                  </a:extLst>
                </a:gridCol>
                <a:gridCol w="1537331">
                  <a:extLst>
                    <a:ext uri="{9D8B030D-6E8A-4147-A177-3AD203B41FA5}">
                      <a16:colId xmlns:a16="http://schemas.microsoft.com/office/drawing/2014/main" val="321772042"/>
                    </a:ext>
                  </a:extLst>
                </a:gridCol>
                <a:gridCol w="890034">
                  <a:extLst>
                    <a:ext uri="{9D8B030D-6E8A-4147-A177-3AD203B41FA5}">
                      <a16:colId xmlns:a16="http://schemas.microsoft.com/office/drawing/2014/main" val="3481154420"/>
                    </a:ext>
                  </a:extLst>
                </a:gridCol>
                <a:gridCol w="485473">
                  <a:extLst>
                    <a:ext uri="{9D8B030D-6E8A-4147-A177-3AD203B41FA5}">
                      <a16:colId xmlns:a16="http://schemas.microsoft.com/office/drawing/2014/main" val="2418959177"/>
                    </a:ext>
                  </a:extLst>
                </a:gridCol>
              </a:tblGrid>
              <a:tr h="295706">
                <a:tc>
                  <a:txBody>
                    <a:bodyPr/>
                    <a:lstStyle/>
                    <a:p>
                      <a:pPr marL="0" marR="0" algn="ctr">
                        <a:lnSpc>
                          <a:spcPct val="150000"/>
                        </a:lnSpc>
                        <a:spcBef>
                          <a:spcPts val="0"/>
                        </a:spcBef>
                        <a:spcAft>
                          <a:spcPts val="0"/>
                        </a:spcAft>
                      </a:pPr>
                      <a:r>
                        <a:rPr lang="en-VN" sz="500">
                          <a:effectLst/>
                        </a:rPr>
                        <a:t>ID</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gn="ctr">
                        <a:lnSpc>
                          <a:spcPct val="150000"/>
                        </a:lnSpc>
                        <a:spcBef>
                          <a:spcPts val="0"/>
                        </a:spcBef>
                        <a:spcAft>
                          <a:spcPts val="0"/>
                        </a:spcAft>
                      </a:pPr>
                      <a:r>
                        <a:rPr lang="en-VN" sz="500">
                          <a:effectLst/>
                        </a:rPr>
                        <a:t>Tình huống</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gn="ctr">
                        <a:lnSpc>
                          <a:spcPct val="150000"/>
                        </a:lnSpc>
                        <a:spcBef>
                          <a:spcPts val="0"/>
                        </a:spcBef>
                        <a:spcAft>
                          <a:spcPts val="0"/>
                        </a:spcAft>
                      </a:pPr>
                      <a:r>
                        <a:rPr lang="en-VN" sz="500">
                          <a:effectLst/>
                        </a:rPr>
                        <a:t>Các bước / Dữ liệu</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gn="ctr">
                        <a:lnSpc>
                          <a:spcPct val="150000"/>
                        </a:lnSpc>
                        <a:spcBef>
                          <a:spcPts val="0"/>
                        </a:spcBef>
                        <a:spcAft>
                          <a:spcPts val="0"/>
                        </a:spcAft>
                      </a:pPr>
                      <a:r>
                        <a:rPr lang="en-VN" sz="500">
                          <a:effectLst/>
                        </a:rPr>
                        <a:t>Kết quả kỳ vọng</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gn="ctr">
                        <a:lnSpc>
                          <a:spcPct val="150000"/>
                        </a:lnSpc>
                        <a:spcBef>
                          <a:spcPts val="0"/>
                        </a:spcBef>
                        <a:spcAft>
                          <a:spcPts val="0"/>
                        </a:spcAft>
                      </a:pPr>
                      <a:r>
                        <a:rPr lang="en-VN" sz="500">
                          <a:effectLst/>
                        </a:rPr>
                        <a:t>Ưu tiên</a:t>
                      </a:r>
                      <a:endParaRPr lang="en-VN" sz="400">
                        <a:effectLst/>
                        <a:latin typeface="Calibri" panose="020F0502020204030204" pitchFamily="34" charset="0"/>
                        <a:ea typeface="Calibri" panose="020F0502020204030204" pitchFamily="34" charset="0"/>
                      </a:endParaRPr>
                    </a:p>
                  </a:txBody>
                  <a:tcPr marL="20741" marR="20741" marT="13828" marB="13828" anchor="ctr"/>
                </a:tc>
                <a:extLst>
                  <a:ext uri="{0D108BD9-81ED-4DB2-BD59-A6C34878D82A}">
                    <a16:rowId xmlns:a16="http://schemas.microsoft.com/office/drawing/2014/main" val="3621328158"/>
                  </a:ext>
                </a:extLst>
              </a:tr>
              <a:tr h="1040808">
                <a:tc>
                  <a:txBody>
                    <a:bodyPr/>
                    <a:lstStyle/>
                    <a:p>
                      <a:pPr marL="0" marR="0">
                        <a:lnSpc>
                          <a:spcPct val="150000"/>
                        </a:lnSpc>
                        <a:spcBef>
                          <a:spcPts val="0"/>
                        </a:spcBef>
                        <a:spcAft>
                          <a:spcPts val="0"/>
                        </a:spcAft>
                      </a:pPr>
                      <a:r>
                        <a:rPr lang="en-VN" sz="500">
                          <a:effectLst/>
                        </a:rPr>
                        <a:t>TC-SEARCH-01</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Tìm SP hợp lệ</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POST /tk keyword="Dell"</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Hiện danh sách SP có ten_sp chứa "Dell". Tiêu đề trang: "Kết quả tìm kiếm cho 'Dell'".</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741" marR="20741" marT="13828" marB="13828" anchor="ctr"/>
                </a:tc>
                <a:extLst>
                  <a:ext uri="{0D108BD9-81ED-4DB2-BD59-A6C34878D82A}">
                    <a16:rowId xmlns:a16="http://schemas.microsoft.com/office/drawing/2014/main" val="2184379625"/>
                  </a:ext>
                </a:extLst>
              </a:tr>
              <a:tr h="895008">
                <a:tc>
                  <a:txBody>
                    <a:bodyPr/>
                    <a:lstStyle/>
                    <a:p>
                      <a:pPr marL="0" marR="0">
                        <a:lnSpc>
                          <a:spcPct val="150000"/>
                        </a:lnSpc>
                        <a:spcBef>
                          <a:spcPts val="0"/>
                        </a:spcBef>
                        <a:spcAft>
                          <a:spcPts val="0"/>
                        </a:spcAft>
                      </a:pPr>
                      <a:r>
                        <a:rPr lang="en-VN" sz="500">
                          <a:effectLst/>
                        </a:rPr>
                        <a:t>TC-SEARCH-02</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Từ khoá rỗng</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POST /tk keyword=""</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Trả về mảng rỗng, hiện empty state "Chưa tìm thấy sản phẩm phù hợp".</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0741" marR="20741" marT="13828" marB="13828" anchor="ctr"/>
                </a:tc>
                <a:extLst>
                  <a:ext uri="{0D108BD9-81ED-4DB2-BD59-A6C34878D82A}">
                    <a16:rowId xmlns:a16="http://schemas.microsoft.com/office/drawing/2014/main" val="882437286"/>
                  </a:ext>
                </a:extLst>
              </a:tr>
              <a:tr h="603410">
                <a:tc>
                  <a:txBody>
                    <a:bodyPr/>
                    <a:lstStyle/>
                    <a:p>
                      <a:pPr marL="0" marR="0">
                        <a:lnSpc>
                          <a:spcPct val="150000"/>
                        </a:lnSpc>
                        <a:spcBef>
                          <a:spcPts val="0"/>
                        </a:spcBef>
                        <a:spcAft>
                          <a:spcPts val="0"/>
                        </a:spcAft>
                      </a:pPr>
                      <a:r>
                        <a:rPr lang="en-VN" sz="500">
                          <a:effectLst/>
                        </a:rPr>
                        <a:t>TC-SEARCH-03</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Từ khoá có ký tự HTML</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keyword=&lt;script&gt;alert(1)&lt;/script&gt;</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strip_tags loại bỏ, không thực thi. Title escape đúng.</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741" marR="20741" marT="13828" marB="13828" anchor="ctr"/>
                </a:tc>
                <a:extLst>
                  <a:ext uri="{0D108BD9-81ED-4DB2-BD59-A6C34878D82A}">
                    <a16:rowId xmlns:a16="http://schemas.microsoft.com/office/drawing/2014/main" val="2329812196"/>
                  </a:ext>
                </a:extLst>
              </a:tr>
              <a:tr h="895008">
                <a:tc>
                  <a:txBody>
                    <a:bodyPr/>
                    <a:lstStyle/>
                    <a:p>
                      <a:pPr marL="0" marR="0">
                        <a:lnSpc>
                          <a:spcPct val="150000"/>
                        </a:lnSpc>
                        <a:spcBef>
                          <a:spcPts val="0"/>
                        </a:spcBef>
                        <a:spcAft>
                          <a:spcPts val="0"/>
                        </a:spcAft>
                      </a:pPr>
                      <a:r>
                        <a:rPr lang="en-VN" sz="500">
                          <a:effectLst/>
                        </a:rPr>
                        <a:t>TC-SEARCH-04</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Từ khoá có ký tự SQL</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keyword="'; DROP TABLE sanpham;--"</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Truy vấn dùng prepared statement với bindValue → an toàn, không lỗi 500.</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741" marR="20741" marT="13828" marB="13828" anchor="ctr"/>
                </a:tc>
                <a:extLst>
                  <a:ext uri="{0D108BD9-81ED-4DB2-BD59-A6C34878D82A}">
                    <a16:rowId xmlns:a16="http://schemas.microsoft.com/office/drawing/2014/main" val="1081576776"/>
                  </a:ext>
                </a:extLst>
              </a:tr>
              <a:tr h="457610">
                <a:tc>
                  <a:txBody>
                    <a:bodyPr/>
                    <a:lstStyle/>
                    <a:p>
                      <a:pPr marL="0" marR="0">
                        <a:lnSpc>
                          <a:spcPct val="150000"/>
                        </a:lnSpc>
                        <a:spcBef>
                          <a:spcPts val="0"/>
                        </a:spcBef>
                        <a:spcAft>
                          <a:spcPts val="0"/>
                        </a:spcAft>
                      </a:pPr>
                      <a:r>
                        <a:rPr lang="en-VN" sz="500">
                          <a:effectLst/>
                        </a:rPr>
                        <a:t>TC-SEARCH-05</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Từ khoá tiếng Việt có dấu</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keyword="máy văn phòng"</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Trả kết quả LIKE %máy văn phòng%.</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0741" marR="20741" marT="13828" marB="13828" anchor="ctr"/>
                </a:tc>
                <a:extLst>
                  <a:ext uri="{0D108BD9-81ED-4DB2-BD59-A6C34878D82A}">
                    <a16:rowId xmlns:a16="http://schemas.microsoft.com/office/drawing/2014/main" val="67123267"/>
                  </a:ext>
                </a:extLst>
              </a:tr>
              <a:tr h="749209">
                <a:tc>
                  <a:txBody>
                    <a:bodyPr/>
                    <a:lstStyle/>
                    <a:p>
                      <a:pPr marL="0" marR="0">
                        <a:lnSpc>
                          <a:spcPct val="150000"/>
                        </a:lnSpc>
                        <a:spcBef>
                          <a:spcPts val="0"/>
                        </a:spcBef>
                        <a:spcAft>
                          <a:spcPts val="0"/>
                        </a:spcAft>
                      </a:pPr>
                      <a:r>
                        <a:rPr lang="en-VN" sz="500">
                          <a:effectLst/>
                        </a:rPr>
                        <a:t>TC-SEARCH-06</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Chỉ trả về SP anhien=1</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Ẩn một SP có tên khớp, tìm</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SP đó không xuất hiện (onlyVisible=true trong searchResult).</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H</a:t>
                      </a:r>
                      <a:endParaRPr lang="en-VN" sz="400">
                        <a:effectLst/>
                        <a:latin typeface="Calibri" panose="020F0502020204030204" pitchFamily="34" charset="0"/>
                        <a:ea typeface="Calibri" panose="020F0502020204030204" pitchFamily="34" charset="0"/>
                      </a:endParaRPr>
                    </a:p>
                  </a:txBody>
                  <a:tcPr marL="20741" marR="20741" marT="13828" marB="13828" anchor="ctr"/>
                </a:tc>
                <a:extLst>
                  <a:ext uri="{0D108BD9-81ED-4DB2-BD59-A6C34878D82A}">
                    <a16:rowId xmlns:a16="http://schemas.microsoft.com/office/drawing/2014/main" val="3105217799"/>
                  </a:ext>
                </a:extLst>
              </a:tr>
              <a:tr h="603410">
                <a:tc>
                  <a:txBody>
                    <a:bodyPr/>
                    <a:lstStyle/>
                    <a:p>
                      <a:pPr marL="0" marR="0">
                        <a:lnSpc>
                          <a:spcPct val="150000"/>
                        </a:lnSpc>
                        <a:spcBef>
                          <a:spcPts val="0"/>
                        </a:spcBef>
                        <a:spcAft>
                          <a:spcPts val="0"/>
                        </a:spcAft>
                      </a:pPr>
                      <a:r>
                        <a:rPr lang="en-VN" sz="500">
                          <a:effectLst/>
                        </a:rPr>
                        <a:t>TC-SEARCH-07</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Nhiều kết quả &gt; 50</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Từ khoá khớp &gt; 50 SP</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Chỉ trả về 50 dòng đầu (pageSize=50 mặc định).</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M</a:t>
                      </a:r>
                      <a:endParaRPr lang="en-VN" sz="400">
                        <a:effectLst/>
                        <a:latin typeface="Calibri" panose="020F0502020204030204" pitchFamily="34" charset="0"/>
                        <a:ea typeface="Calibri" panose="020F0502020204030204" pitchFamily="34" charset="0"/>
                      </a:endParaRPr>
                    </a:p>
                  </a:txBody>
                  <a:tcPr marL="20741" marR="20741" marT="13828" marB="13828" anchor="ctr"/>
                </a:tc>
                <a:extLst>
                  <a:ext uri="{0D108BD9-81ED-4DB2-BD59-A6C34878D82A}">
                    <a16:rowId xmlns:a16="http://schemas.microsoft.com/office/drawing/2014/main" val="1679103564"/>
                  </a:ext>
                </a:extLst>
              </a:tr>
              <a:tr h="603410">
                <a:tc>
                  <a:txBody>
                    <a:bodyPr/>
                    <a:lstStyle/>
                    <a:p>
                      <a:pPr marL="0" marR="0">
                        <a:lnSpc>
                          <a:spcPct val="150000"/>
                        </a:lnSpc>
                        <a:spcBef>
                          <a:spcPts val="0"/>
                        </a:spcBef>
                        <a:spcAft>
                          <a:spcPts val="0"/>
                        </a:spcAft>
                      </a:pPr>
                      <a:r>
                        <a:rPr lang="en-VN" sz="500">
                          <a:effectLst/>
                        </a:rPr>
                        <a:t>TC-SEARCH-08</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GET /tk (không keyword)</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GET /tk</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Hiển thị form tìm kiếm rỗng, autofocus vào input.</a:t>
                      </a:r>
                      <a:endParaRPr lang="en-VN" sz="400">
                        <a:effectLst/>
                        <a:latin typeface="Calibri" panose="020F0502020204030204" pitchFamily="34" charset="0"/>
                        <a:ea typeface="Calibri" panose="020F0502020204030204" pitchFamily="34" charset="0"/>
                      </a:endParaRPr>
                    </a:p>
                  </a:txBody>
                  <a:tcPr marL="20741" marR="20741" marT="13828" marB="13828" anchor="ctr"/>
                </a:tc>
                <a:tc>
                  <a:txBody>
                    <a:bodyPr/>
                    <a:lstStyle/>
                    <a:p>
                      <a:pPr marL="0" marR="0">
                        <a:lnSpc>
                          <a:spcPct val="150000"/>
                        </a:lnSpc>
                        <a:spcBef>
                          <a:spcPts val="0"/>
                        </a:spcBef>
                        <a:spcAft>
                          <a:spcPts val="0"/>
                        </a:spcAft>
                      </a:pPr>
                      <a:r>
                        <a:rPr lang="en-VN" sz="500">
                          <a:effectLst/>
                        </a:rPr>
                        <a:t>L</a:t>
                      </a:r>
                      <a:endParaRPr lang="en-VN" sz="400">
                        <a:effectLst/>
                        <a:latin typeface="Calibri" panose="020F0502020204030204" pitchFamily="34" charset="0"/>
                        <a:ea typeface="Calibri" panose="020F0502020204030204" pitchFamily="34" charset="0"/>
                      </a:endParaRPr>
                    </a:p>
                  </a:txBody>
                  <a:tcPr marL="20741" marR="20741" marT="13828" marB="13828" anchor="ctr"/>
                </a:tc>
                <a:extLst>
                  <a:ext uri="{0D108BD9-81ED-4DB2-BD59-A6C34878D82A}">
                    <a16:rowId xmlns:a16="http://schemas.microsoft.com/office/drawing/2014/main" val="2560227616"/>
                  </a:ext>
                </a:extLst>
              </a:tr>
            </a:tbl>
          </a:graphicData>
        </a:graphic>
      </p:graphicFrame>
    </p:spTree>
    <p:extLst>
      <p:ext uri="{BB962C8B-B14F-4D97-AF65-F5344CB8AC3E}">
        <p14:creationId xmlns:p14="http://schemas.microsoft.com/office/powerpoint/2010/main" val="10724501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.2.</a:t>
            </a:r>
            <a:r>
              <a:rPr lang="en-VN" sz="2400" b="1">
                <a:solidFill>
                  <a:srgbClr val="7030A0"/>
                </a:solidFill>
                <a:effectLst/>
                <a:latin typeface="Times New Roman" panose="02020603050405020304" pitchFamily="18" charset="0"/>
                <a:ea typeface="Calibri" panose="020F0502020204030204" pitchFamily="34" charset="0"/>
              </a:rPr>
              <a:t> Kiểm thử chức năng</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6D8D0D0F-BD3B-A2A2-677D-457A5C0F6FD0}"/>
              </a:ext>
            </a:extLst>
          </p:cNvPr>
          <p:cNvSpPr txBox="1"/>
          <p:nvPr/>
        </p:nvSpPr>
        <p:spPr>
          <a:xfrm>
            <a:off x="595884" y="1249288"/>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Nhóm test case: Giỏ hàng</a:t>
            </a:r>
            <a:r>
              <a:rPr lang="en-VN">
                <a:effectLst/>
              </a:rPr>
              <a:t> </a:t>
            </a:r>
            <a:endParaRPr lang="en-VN"/>
          </a:p>
        </p:txBody>
      </p:sp>
      <p:graphicFrame>
        <p:nvGraphicFramePr>
          <p:cNvPr id="3" name="Table 2">
            <a:extLst>
              <a:ext uri="{FF2B5EF4-FFF2-40B4-BE49-F238E27FC236}">
                <a16:creationId xmlns:a16="http://schemas.microsoft.com/office/drawing/2014/main" id="{75EBD624-C51D-F39E-042C-F0D6E42B4DF9}"/>
              </a:ext>
            </a:extLst>
          </p:cNvPr>
          <p:cNvGraphicFramePr>
            <a:graphicFrameLocks noGrp="1"/>
          </p:cNvGraphicFramePr>
          <p:nvPr>
            <p:extLst>
              <p:ext uri="{D42A27DB-BD31-4B8C-83A1-F6EECF244321}">
                <p14:modId xmlns:p14="http://schemas.microsoft.com/office/powerpoint/2010/main" val="211288760"/>
              </p:ext>
            </p:extLst>
          </p:nvPr>
        </p:nvGraphicFramePr>
        <p:xfrm>
          <a:off x="5828283" y="66457"/>
          <a:ext cx="4339081" cy="5562068"/>
        </p:xfrm>
        <a:graphic>
          <a:graphicData uri="http://schemas.openxmlformats.org/drawingml/2006/table">
            <a:tbl>
              <a:tblPr>
                <a:tableStyleId>{5C22544A-7EE6-4342-B048-85BDC9FD1C3A}</a:tableStyleId>
              </a:tblPr>
              <a:tblGrid>
                <a:gridCol w="787131">
                  <a:extLst>
                    <a:ext uri="{9D8B030D-6E8A-4147-A177-3AD203B41FA5}">
                      <a16:colId xmlns:a16="http://schemas.microsoft.com/office/drawing/2014/main" val="2019174285"/>
                    </a:ext>
                  </a:extLst>
                </a:gridCol>
                <a:gridCol w="802039">
                  <a:extLst>
                    <a:ext uri="{9D8B030D-6E8A-4147-A177-3AD203B41FA5}">
                      <a16:colId xmlns:a16="http://schemas.microsoft.com/office/drawing/2014/main" val="4028325496"/>
                    </a:ext>
                  </a:extLst>
                </a:gridCol>
                <a:gridCol w="1366842">
                  <a:extLst>
                    <a:ext uri="{9D8B030D-6E8A-4147-A177-3AD203B41FA5}">
                      <a16:colId xmlns:a16="http://schemas.microsoft.com/office/drawing/2014/main" val="730516244"/>
                    </a:ext>
                  </a:extLst>
                </a:gridCol>
                <a:gridCol w="1039713">
                  <a:extLst>
                    <a:ext uri="{9D8B030D-6E8A-4147-A177-3AD203B41FA5}">
                      <a16:colId xmlns:a16="http://schemas.microsoft.com/office/drawing/2014/main" val="3437393599"/>
                    </a:ext>
                  </a:extLst>
                </a:gridCol>
                <a:gridCol w="343356">
                  <a:extLst>
                    <a:ext uri="{9D8B030D-6E8A-4147-A177-3AD203B41FA5}">
                      <a16:colId xmlns:a16="http://schemas.microsoft.com/office/drawing/2014/main" val="1083829342"/>
                    </a:ext>
                  </a:extLst>
                </a:gridCol>
              </a:tblGrid>
              <a:tr h="218600">
                <a:tc>
                  <a:txBody>
                    <a:bodyPr/>
                    <a:lstStyle/>
                    <a:p>
                      <a:pPr marL="0" marR="0" algn="ctr">
                        <a:lnSpc>
                          <a:spcPct val="150000"/>
                        </a:lnSpc>
                        <a:spcBef>
                          <a:spcPts val="0"/>
                        </a:spcBef>
                        <a:spcAft>
                          <a:spcPts val="0"/>
                        </a:spcAft>
                      </a:pPr>
                      <a:r>
                        <a:rPr lang="en-VN" sz="300">
                          <a:effectLst/>
                        </a:rPr>
                        <a:t>ID</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gn="ctr">
                        <a:lnSpc>
                          <a:spcPct val="150000"/>
                        </a:lnSpc>
                        <a:spcBef>
                          <a:spcPts val="0"/>
                        </a:spcBef>
                        <a:spcAft>
                          <a:spcPts val="0"/>
                        </a:spcAft>
                      </a:pPr>
                      <a:r>
                        <a:rPr lang="en-VN" sz="300">
                          <a:effectLst/>
                        </a:rPr>
                        <a:t>Tình huống</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gn="ctr">
                        <a:lnSpc>
                          <a:spcPct val="150000"/>
                        </a:lnSpc>
                        <a:spcBef>
                          <a:spcPts val="0"/>
                        </a:spcBef>
                        <a:spcAft>
                          <a:spcPts val="0"/>
                        </a:spcAft>
                      </a:pPr>
                      <a:r>
                        <a:rPr lang="en-VN" sz="300">
                          <a:effectLst/>
                        </a:rPr>
                        <a:t>Các bước / Dữ liệu</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gn="ctr">
                        <a:lnSpc>
                          <a:spcPct val="150000"/>
                        </a:lnSpc>
                        <a:spcBef>
                          <a:spcPts val="0"/>
                        </a:spcBef>
                        <a:spcAft>
                          <a:spcPts val="0"/>
                        </a:spcAft>
                      </a:pPr>
                      <a:r>
                        <a:rPr lang="en-VN" sz="300">
                          <a:effectLst/>
                        </a:rPr>
                        <a:t>Kết quả kỳ vọng</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gn="ctr">
                        <a:lnSpc>
                          <a:spcPct val="150000"/>
                        </a:lnSpc>
                        <a:spcBef>
                          <a:spcPts val="0"/>
                        </a:spcBef>
                        <a:spcAft>
                          <a:spcPts val="0"/>
                        </a:spcAft>
                      </a:pPr>
                      <a:r>
                        <a:rPr lang="en-VN" sz="300">
                          <a:effectLst/>
                        </a:rPr>
                        <a:t>Ưu tiên</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2845067853"/>
                  </a:ext>
                </a:extLst>
              </a:tr>
              <a:tr h="422009">
                <a:tc>
                  <a:txBody>
                    <a:bodyPr/>
                    <a:lstStyle/>
                    <a:p>
                      <a:pPr marL="0" marR="0">
                        <a:lnSpc>
                          <a:spcPct val="150000"/>
                        </a:lnSpc>
                        <a:spcBef>
                          <a:spcPts val="0"/>
                        </a:spcBef>
                        <a:spcAft>
                          <a:spcPts val="0"/>
                        </a:spcAft>
                      </a:pPr>
                      <a:r>
                        <a:rPr lang="en-VN" sz="300">
                          <a:effectLst/>
                        </a:rPr>
                        <a:t>TC-CART-01</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Thêm SP mới vào giỏ trống</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GET /addtocart?id=1&amp;soluong=2</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Cart có [1=&gt;2], flash "Đã thêm sản phẩm vào giỏ hàng", redirect /showcart.</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2962165831"/>
                  </a:ext>
                </a:extLst>
              </a:tr>
              <a:tr h="218600">
                <a:tc>
                  <a:txBody>
                    <a:bodyPr/>
                    <a:lstStyle/>
                    <a:p>
                      <a:pPr marL="0" marR="0">
                        <a:lnSpc>
                          <a:spcPct val="150000"/>
                        </a:lnSpc>
                        <a:spcBef>
                          <a:spcPts val="0"/>
                        </a:spcBef>
                        <a:spcAft>
                          <a:spcPts val="0"/>
                        </a:spcAft>
                      </a:pPr>
                      <a:r>
                        <a:rPr lang="en-VN" sz="300">
                          <a:effectLst/>
                        </a:rPr>
                        <a:t>TC-CART-02</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Thêm SP đã có trong giỏ</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Cart đã có id=1 số 2, thêm tiếp id=1 soluong=3</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Số lượng thành 5.</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1761323602"/>
                  </a:ext>
                </a:extLst>
              </a:tr>
              <a:tr h="218600">
                <a:tc>
                  <a:txBody>
                    <a:bodyPr/>
                    <a:lstStyle/>
                    <a:p>
                      <a:pPr marL="0" marR="0">
                        <a:lnSpc>
                          <a:spcPct val="150000"/>
                        </a:lnSpc>
                        <a:spcBef>
                          <a:spcPts val="0"/>
                        </a:spcBef>
                        <a:spcAft>
                          <a:spcPts val="0"/>
                        </a:spcAft>
                      </a:pPr>
                      <a:r>
                        <a:rPr lang="en-VN" sz="300">
                          <a:effectLst/>
                        </a:rPr>
                        <a:t>TC-CART-03</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Số lượng vượt max 99</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Thêm id=1 với soluong=200</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Bị min(99, ...) → cap về 99.</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3740575348"/>
                  </a:ext>
                </a:extLst>
              </a:tr>
              <a:tr h="218600">
                <a:tc>
                  <a:txBody>
                    <a:bodyPr/>
                    <a:lstStyle/>
                    <a:p>
                      <a:pPr marL="0" marR="0">
                        <a:lnSpc>
                          <a:spcPct val="150000"/>
                        </a:lnSpc>
                        <a:spcBef>
                          <a:spcPts val="0"/>
                        </a:spcBef>
                        <a:spcAft>
                          <a:spcPts val="0"/>
                        </a:spcAft>
                      </a:pPr>
                      <a:r>
                        <a:rPr lang="en-VN" sz="300">
                          <a:effectLst/>
                        </a:rPr>
                        <a:t>TC-CART-04</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Cộng dồn vượt 99</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Cart có id=1 số 90, add tiếp 20</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Cộng dồn 110 → cap về 99.</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3470355479"/>
                  </a:ext>
                </a:extLst>
              </a:tr>
              <a:tr h="320304">
                <a:tc>
                  <a:txBody>
                    <a:bodyPr/>
                    <a:lstStyle/>
                    <a:p>
                      <a:pPr marL="0" marR="0">
                        <a:lnSpc>
                          <a:spcPct val="150000"/>
                        </a:lnSpc>
                        <a:spcBef>
                          <a:spcPts val="0"/>
                        </a:spcBef>
                        <a:spcAft>
                          <a:spcPts val="0"/>
                        </a:spcAft>
                      </a:pPr>
                      <a:r>
                        <a:rPr lang="en-VN" sz="300">
                          <a:effectLst/>
                        </a:rPr>
                        <a:t>TC-CART-05</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soluong = 0 hoặc âm</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GET /addtocart?id=1&amp;soluong=0</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max(1, ...) → tối thiểu 1 được thêm.</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M</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639401638"/>
                  </a:ext>
                </a:extLst>
              </a:tr>
              <a:tr h="422009">
                <a:tc>
                  <a:txBody>
                    <a:bodyPr/>
                    <a:lstStyle/>
                    <a:p>
                      <a:pPr marL="0" marR="0">
                        <a:lnSpc>
                          <a:spcPct val="150000"/>
                        </a:lnSpc>
                        <a:spcBef>
                          <a:spcPts val="0"/>
                        </a:spcBef>
                        <a:spcAft>
                          <a:spcPts val="0"/>
                        </a:spcAft>
                      </a:pPr>
                      <a:r>
                        <a:rPr lang="en-VN" sz="300">
                          <a:effectLst/>
                        </a:rPr>
                        <a:t>TC-CART-06</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Thêm SP không tồn tại</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GET /addtocart?id=9999</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error_message "Sản phẩm không tồn tại hoặc đang tạm ẩn.", redirect trang chủ.</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2606295185"/>
                  </a:ext>
                </a:extLst>
              </a:tr>
              <a:tr h="218600">
                <a:tc>
                  <a:txBody>
                    <a:bodyPr/>
                    <a:lstStyle/>
                    <a:p>
                      <a:pPr marL="0" marR="0">
                        <a:lnSpc>
                          <a:spcPct val="150000"/>
                        </a:lnSpc>
                        <a:spcBef>
                          <a:spcPts val="0"/>
                        </a:spcBef>
                        <a:spcAft>
                          <a:spcPts val="0"/>
                        </a:spcAft>
                      </a:pPr>
                      <a:r>
                        <a:rPr lang="en-VN" sz="300">
                          <a:effectLst/>
                        </a:rPr>
                        <a:t>TC-CART-07</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Thêm SP đang ẩn</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Admin ẩn SP, guest thêm</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Từ chối như TC-06.</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3407932993"/>
                  </a:ext>
                </a:extLst>
              </a:tr>
              <a:tr h="422009">
                <a:tc>
                  <a:txBody>
                    <a:bodyPr/>
                    <a:lstStyle/>
                    <a:p>
                      <a:pPr marL="0" marR="0">
                        <a:lnSpc>
                          <a:spcPct val="150000"/>
                        </a:lnSpc>
                        <a:spcBef>
                          <a:spcPts val="0"/>
                        </a:spcBef>
                        <a:spcAft>
                          <a:spcPts val="0"/>
                        </a:spcAft>
                      </a:pPr>
                      <a:r>
                        <a:rPr lang="en-VN" sz="300">
                          <a:effectLst/>
                        </a:rPr>
                        <a:t>TC-CART-08</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Xem giỏ trống</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Truy cập /showcart khi cart rỗng</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Hiển thị showcart_empty.php với CTA "Tiếp tục mua sắm".</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2321830485"/>
                  </a:ext>
                </a:extLst>
              </a:tr>
              <a:tr h="218600">
                <a:tc>
                  <a:txBody>
                    <a:bodyPr/>
                    <a:lstStyle/>
                    <a:p>
                      <a:pPr marL="0" marR="0">
                        <a:lnSpc>
                          <a:spcPct val="150000"/>
                        </a:lnSpc>
                        <a:spcBef>
                          <a:spcPts val="0"/>
                        </a:spcBef>
                        <a:spcAft>
                          <a:spcPts val="0"/>
                        </a:spcAft>
                      </a:pPr>
                      <a:r>
                        <a:rPr lang="en-VN" sz="300">
                          <a:effectLst/>
                        </a:rPr>
                        <a:t>TC-CART-09</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Cập nhật số lượng</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POST /updatecart soluong[1]=5</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Cart[1]=5, flash "Đã cập nhật giỏ hàng."</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1682807408"/>
                  </a:ext>
                </a:extLst>
              </a:tr>
              <a:tr h="218600">
                <a:tc>
                  <a:txBody>
                    <a:bodyPr/>
                    <a:lstStyle/>
                    <a:p>
                      <a:pPr marL="0" marR="0">
                        <a:lnSpc>
                          <a:spcPct val="150000"/>
                        </a:lnSpc>
                        <a:spcBef>
                          <a:spcPts val="0"/>
                        </a:spcBef>
                        <a:spcAft>
                          <a:spcPts val="0"/>
                        </a:spcAft>
                      </a:pPr>
                      <a:r>
                        <a:rPr lang="en-VN" sz="300">
                          <a:effectLst/>
                        </a:rPr>
                        <a:t>TC-CART-10</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Set số lượng = 0 khi cập nhật</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POST /updatecart soluong[1]=0</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SP bị unset khỏi cart.</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26393575"/>
                  </a:ext>
                </a:extLst>
              </a:tr>
              <a:tr h="320304">
                <a:tc>
                  <a:txBody>
                    <a:bodyPr/>
                    <a:lstStyle/>
                    <a:p>
                      <a:pPr marL="0" marR="0">
                        <a:lnSpc>
                          <a:spcPct val="150000"/>
                        </a:lnSpc>
                        <a:spcBef>
                          <a:spcPts val="0"/>
                        </a:spcBef>
                        <a:spcAft>
                          <a:spcPts val="0"/>
                        </a:spcAft>
                      </a:pPr>
                      <a:r>
                        <a:rPr lang="en-VN" sz="300">
                          <a:effectLst/>
                        </a:rPr>
                        <a:t>TC-CART-11</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Cập nhật với body không phải mảng</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POST /updatecart soluong="abc"</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Server bỏ qua, redirect /showcart không lỗi.</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M</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2935268437"/>
                  </a:ext>
                </a:extLst>
              </a:tr>
              <a:tr h="218600">
                <a:tc>
                  <a:txBody>
                    <a:bodyPr/>
                    <a:lstStyle/>
                    <a:p>
                      <a:pPr marL="0" marR="0">
                        <a:lnSpc>
                          <a:spcPct val="150000"/>
                        </a:lnSpc>
                        <a:spcBef>
                          <a:spcPts val="0"/>
                        </a:spcBef>
                        <a:spcAft>
                          <a:spcPts val="0"/>
                        </a:spcAft>
                      </a:pPr>
                      <a:r>
                        <a:rPr lang="en-VN" sz="300">
                          <a:effectLst/>
                        </a:rPr>
                        <a:t>TC-CART-12</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Xoá 1 SP</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GET /removefromcart?id=1</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SP id=1 bị unset. Flash message.</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3483107920"/>
                  </a:ext>
                </a:extLst>
              </a:tr>
              <a:tr h="218600">
                <a:tc>
                  <a:txBody>
                    <a:bodyPr/>
                    <a:lstStyle/>
                    <a:p>
                      <a:pPr marL="0" marR="0">
                        <a:lnSpc>
                          <a:spcPct val="150000"/>
                        </a:lnSpc>
                        <a:spcBef>
                          <a:spcPts val="0"/>
                        </a:spcBef>
                        <a:spcAft>
                          <a:spcPts val="0"/>
                        </a:spcAft>
                      </a:pPr>
                      <a:r>
                        <a:rPr lang="en-VN" sz="300">
                          <a:effectLst/>
                        </a:rPr>
                        <a:t>TC-CART-13</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Clear cart với confirm</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Click "Làm trống" - confirm dialog OK</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Cart bị unset hoàn toàn.</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3804080106"/>
                  </a:ext>
                </a:extLst>
              </a:tr>
              <a:tr h="625417">
                <a:tc>
                  <a:txBody>
                    <a:bodyPr/>
                    <a:lstStyle/>
                    <a:p>
                      <a:pPr marL="0" marR="0">
                        <a:lnSpc>
                          <a:spcPct val="150000"/>
                        </a:lnSpc>
                        <a:spcBef>
                          <a:spcPts val="0"/>
                        </a:spcBef>
                        <a:spcAft>
                          <a:spcPts val="0"/>
                        </a:spcAft>
                      </a:pPr>
                      <a:r>
                        <a:rPr lang="en-VN" sz="300">
                          <a:effectLst/>
                        </a:rPr>
                        <a:t>TC-CART-14</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SP trong cart bị admin xoá</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Có id=5 trong cart, admin xoá SP đó, mở /showcart</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Dòng SP bị bỏ qua (continue) → không hiển thị nhưng KHÔNG có thông báo cho user (bug UX).</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157826661"/>
                  </a:ext>
                </a:extLst>
              </a:tr>
              <a:tr h="523712">
                <a:tc>
                  <a:txBody>
                    <a:bodyPr/>
                    <a:lstStyle/>
                    <a:p>
                      <a:pPr marL="0" marR="0">
                        <a:lnSpc>
                          <a:spcPct val="150000"/>
                        </a:lnSpc>
                        <a:spcBef>
                          <a:spcPts val="0"/>
                        </a:spcBef>
                        <a:spcAft>
                          <a:spcPts val="0"/>
                        </a:spcAft>
                      </a:pPr>
                      <a:r>
                        <a:rPr lang="en-VN" sz="300">
                          <a:effectLst/>
                        </a:rPr>
                        <a:t>TC-CART-15</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Giá SP đổi sau khi thêm</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Cart có id=1, admin đổi gia</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Cart tính theo giá HIỆN TẠI khi hiển thị – có thể khác giá lúc thêm (bug: user không biết).</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M</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2781161753"/>
                  </a:ext>
                </a:extLst>
              </a:tr>
              <a:tr h="218600">
                <a:tc>
                  <a:txBody>
                    <a:bodyPr/>
                    <a:lstStyle/>
                    <a:p>
                      <a:pPr marL="0" marR="0">
                        <a:lnSpc>
                          <a:spcPct val="150000"/>
                        </a:lnSpc>
                        <a:spcBef>
                          <a:spcPts val="0"/>
                        </a:spcBef>
                        <a:spcAft>
                          <a:spcPts val="0"/>
                        </a:spcAft>
                      </a:pPr>
                      <a:r>
                        <a:rPr lang="en-VN" sz="300">
                          <a:effectLst/>
                        </a:rPr>
                        <a:t>TC-CART-16</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Persist qua session</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Đăng nhập lại (giữ session), refresh</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Cart vẫn còn (lưu trong $_SESSION).</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3170355385"/>
                  </a:ext>
                </a:extLst>
              </a:tr>
              <a:tr h="320304">
                <a:tc>
                  <a:txBody>
                    <a:bodyPr/>
                    <a:lstStyle/>
                    <a:p>
                      <a:pPr marL="0" marR="0">
                        <a:lnSpc>
                          <a:spcPct val="150000"/>
                        </a:lnSpc>
                        <a:spcBef>
                          <a:spcPts val="0"/>
                        </a:spcBef>
                        <a:spcAft>
                          <a:spcPts val="0"/>
                        </a:spcAft>
                      </a:pPr>
                      <a:r>
                        <a:rPr lang="en-VN" sz="300">
                          <a:effectLst/>
                        </a:rPr>
                        <a:t>TC-CART-17</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Đổi trình duyệt/máy</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Đăng nhập cùng account ở device khác</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Cart KHÔNG đồng bộ (chỉ ở session cũ).</a:t>
                      </a:r>
                      <a:endParaRPr lang="en-VN" sz="300">
                        <a:effectLst/>
                        <a:latin typeface="Calibri" panose="020F0502020204030204" pitchFamily="34" charset="0"/>
                        <a:ea typeface="Calibri" panose="020F0502020204030204" pitchFamily="34" charset="0"/>
                      </a:endParaRPr>
                    </a:p>
                  </a:txBody>
                  <a:tcPr marL="15301" marR="15301" marT="10201" marB="10201" anchor="ctr"/>
                </a:tc>
                <a:tc>
                  <a:txBody>
                    <a:bodyPr/>
                    <a:lstStyle/>
                    <a:p>
                      <a:pPr marL="0" marR="0">
                        <a:lnSpc>
                          <a:spcPct val="150000"/>
                        </a:lnSpc>
                        <a:spcBef>
                          <a:spcPts val="0"/>
                        </a:spcBef>
                        <a:spcAft>
                          <a:spcPts val="0"/>
                        </a:spcAft>
                      </a:pPr>
                      <a:r>
                        <a:rPr lang="en-VN" sz="300">
                          <a:effectLst/>
                        </a:rPr>
                        <a:t>M</a:t>
                      </a:r>
                      <a:endParaRPr lang="en-VN" sz="300">
                        <a:effectLst/>
                        <a:latin typeface="Calibri" panose="020F0502020204030204" pitchFamily="34" charset="0"/>
                        <a:ea typeface="Calibri" panose="020F0502020204030204" pitchFamily="34" charset="0"/>
                      </a:endParaRPr>
                    </a:p>
                  </a:txBody>
                  <a:tcPr marL="15301" marR="15301" marT="10201" marB="10201" anchor="ctr"/>
                </a:tc>
                <a:extLst>
                  <a:ext uri="{0D108BD9-81ED-4DB2-BD59-A6C34878D82A}">
                    <a16:rowId xmlns:a16="http://schemas.microsoft.com/office/drawing/2014/main" val="793547762"/>
                  </a:ext>
                </a:extLst>
              </a:tr>
            </a:tbl>
          </a:graphicData>
        </a:graphic>
      </p:graphicFrame>
    </p:spTree>
    <p:extLst>
      <p:ext uri="{BB962C8B-B14F-4D97-AF65-F5344CB8AC3E}">
        <p14:creationId xmlns:p14="http://schemas.microsoft.com/office/powerpoint/2010/main" val="36437593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.2.</a:t>
            </a:r>
            <a:r>
              <a:rPr lang="en-VN" sz="2400" b="1">
                <a:solidFill>
                  <a:srgbClr val="7030A0"/>
                </a:solidFill>
                <a:effectLst/>
                <a:latin typeface="Times New Roman" panose="02020603050405020304" pitchFamily="18" charset="0"/>
                <a:ea typeface="Calibri" panose="020F0502020204030204" pitchFamily="34" charset="0"/>
              </a:rPr>
              <a:t> Kiểm thử chức năng</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A0028DC1-9930-56D1-F59C-8FED0CBA7455}"/>
              </a:ext>
            </a:extLst>
          </p:cNvPr>
          <p:cNvSpPr txBox="1"/>
          <p:nvPr/>
        </p:nvSpPr>
        <p:spPr>
          <a:xfrm>
            <a:off x="595884" y="1596736"/>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Nhóm test case: Thanh toán (Checkout)</a:t>
            </a:r>
            <a:r>
              <a:rPr lang="en-VN">
                <a:effectLst/>
              </a:rPr>
              <a:t> </a:t>
            </a:r>
            <a:endParaRPr lang="en-VN"/>
          </a:p>
        </p:txBody>
      </p:sp>
      <p:graphicFrame>
        <p:nvGraphicFramePr>
          <p:cNvPr id="8" name="Table 7">
            <a:extLst>
              <a:ext uri="{FF2B5EF4-FFF2-40B4-BE49-F238E27FC236}">
                <a16:creationId xmlns:a16="http://schemas.microsoft.com/office/drawing/2014/main" id="{310E6D6E-FE72-AE7D-DD80-E0B8DDBF561A}"/>
              </a:ext>
            </a:extLst>
          </p:cNvPr>
          <p:cNvGraphicFramePr>
            <a:graphicFrameLocks noGrp="1"/>
          </p:cNvGraphicFramePr>
          <p:nvPr>
            <p:extLst>
              <p:ext uri="{D42A27DB-BD31-4B8C-83A1-F6EECF244321}">
                <p14:modId xmlns:p14="http://schemas.microsoft.com/office/powerpoint/2010/main" val="3999829532"/>
              </p:ext>
            </p:extLst>
          </p:nvPr>
        </p:nvGraphicFramePr>
        <p:xfrm>
          <a:off x="5795333" y="327395"/>
          <a:ext cx="4132438" cy="5915706"/>
        </p:xfrm>
        <a:graphic>
          <a:graphicData uri="http://schemas.openxmlformats.org/drawingml/2006/table">
            <a:tbl>
              <a:tblPr>
                <a:tableStyleId>{5C22544A-7EE6-4342-B048-85BDC9FD1C3A}</a:tableStyleId>
              </a:tblPr>
              <a:tblGrid>
                <a:gridCol w="631144">
                  <a:extLst>
                    <a:ext uri="{9D8B030D-6E8A-4147-A177-3AD203B41FA5}">
                      <a16:colId xmlns:a16="http://schemas.microsoft.com/office/drawing/2014/main" val="10531774"/>
                    </a:ext>
                  </a:extLst>
                </a:gridCol>
                <a:gridCol w="856700">
                  <a:extLst>
                    <a:ext uri="{9D8B030D-6E8A-4147-A177-3AD203B41FA5}">
                      <a16:colId xmlns:a16="http://schemas.microsoft.com/office/drawing/2014/main" val="2952525102"/>
                    </a:ext>
                  </a:extLst>
                </a:gridCol>
                <a:gridCol w="1160890">
                  <a:extLst>
                    <a:ext uri="{9D8B030D-6E8A-4147-A177-3AD203B41FA5}">
                      <a16:colId xmlns:a16="http://schemas.microsoft.com/office/drawing/2014/main" val="2169441618"/>
                    </a:ext>
                  </a:extLst>
                </a:gridCol>
                <a:gridCol w="993274">
                  <a:extLst>
                    <a:ext uri="{9D8B030D-6E8A-4147-A177-3AD203B41FA5}">
                      <a16:colId xmlns:a16="http://schemas.microsoft.com/office/drawing/2014/main" val="4052570447"/>
                    </a:ext>
                  </a:extLst>
                </a:gridCol>
                <a:gridCol w="490430">
                  <a:extLst>
                    <a:ext uri="{9D8B030D-6E8A-4147-A177-3AD203B41FA5}">
                      <a16:colId xmlns:a16="http://schemas.microsoft.com/office/drawing/2014/main" val="1906127558"/>
                    </a:ext>
                  </a:extLst>
                </a:gridCol>
              </a:tblGrid>
              <a:tr h="114198">
                <a:tc>
                  <a:txBody>
                    <a:bodyPr/>
                    <a:lstStyle/>
                    <a:p>
                      <a:pPr marL="0" marR="0" algn="just">
                        <a:lnSpc>
                          <a:spcPct val="150000"/>
                        </a:lnSpc>
                        <a:spcBef>
                          <a:spcPts val="0"/>
                        </a:spcBef>
                        <a:spcAft>
                          <a:spcPts val="0"/>
                        </a:spcAft>
                      </a:pPr>
                      <a:r>
                        <a:rPr lang="en-VN" sz="300">
                          <a:effectLst/>
                        </a:rPr>
                        <a:t>ID</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gn="just">
                        <a:lnSpc>
                          <a:spcPct val="150000"/>
                        </a:lnSpc>
                        <a:spcBef>
                          <a:spcPts val="0"/>
                        </a:spcBef>
                        <a:spcAft>
                          <a:spcPts val="0"/>
                        </a:spcAft>
                      </a:pPr>
                      <a:r>
                        <a:rPr lang="en-VN" sz="300">
                          <a:effectLst/>
                        </a:rPr>
                        <a:t>Tình huống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gn="just">
                        <a:lnSpc>
                          <a:spcPct val="150000"/>
                        </a:lnSpc>
                        <a:spcBef>
                          <a:spcPts val="0"/>
                        </a:spcBef>
                        <a:spcAft>
                          <a:spcPts val="0"/>
                        </a:spcAft>
                      </a:pPr>
                      <a:r>
                        <a:rPr lang="en-VN" sz="300">
                          <a:effectLst/>
                        </a:rPr>
                        <a:t>Các bước / Dữ liệu</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gn="just">
                        <a:lnSpc>
                          <a:spcPct val="150000"/>
                        </a:lnSpc>
                        <a:spcBef>
                          <a:spcPts val="0"/>
                        </a:spcBef>
                        <a:spcAft>
                          <a:spcPts val="0"/>
                        </a:spcAft>
                      </a:pPr>
                      <a:r>
                        <a:rPr lang="en-VN" sz="300">
                          <a:effectLst/>
                        </a:rPr>
                        <a:t>Kết quả kỳ vọng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gn="just">
                        <a:lnSpc>
                          <a:spcPct val="150000"/>
                        </a:lnSpc>
                        <a:spcBef>
                          <a:spcPts val="0"/>
                        </a:spcBef>
                        <a:spcAft>
                          <a:spcPts val="0"/>
                        </a:spcAft>
                      </a:pPr>
                      <a:r>
                        <a:rPr lang="en-VN" sz="300">
                          <a:effectLst/>
                        </a:rPr>
                        <a:t>Ưu tiên</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278733921"/>
                  </a:ext>
                </a:extLst>
              </a:tr>
              <a:tr h="312915">
                <a:tc>
                  <a:txBody>
                    <a:bodyPr/>
                    <a:lstStyle/>
                    <a:p>
                      <a:pPr marL="0" marR="0">
                        <a:lnSpc>
                          <a:spcPct val="150000"/>
                        </a:lnSpc>
                        <a:spcBef>
                          <a:spcPts val="0"/>
                        </a:spcBef>
                        <a:spcAft>
                          <a:spcPts val="0"/>
                        </a:spcAft>
                      </a:pPr>
                      <a:r>
                        <a:rPr lang="en-VN" sz="300">
                          <a:effectLst/>
                        </a:rPr>
                        <a:t>TC-CHK-01</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Vào /checkout khi giỏ trống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GET /checkout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Redirect /showcart với "Giỏ hàng đang trống."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3299444077"/>
                  </a:ext>
                </a:extLst>
              </a:tr>
              <a:tr h="213557">
                <a:tc>
                  <a:txBody>
                    <a:bodyPr/>
                    <a:lstStyle/>
                    <a:p>
                      <a:pPr marL="0" marR="0">
                        <a:lnSpc>
                          <a:spcPct val="150000"/>
                        </a:lnSpc>
                        <a:spcBef>
                          <a:spcPts val="0"/>
                        </a:spcBef>
                        <a:spcAft>
                          <a:spcPts val="0"/>
                        </a:spcAft>
                      </a:pPr>
                      <a:r>
                        <a:rPr lang="en-VN" sz="300">
                          <a:effectLst/>
                        </a:rPr>
                        <a:t>TC-CHK-02</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Hiển thị prefill khi đã đăng nhập</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User login → mở /checkout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Trường hoten, email được điền sẵn.</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M</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1919453455"/>
                  </a:ext>
                </a:extLst>
              </a:tr>
              <a:tr h="809707">
                <a:tc>
                  <a:txBody>
                    <a:bodyPr/>
                    <a:lstStyle/>
                    <a:p>
                      <a:pPr marL="0" marR="0">
                        <a:lnSpc>
                          <a:spcPct val="150000"/>
                        </a:lnSpc>
                        <a:spcBef>
                          <a:spcPts val="0"/>
                        </a:spcBef>
                        <a:spcAft>
                          <a:spcPts val="0"/>
                        </a:spcAft>
                      </a:pPr>
                      <a:r>
                        <a:rPr lang="en-VN" sz="300">
                          <a:effectLst/>
                        </a:rPr>
                        <a:t>TC-CHK-03</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Đặt hàng đầy đủ hợp lệ</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Cart có 2 SP; nhập tên "Nguyễn A", email "a@x.com", đt "0912345678", địa chỉ "123 abc"</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Đơn được tạo trong donhang + donhangchitiet; cart bị clear; flash "Đặt hàng thành công. Mã đơn hàng của bạn là #NN.", redirect trang chủ.</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3185114673"/>
                  </a:ext>
                </a:extLst>
              </a:tr>
              <a:tr h="511632">
                <a:tc>
                  <a:txBody>
                    <a:bodyPr/>
                    <a:lstStyle/>
                    <a:p>
                      <a:pPr marL="0" marR="0">
                        <a:lnSpc>
                          <a:spcPct val="150000"/>
                        </a:lnSpc>
                        <a:spcBef>
                          <a:spcPts val="0"/>
                        </a:spcBef>
                        <a:spcAft>
                          <a:spcPts val="0"/>
                        </a:spcAft>
                      </a:pPr>
                      <a:r>
                        <a:rPr lang="en-VN" sz="300">
                          <a:effectLst/>
                        </a:rPr>
                        <a:t>TC-CHK-04</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Họ tên rỗng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hoten=""</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error_message "Vui lòng nhập đầy đủ và đúng thông tin nhận hàng.", quay lại /checkout.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2357048816"/>
                  </a:ext>
                </a:extLst>
              </a:tr>
              <a:tr h="213557">
                <a:tc>
                  <a:txBody>
                    <a:bodyPr/>
                    <a:lstStyle/>
                    <a:p>
                      <a:pPr marL="0" marR="0">
                        <a:lnSpc>
                          <a:spcPct val="150000"/>
                        </a:lnSpc>
                        <a:spcBef>
                          <a:spcPts val="0"/>
                        </a:spcBef>
                        <a:spcAft>
                          <a:spcPts val="0"/>
                        </a:spcAft>
                      </a:pPr>
                      <a:r>
                        <a:rPr lang="en-VN" sz="300">
                          <a:effectLst/>
                        </a:rPr>
                        <a:t>TC-CHK-05</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Email không hợp lệ</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email="abc"</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Same error như TC-04.</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3181741137"/>
                  </a:ext>
                </a:extLst>
              </a:tr>
              <a:tr h="114198">
                <a:tc>
                  <a:txBody>
                    <a:bodyPr/>
                    <a:lstStyle/>
                    <a:p>
                      <a:pPr marL="0" marR="0">
                        <a:lnSpc>
                          <a:spcPct val="150000"/>
                        </a:lnSpc>
                        <a:spcBef>
                          <a:spcPts val="0"/>
                        </a:spcBef>
                        <a:spcAft>
                          <a:spcPts val="0"/>
                        </a:spcAft>
                      </a:pPr>
                      <a:r>
                        <a:rPr lang="en-VN" sz="300">
                          <a:effectLst/>
                        </a:rPr>
                        <a:t>TC-CHK-06</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Địa chỉ rỗng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diachi=""</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Same error.</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3841133164"/>
                  </a:ext>
                </a:extLst>
              </a:tr>
              <a:tr h="312915">
                <a:tc>
                  <a:txBody>
                    <a:bodyPr/>
                    <a:lstStyle/>
                    <a:p>
                      <a:pPr marL="0" marR="0">
                        <a:lnSpc>
                          <a:spcPct val="150000"/>
                        </a:lnSpc>
                        <a:spcBef>
                          <a:spcPts val="0"/>
                        </a:spcBef>
                        <a:spcAft>
                          <a:spcPts val="0"/>
                        </a:spcAft>
                      </a:pPr>
                      <a:r>
                        <a:rPr lang="en-VN" sz="300">
                          <a:effectLst/>
                        </a:rPr>
                        <a:t>TC-CHK-07</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Điện thoại sai định dạng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dienthoai="abcde"</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error_message "Số điện thoại không hợp lệ."</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890382477"/>
                  </a:ext>
                </a:extLst>
              </a:tr>
              <a:tr h="213557">
                <a:tc>
                  <a:txBody>
                    <a:bodyPr/>
                    <a:lstStyle/>
                    <a:p>
                      <a:pPr marL="0" marR="0">
                        <a:lnSpc>
                          <a:spcPct val="150000"/>
                        </a:lnSpc>
                        <a:spcBef>
                          <a:spcPts val="0"/>
                        </a:spcBef>
                        <a:spcAft>
                          <a:spcPts val="0"/>
                        </a:spcAft>
                      </a:pPr>
                      <a:r>
                        <a:rPr lang="en-VN" sz="300">
                          <a:effectLst/>
                        </a:rPr>
                        <a:t>TC-CHK-08</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Điện thoại đủ 8-20 ký tự có +/() -</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dienthoai="+84 (28) 123-4567"</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Đi qua regex, đặt hàng thành công.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M</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2837243060"/>
                  </a:ext>
                </a:extLst>
              </a:tr>
              <a:tr h="213557">
                <a:tc>
                  <a:txBody>
                    <a:bodyPr/>
                    <a:lstStyle/>
                    <a:p>
                      <a:pPr marL="0" marR="0">
                        <a:lnSpc>
                          <a:spcPct val="150000"/>
                        </a:lnSpc>
                        <a:spcBef>
                          <a:spcPts val="0"/>
                        </a:spcBef>
                        <a:spcAft>
                          <a:spcPts val="0"/>
                        </a:spcAft>
                      </a:pPr>
                      <a:r>
                        <a:rPr lang="en-VN" sz="300">
                          <a:effectLst/>
                        </a:rPr>
                        <a:t>TC-CHK-09</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Điện thoại 7 ký tự</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dienthoai="1234567"</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Regex {8,20} thất bại → lỗi.</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M</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3503934903"/>
                  </a:ext>
                </a:extLst>
              </a:tr>
              <a:tr h="312915">
                <a:tc>
                  <a:txBody>
                    <a:bodyPr/>
                    <a:lstStyle/>
                    <a:p>
                      <a:pPr marL="0" marR="0">
                        <a:lnSpc>
                          <a:spcPct val="150000"/>
                        </a:lnSpc>
                        <a:spcBef>
                          <a:spcPts val="0"/>
                        </a:spcBef>
                        <a:spcAft>
                          <a:spcPts val="0"/>
                        </a:spcAft>
                      </a:pPr>
                      <a:r>
                        <a:rPr lang="en-VN" sz="300">
                          <a:effectLst/>
                        </a:rPr>
                        <a:t>TC-CHK-10</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Ký tự HTML trong hoten</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hoten="&lt;b&gt;Test&lt;/b&gt;"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strip_tags loại bỏ trước lưu, giá trị còn "Test".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1753350736"/>
                  </a:ext>
                </a:extLst>
              </a:tr>
              <a:tr h="213557">
                <a:tc>
                  <a:txBody>
                    <a:bodyPr/>
                    <a:lstStyle/>
                    <a:p>
                      <a:pPr marL="0" marR="0">
                        <a:lnSpc>
                          <a:spcPct val="150000"/>
                        </a:lnSpc>
                        <a:spcBef>
                          <a:spcPts val="0"/>
                        </a:spcBef>
                        <a:spcAft>
                          <a:spcPts val="0"/>
                        </a:spcAft>
                      </a:pPr>
                      <a:r>
                        <a:rPr lang="en-VN" sz="300">
                          <a:effectLst/>
                        </a:rPr>
                        <a:t>TC-CHK-11</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Ký tự đặc biệt trong địa chỉ</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diachi="123/45 &lt;script&gt;"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strip_tags loại bỏ tag, còn "123/45 ".</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3188483015"/>
                  </a:ext>
                </a:extLst>
              </a:tr>
              <a:tr h="610990">
                <a:tc>
                  <a:txBody>
                    <a:bodyPr/>
                    <a:lstStyle/>
                    <a:p>
                      <a:pPr marL="0" marR="0">
                        <a:lnSpc>
                          <a:spcPct val="150000"/>
                        </a:lnSpc>
                        <a:spcBef>
                          <a:spcPts val="0"/>
                        </a:spcBef>
                        <a:spcAft>
                          <a:spcPts val="0"/>
                        </a:spcAft>
                      </a:pPr>
                      <a:r>
                        <a:rPr lang="en-VN" sz="300">
                          <a:effectLst/>
                        </a:rPr>
                        <a:t>TC-CHK-12</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Đặt hàng trong khi tất cả SP bị ẩn giữa chừng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Trước submit admin ẩn hết SP</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taoDonHang: savedItems=0 → throw → rollback → error_message "Không thể lưu đơn hàng."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315253093"/>
                  </a:ext>
                </a:extLst>
              </a:tr>
              <a:tr h="610990">
                <a:tc>
                  <a:txBody>
                    <a:bodyPr/>
                    <a:lstStyle/>
                    <a:p>
                      <a:pPr marL="0" marR="0">
                        <a:lnSpc>
                          <a:spcPct val="150000"/>
                        </a:lnSpc>
                        <a:spcBef>
                          <a:spcPts val="0"/>
                        </a:spcBef>
                        <a:spcAft>
                          <a:spcPts val="0"/>
                        </a:spcAft>
                      </a:pPr>
                      <a:r>
                        <a:rPr lang="en-VN" sz="300">
                          <a:effectLst/>
                        </a:rPr>
                        <a:t>TC-CHK-13</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Không có bước xác nhận</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Click "Xác nhận đặt hàng" 1 lần</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Đơn hàng được tạo NGAY (không có màn hình review). Nếu user click 2 lần nhanh sẽ tạo 2 đơn hàng trùng nhau.</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3689706710"/>
                  </a:ext>
                </a:extLst>
              </a:tr>
              <a:tr h="412273">
                <a:tc>
                  <a:txBody>
                    <a:bodyPr/>
                    <a:lstStyle/>
                    <a:p>
                      <a:pPr marL="0" marR="0">
                        <a:lnSpc>
                          <a:spcPct val="150000"/>
                        </a:lnSpc>
                        <a:spcBef>
                          <a:spcPts val="0"/>
                        </a:spcBef>
                        <a:spcAft>
                          <a:spcPts val="0"/>
                        </a:spcAft>
                      </a:pPr>
                      <a:r>
                        <a:rPr lang="en-VN" sz="300">
                          <a:effectLst/>
                        </a:rPr>
                        <a:t>TC-CHK-14</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Refresh trang sau đặt hàng</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Đặt thành công, F5 lại /checkout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Vì cart đã bị clear, hệ thống redirect /showcart empty → OK.</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M</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1942712339"/>
                  </a:ext>
                </a:extLst>
              </a:tr>
              <a:tr h="312915">
                <a:tc>
                  <a:txBody>
                    <a:bodyPr/>
                    <a:lstStyle/>
                    <a:p>
                      <a:pPr marL="0" marR="0">
                        <a:lnSpc>
                          <a:spcPct val="150000"/>
                        </a:lnSpc>
                        <a:spcBef>
                          <a:spcPts val="0"/>
                        </a:spcBef>
                        <a:spcAft>
                          <a:spcPts val="0"/>
                        </a:spcAft>
                      </a:pPr>
                      <a:r>
                        <a:rPr lang="en-VN" sz="300">
                          <a:effectLst/>
                        </a:rPr>
                        <a:t>TC-CHK-15</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Guest có thể checkout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Chưa đăng nhập, chỉ nhập thông tin và submit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Đơn vẫn tạo thành công (đơn hàng không liên kết user).</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3250406804"/>
                  </a:ext>
                </a:extLst>
              </a:tr>
              <a:tr h="412273">
                <a:tc>
                  <a:txBody>
                    <a:bodyPr/>
                    <a:lstStyle/>
                    <a:p>
                      <a:pPr marL="0" marR="0">
                        <a:lnSpc>
                          <a:spcPct val="150000"/>
                        </a:lnSpc>
                        <a:spcBef>
                          <a:spcPts val="0"/>
                        </a:spcBef>
                        <a:spcAft>
                          <a:spcPts val="0"/>
                        </a:spcAft>
                      </a:pPr>
                      <a:r>
                        <a:rPr lang="en-VN" sz="300">
                          <a:effectLst/>
                        </a:rPr>
                        <a:t>TC-CHK-16</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Đơn hàng lưu snapshot giá</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Đặt SP giá 20tr, sau đó admin đổi thành 15tr, xem chi tiết đơn</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Chi tiết đơn giữ nguyên 20tr (do bảng donhangchitiet lưu gia snapshot).</a:t>
                      </a:r>
                      <a:endParaRPr lang="en-VN" sz="300">
                        <a:effectLst/>
                        <a:latin typeface="Calibri" panose="020F0502020204030204" pitchFamily="34" charset="0"/>
                        <a:ea typeface="Calibri" panose="020F0502020204030204" pitchFamily="34" charset="0"/>
                      </a:endParaRPr>
                    </a:p>
                  </a:txBody>
                  <a:tcPr marL="14055" marR="14055" marT="9370" marB="9370" anchor="ctr"/>
                </a:tc>
                <a:tc>
                  <a:txBody>
                    <a:bodyPr/>
                    <a:lstStyle/>
                    <a:p>
                      <a:pPr marL="0" marR="0">
                        <a:lnSpc>
                          <a:spcPct val="150000"/>
                        </a:lnSpc>
                        <a:spcBef>
                          <a:spcPts val="0"/>
                        </a:spcBef>
                        <a:spcAft>
                          <a:spcPts val="0"/>
                        </a:spcAft>
                      </a:pPr>
                      <a:r>
                        <a:rPr lang="en-VN" sz="300">
                          <a:effectLst/>
                        </a:rPr>
                        <a:t>H</a:t>
                      </a:r>
                      <a:endParaRPr lang="en-VN" sz="300">
                        <a:effectLst/>
                        <a:latin typeface="Calibri" panose="020F0502020204030204" pitchFamily="34" charset="0"/>
                        <a:ea typeface="Calibri" panose="020F0502020204030204" pitchFamily="34" charset="0"/>
                      </a:endParaRPr>
                    </a:p>
                  </a:txBody>
                  <a:tcPr marL="14055" marR="14055" marT="9370" marB="9370" anchor="ctr"/>
                </a:tc>
                <a:extLst>
                  <a:ext uri="{0D108BD9-81ED-4DB2-BD59-A6C34878D82A}">
                    <a16:rowId xmlns:a16="http://schemas.microsoft.com/office/drawing/2014/main" val="2278213770"/>
                  </a:ext>
                </a:extLst>
              </a:tr>
            </a:tbl>
          </a:graphicData>
        </a:graphic>
      </p:graphicFrame>
    </p:spTree>
    <p:extLst>
      <p:ext uri="{BB962C8B-B14F-4D97-AF65-F5344CB8AC3E}">
        <p14:creationId xmlns:p14="http://schemas.microsoft.com/office/powerpoint/2010/main" val="18626559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.2.</a:t>
            </a:r>
            <a:r>
              <a:rPr lang="en-VN" sz="2400" b="1">
                <a:solidFill>
                  <a:srgbClr val="7030A0"/>
                </a:solidFill>
                <a:effectLst/>
                <a:latin typeface="Times New Roman" panose="02020603050405020304" pitchFamily="18" charset="0"/>
                <a:ea typeface="Calibri" panose="020F0502020204030204" pitchFamily="34" charset="0"/>
              </a:rPr>
              <a:t> Kiểm thử chức năng</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43C2617B-A2F8-EF43-6AF6-AE1D14B60A1E}"/>
              </a:ext>
            </a:extLst>
          </p:cNvPr>
          <p:cNvSpPr txBox="1"/>
          <p:nvPr/>
        </p:nvSpPr>
        <p:spPr>
          <a:xfrm>
            <a:off x="595884" y="1412070"/>
            <a:ext cx="6103256"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Nhóm test case: Đăng ký / Đăng nhập</a:t>
            </a:r>
            <a:r>
              <a:rPr lang="en-VN">
                <a:effectLst/>
              </a:rPr>
              <a:t> </a:t>
            </a:r>
            <a:endParaRPr lang="en-VN"/>
          </a:p>
        </p:txBody>
      </p:sp>
      <p:graphicFrame>
        <p:nvGraphicFramePr>
          <p:cNvPr id="5" name="Table 4">
            <a:extLst>
              <a:ext uri="{FF2B5EF4-FFF2-40B4-BE49-F238E27FC236}">
                <a16:creationId xmlns:a16="http://schemas.microsoft.com/office/drawing/2014/main" id="{524D7D79-4B90-CA22-B6B5-A0935177BC85}"/>
              </a:ext>
            </a:extLst>
          </p:cNvPr>
          <p:cNvGraphicFramePr>
            <a:graphicFrameLocks noGrp="1"/>
          </p:cNvGraphicFramePr>
          <p:nvPr>
            <p:extLst>
              <p:ext uri="{D42A27DB-BD31-4B8C-83A1-F6EECF244321}">
                <p14:modId xmlns:p14="http://schemas.microsoft.com/office/powerpoint/2010/main" val="1027964072"/>
              </p:ext>
            </p:extLst>
          </p:nvPr>
        </p:nvGraphicFramePr>
        <p:xfrm>
          <a:off x="5501907" y="382991"/>
          <a:ext cx="3293750" cy="5793971"/>
        </p:xfrm>
        <a:graphic>
          <a:graphicData uri="http://schemas.openxmlformats.org/drawingml/2006/table">
            <a:tbl>
              <a:tblPr>
                <a:tableStyleId>{5C22544A-7EE6-4342-B048-85BDC9FD1C3A}</a:tableStyleId>
              </a:tblPr>
              <a:tblGrid>
                <a:gridCol w="676416">
                  <a:extLst>
                    <a:ext uri="{9D8B030D-6E8A-4147-A177-3AD203B41FA5}">
                      <a16:colId xmlns:a16="http://schemas.microsoft.com/office/drawing/2014/main" val="328272225"/>
                    </a:ext>
                  </a:extLst>
                </a:gridCol>
                <a:gridCol w="536057">
                  <a:extLst>
                    <a:ext uri="{9D8B030D-6E8A-4147-A177-3AD203B41FA5}">
                      <a16:colId xmlns:a16="http://schemas.microsoft.com/office/drawing/2014/main" val="2557657755"/>
                    </a:ext>
                  </a:extLst>
                </a:gridCol>
                <a:gridCol w="1037427">
                  <a:extLst>
                    <a:ext uri="{9D8B030D-6E8A-4147-A177-3AD203B41FA5}">
                      <a16:colId xmlns:a16="http://schemas.microsoft.com/office/drawing/2014/main" val="2419700829"/>
                    </a:ext>
                  </a:extLst>
                </a:gridCol>
                <a:gridCol w="694723">
                  <a:extLst>
                    <a:ext uri="{9D8B030D-6E8A-4147-A177-3AD203B41FA5}">
                      <a16:colId xmlns:a16="http://schemas.microsoft.com/office/drawing/2014/main" val="1435112360"/>
                    </a:ext>
                  </a:extLst>
                </a:gridCol>
                <a:gridCol w="349127">
                  <a:extLst>
                    <a:ext uri="{9D8B030D-6E8A-4147-A177-3AD203B41FA5}">
                      <a16:colId xmlns:a16="http://schemas.microsoft.com/office/drawing/2014/main" val="2988839338"/>
                    </a:ext>
                  </a:extLst>
                </a:gridCol>
              </a:tblGrid>
              <a:tr h="82946">
                <a:tc>
                  <a:txBody>
                    <a:bodyPr/>
                    <a:lstStyle/>
                    <a:p>
                      <a:pPr marL="0" marR="0" algn="ctr">
                        <a:lnSpc>
                          <a:spcPct val="150000"/>
                        </a:lnSpc>
                        <a:spcBef>
                          <a:spcPts val="0"/>
                        </a:spcBef>
                        <a:spcAft>
                          <a:spcPts val="0"/>
                        </a:spcAft>
                      </a:pPr>
                      <a:r>
                        <a:rPr lang="en-VN" sz="200">
                          <a:effectLst/>
                        </a:rPr>
                        <a:t>ID</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gn="ctr">
                        <a:lnSpc>
                          <a:spcPct val="150000"/>
                        </a:lnSpc>
                        <a:spcBef>
                          <a:spcPts val="0"/>
                        </a:spcBef>
                        <a:spcAft>
                          <a:spcPts val="0"/>
                        </a:spcAft>
                      </a:pPr>
                      <a:r>
                        <a:rPr lang="en-VN" sz="200">
                          <a:effectLst/>
                        </a:rPr>
                        <a:t>Tình huống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gn="ctr">
                        <a:lnSpc>
                          <a:spcPct val="150000"/>
                        </a:lnSpc>
                        <a:spcBef>
                          <a:spcPts val="0"/>
                        </a:spcBef>
                        <a:spcAft>
                          <a:spcPts val="0"/>
                        </a:spcAft>
                      </a:pPr>
                      <a:r>
                        <a:rPr lang="en-VN" sz="200">
                          <a:effectLst/>
                        </a:rPr>
                        <a:t>Các bước / Dữ liệu</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gn="ctr">
                        <a:lnSpc>
                          <a:spcPct val="150000"/>
                        </a:lnSpc>
                        <a:spcBef>
                          <a:spcPts val="0"/>
                        </a:spcBef>
                        <a:spcAft>
                          <a:spcPts val="0"/>
                        </a:spcAft>
                      </a:pPr>
                      <a:r>
                        <a:rPr lang="en-VN" sz="200">
                          <a:effectLst/>
                        </a:rPr>
                        <a:t>Kết quả kỳ vọng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gn="ctr">
                        <a:lnSpc>
                          <a:spcPct val="150000"/>
                        </a:lnSpc>
                        <a:spcBef>
                          <a:spcPts val="0"/>
                        </a:spcBef>
                        <a:spcAft>
                          <a:spcPts val="0"/>
                        </a:spcAft>
                      </a:pPr>
                      <a:r>
                        <a:rPr lang="en-VN" sz="200">
                          <a:effectLst/>
                        </a:rPr>
                        <a:t>Ưu tiên</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212879073"/>
                  </a:ext>
                </a:extLst>
              </a:tr>
              <a:tr h="299446">
                <a:tc>
                  <a:txBody>
                    <a:bodyPr/>
                    <a:lstStyle/>
                    <a:p>
                      <a:pPr marL="0" marR="0">
                        <a:lnSpc>
                          <a:spcPct val="150000"/>
                        </a:lnSpc>
                        <a:spcBef>
                          <a:spcPts val="0"/>
                        </a:spcBef>
                        <a:spcAft>
                          <a:spcPts val="0"/>
                        </a:spcAft>
                      </a:pPr>
                      <a:r>
                        <a:rPr lang="en-VN" sz="200">
                          <a:effectLst/>
                        </a:rPr>
                        <a:t>TC-REG-01</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Đăng ký hợp lệ</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hoten="Nguyễn A", email="new@x.com", mk="123456"</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user mới được INSERT (bcrypt), redirect /login với success message.</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3439767204"/>
                  </a:ext>
                </a:extLst>
              </a:tr>
              <a:tr h="227279">
                <a:tc>
                  <a:txBody>
                    <a:bodyPr/>
                    <a:lstStyle/>
                    <a:p>
                      <a:pPr marL="0" marR="0">
                        <a:lnSpc>
                          <a:spcPct val="150000"/>
                        </a:lnSpc>
                        <a:spcBef>
                          <a:spcPts val="0"/>
                        </a:spcBef>
                        <a:spcAft>
                          <a:spcPts val="0"/>
                        </a:spcAft>
                      </a:pPr>
                      <a:r>
                        <a:rPr lang="en-VN" sz="200">
                          <a:effectLst/>
                        </a:rPr>
                        <a:t>TC-REG-02</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Họ tên 1 ký tự</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hoten="A"</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mb_strlen&lt;2 → error "Họ tên phải có ít nhất 2 ký tự."</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167496649"/>
                  </a:ext>
                </a:extLst>
              </a:tr>
              <a:tr h="155112">
                <a:tc>
                  <a:txBody>
                    <a:bodyPr/>
                    <a:lstStyle/>
                    <a:p>
                      <a:pPr marL="0" marR="0">
                        <a:lnSpc>
                          <a:spcPct val="150000"/>
                        </a:lnSpc>
                        <a:spcBef>
                          <a:spcPts val="0"/>
                        </a:spcBef>
                        <a:spcAft>
                          <a:spcPts val="0"/>
                        </a:spcAft>
                      </a:pPr>
                      <a:r>
                        <a:rPr lang="en-VN" sz="200">
                          <a:effectLst/>
                        </a:rPr>
                        <a:t>TC-REG-03</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Email sai định dạng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email="notanemail"</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error "Email không hợp lệ."</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68057658"/>
                  </a:ext>
                </a:extLst>
              </a:tr>
              <a:tr h="227279">
                <a:tc>
                  <a:txBody>
                    <a:bodyPr/>
                    <a:lstStyle/>
                    <a:p>
                      <a:pPr marL="0" marR="0">
                        <a:lnSpc>
                          <a:spcPct val="150000"/>
                        </a:lnSpc>
                        <a:spcBef>
                          <a:spcPts val="0"/>
                        </a:spcBef>
                        <a:spcAft>
                          <a:spcPts val="0"/>
                        </a:spcAft>
                      </a:pPr>
                      <a:r>
                        <a:rPr lang="en-VN" sz="200">
                          <a:effectLst/>
                        </a:rPr>
                        <a:t>TC-REG-04</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Mật khẩu &lt; 6 ký tự</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mk="12345"</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error "Mật khẩu phải có ít nhất 6 ký tự."</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667837558"/>
                  </a:ext>
                </a:extLst>
              </a:tr>
              <a:tr h="155112">
                <a:tc>
                  <a:txBody>
                    <a:bodyPr/>
                    <a:lstStyle/>
                    <a:p>
                      <a:pPr marL="0" marR="0">
                        <a:lnSpc>
                          <a:spcPct val="150000"/>
                        </a:lnSpc>
                        <a:spcBef>
                          <a:spcPts val="0"/>
                        </a:spcBef>
                        <a:spcAft>
                          <a:spcPts val="0"/>
                        </a:spcAft>
                      </a:pPr>
                      <a:r>
                        <a:rPr lang="en-VN" sz="200">
                          <a:effectLst/>
                        </a:rPr>
                        <a:t>TC-REG-05</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Email đã tồn tại</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email="admin@demo.local"</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error "Email này đã được sử dụng."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846548484"/>
                  </a:ext>
                </a:extLst>
              </a:tr>
              <a:tr h="299446">
                <a:tc>
                  <a:txBody>
                    <a:bodyPr/>
                    <a:lstStyle/>
                    <a:p>
                      <a:pPr marL="0" marR="0">
                        <a:lnSpc>
                          <a:spcPct val="150000"/>
                        </a:lnSpc>
                        <a:spcBef>
                          <a:spcPts val="0"/>
                        </a:spcBef>
                        <a:spcAft>
                          <a:spcPts val="0"/>
                        </a:spcAft>
                      </a:pPr>
                      <a:r>
                        <a:rPr lang="en-VN" sz="200">
                          <a:effectLst/>
                        </a:rPr>
                        <a:t>TC-REG-06</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Email viết hoa/thường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email="ADMIN@Demo.Local"</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Server strtolower → so sánh khớp existing → bị chặn.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1564262106"/>
                  </a:ext>
                </a:extLst>
              </a:tr>
              <a:tr h="299446">
                <a:tc>
                  <a:txBody>
                    <a:bodyPr/>
                    <a:lstStyle/>
                    <a:p>
                      <a:pPr marL="0" marR="0">
                        <a:lnSpc>
                          <a:spcPct val="150000"/>
                        </a:lnSpc>
                        <a:spcBef>
                          <a:spcPts val="0"/>
                        </a:spcBef>
                        <a:spcAft>
                          <a:spcPts val="0"/>
                        </a:spcAft>
                      </a:pPr>
                      <a:r>
                        <a:rPr lang="en-VN" sz="200">
                          <a:effectLst/>
                        </a:rPr>
                        <a:t>TC-REG-07</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Password strength weak</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mk="000000"</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ĐƯỢC chấp nhận (không có kiểm tra phức tạp). Cần cảnh báo.</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1003675558"/>
                  </a:ext>
                </a:extLst>
              </a:tr>
              <a:tr h="227279">
                <a:tc>
                  <a:txBody>
                    <a:bodyPr/>
                    <a:lstStyle/>
                    <a:p>
                      <a:pPr marL="0" marR="0">
                        <a:lnSpc>
                          <a:spcPct val="150000"/>
                        </a:lnSpc>
                        <a:spcBef>
                          <a:spcPts val="0"/>
                        </a:spcBef>
                        <a:spcAft>
                          <a:spcPts val="0"/>
                        </a:spcAft>
                      </a:pPr>
                      <a:r>
                        <a:rPr lang="en-VN" sz="200">
                          <a:effectLst/>
                        </a:rPr>
                        <a:t>TC-REG-08</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Password chứa ký tự đặc biệt</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mk="Aa@1234!"</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Được chấp nhận, bcrypt hash lưu đúng.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205341185"/>
                  </a:ext>
                </a:extLst>
              </a:tr>
              <a:tr h="155112">
                <a:tc>
                  <a:txBody>
                    <a:bodyPr/>
                    <a:lstStyle/>
                    <a:p>
                      <a:pPr marL="0" marR="0">
                        <a:lnSpc>
                          <a:spcPct val="150000"/>
                        </a:lnSpc>
                        <a:spcBef>
                          <a:spcPts val="0"/>
                        </a:spcBef>
                        <a:spcAft>
                          <a:spcPts val="0"/>
                        </a:spcAft>
                      </a:pPr>
                      <a:r>
                        <a:rPr lang="en-VN" sz="200">
                          <a:effectLst/>
                        </a:rPr>
                        <a:t>TC-REG-09</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Tag HTML trong hoten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hoten="&lt;b&gt;A&lt;/b&gt;B"</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strip_tags → "AB".</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1870332453"/>
                  </a:ext>
                </a:extLst>
              </a:tr>
              <a:tr h="371612">
                <a:tc>
                  <a:txBody>
                    <a:bodyPr/>
                    <a:lstStyle/>
                    <a:p>
                      <a:pPr marL="0" marR="0">
                        <a:lnSpc>
                          <a:spcPct val="150000"/>
                        </a:lnSpc>
                        <a:spcBef>
                          <a:spcPts val="0"/>
                        </a:spcBef>
                        <a:spcAft>
                          <a:spcPts val="0"/>
                        </a:spcAft>
                      </a:pPr>
                      <a:r>
                        <a:rPr lang="en-VN" sz="200">
                          <a:effectLst/>
                        </a:rPr>
                        <a:t>TC-REG-10</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Rate limit / brute force</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Gọi POST /register_ 100 lần liên tiếp</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HỆ THỐNG KHÔNG có rate limit → tất cả đều được xử lý (lỗ hổng).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248720884"/>
                  </a:ext>
                </a:extLst>
              </a:tr>
              <a:tr h="371612">
                <a:tc>
                  <a:txBody>
                    <a:bodyPr/>
                    <a:lstStyle/>
                    <a:p>
                      <a:pPr marL="0" marR="0">
                        <a:lnSpc>
                          <a:spcPct val="150000"/>
                        </a:lnSpc>
                        <a:spcBef>
                          <a:spcPts val="0"/>
                        </a:spcBef>
                        <a:spcAft>
                          <a:spcPts val="0"/>
                        </a:spcAft>
                      </a:pPr>
                      <a:r>
                        <a:rPr lang="en-VN" sz="200">
                          <a:effectLst/>
                        </a:rPr>
                        <a:t>TC-LOGIN-01</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Đăng nhập đúng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admin@demo.local / admin123</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Set session id_user, hoten, email, vaitro. Redirect trang chủ.</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270444883"/>
                  </a:ext>
                </a:extLst>
              </a:tr>
              <a:tr h="371612">
                <a:tc>
                  <a:txBody>
                    <a:bodyPr/>
                    <a:lstStyle/>
                    <a:p>
                      <a:pPr marL="0" marR="0">
                        <a:lnSpc>
                          <a:spcPct val="150000"/>
                        </a:lnSpc>
                        <a:spcBef>
                          <a:spcPts val="0"/>
                        </a:spcBef>
                        <a:spcAft>
                          <a:spcPts val="0"/>
                        </a:spcAft>
                      </a:pPr>
                      <a:r>
                        <a:rPr lang="en-VN" sz="200">
                          <a:effectLst/>
                        </a:rPr>
                        <a:t>TC-LOGIN-02</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Sai email</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x@x.com</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error "Email không tồn tại." – tiết lộ trạng thái tài khoản (enumeration).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731363999"/>
                  </a:ext>
                </a:extLst>
              </a:tr>
              <a:tr h="155112">
                <a:tc>
                  <a:txBody>
                    <a:bodyPr/>
                    <a:lstStyle/>
                    <a:p>
                      <a:pPr marL="0" marR="0">
                        <a:lnSpc>
                          <a:spcPct val="150000"/>
                        </a:lnSpc>
                        <a:spcBef>
                          <a:spcPts val="0"/>
                        </a:spcBef>
                        <a:spcAft>
                          <a:spcPts val="0"/>
                        </a:spcAft>
                      </a:pPr>
                      <a:r>
                        <a:rPr lang="en-VN" sz="200">
                          <a:effectLst/>
                        </a:rPr>
                        <a:t>TC-LOGIN-03</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Sai mật khẩu</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admin@demo.local / xxx</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error "Mật khẩu không đúng."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932824201"/>
                  </a:ext>
                </a:extLst>
              </a:tr>
              <a:tr h="515946">
                <a:tc>
                  <a:txBody>
                    <a:bodyPr/>
                    <a:lstStyle/>
                    <a:p>
                      <a:pPr marL="0" marR="0">
                        <a:lnSpc>
                          <a:spcPct val="150000"/>
                        </a:lnSpc>
                        <a:spcBef>
                          <a:spcPts val="0"/>
                        </a:spcBef>
                        <a:spcAft>
                          <a:spcPts val="0"/>
                        </a:spcAft>
                      </a:pPr>
                      <a:r>
                        <a:rPr lang="en-VN" sz="200">
                          <a:effectLst/>
                        </a:rPr>
                        <a:t>TC-LOGIN-04</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Empty</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 / ""</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password_verify fail → "Mật khẩu không đúng." (do email rỗng cũng trả về user nếu có bản ghi email rỗng).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1263881665"/>
                  </a:ext>
                </a:extLst>
              </a:tr>
              <a:tr h="155112">
                <a:tc>
                  <a:txBody>
                    <a:bodyPr/>
                    <a:lstStyle/>
                    <a:p>
                      <a:pPr marL="0" marR="0">
                        <a:lnSpc>
                          <a:spcPct val="150000"/>
                        </a:lnSpc>
                        <a:spcBef>
                          <a:spcPts val="0"/>
                        </a:spcBef>
                        <a:spcAft>
                          <a:spcPts val="0"/>
                        </a:spcAft>
                      </a:pPr>
                      <a:r>
                        <a:rPr lang="en-VN" sz="200">
                          <a:effectLst/>
                        </a:rPr>
                        <a:t>TC-LOGIN-05</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Brute force</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Sai mật khẩu 1000 lần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Không bị chặn → lỗ hổng.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093732433"/>
                  </a:ext>
                </a:extLst>
              </a:tr>
              <a:tr h="299446">
                <a:tc>
                  <a:txBody>
                    <a:bodyPr/>
                    <a:lstStyle/>
                    <a:p>
                      <a:pPr marL="0" marR="0">
                        <a:lnSpc>
                          <a:spcPct val="150000"/>
                        </a:lnSpc>
                        <a:spcBef>
                          <a:spcPts val="0"/>
                        </a:spcBef>
                        <a:spcAft>
                          <a:spcPts val="0"/>
                        </a:spcAft>
                      </a:pPr>
                      <a:r>
                        <a:rPr lang="en-VN" sz="200">
                          <a:effectLst/>
                        </a:rPr>
                        <a:t>TC-LOGIN-06</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Session fixation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Gán PHPSESSID trước khi login → login → kiểm tra ID sau login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PHPSESSID giữ nguyên (không regenerate). Lỗ hổng.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1750497787"/>
                  </a:ext>
                </a:extLst>
              </a:tr>
              <a:tr h="227279">
                <a:tc>
                  <a:txBody>
                    <a:bodyPr/>
                    <a:lstStyle/>
                    <a:p>
                      <a:pPr marL="0" marR="0">
                        <a:lnSpc>
                          <a:spcPct val="150000"/>
                        </a:lnSpc>
                        <a:spcBef>
                          <a:spcPts val="0"/>
                        </a:spcBef>
                        <a:spcAft>
                          <a:spcPts val="0"/>
                        </a:spcAft>
                      </a:pPr>
                      <a:r>
                        <a:rPr lang="en-VN" sz="200">
                          <a:effectLst/>
                        </a:rPr>
                        <a:t>TC-LOGIN-07</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CSRF trên form login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Form không có token CSRF</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Có thể forge login từ site khác. Lỗ hổng.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2218310721"/>
                  </a:ext>
                </a:extLst>
              </a:tr>
              <a:tr h="299446">
                <a:tc>
                  <a:txBody>
                    <a:bodyPr/>
                    <a:lstStyle/>
                    <a:p>
                      <a:pPr marL="0" marR="0">
                        <a:lnSpc>
                          <a:spcPct val="150000"/>
                        </a:lnSpc>
                        <a:spcBef>
                          <a:spcPts val="0"/>
                        </a:spcBef>
                        <a:spcAft>
                          <a:spcPts val="0"/>
                        </a:spcAft>
                      </a:pPr>
                      <a:r>
                        <a:rPr lang="en-VN" sz="200">
                          <a:effectLst/>
                        </a:rPr>
                        <a:t>TC-LOGIN-08</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Đăng nhập admin bằng account user thường</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user@x.com / 123456 tại /admin/login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error "Tài khoản không có quyền quản trị."</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3889973839"/>
                  </a:ext>
                </a:extLst>
              </a:tr>
              <a:tr h="299446">
                <a:tc>
                  <a:txBody>
                    <a:bodyPr/>
                    <a:lstStyle/>
                    <a:p>
                      <a:pPr marL="0" marR="0">
                        <a:lnSpc>
                          <a:spcPct val="150000"/>
                        </a:lnSpc>
                        <a:spcBef>
                          <a:spcPts val="0"/>
                        </a:spcBef>
                        <a:spcAft>
                          <a:spcPts val="0"/>
                        </a:spcAft>
                      </a:pPr>
                      <a:r>
                        <a:rPr lang="en-VN" sz="200">
                          <a:effectLst/>
                        </a:rPr>
                        <a:t>TC-LOGIN-09</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Vào /admin khi chưa đăng nhập</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GET /admin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Redirect /admin/login, lưu SESSION['back'] để quay lại sau.</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16143375"/>
                  </a:ext>
                </a:extLst>
              </a:tr>
              <a:tr h="371612">
                <a:tc>
                  <a:txBody>
                    <a:bodyPr/>
                    <a:lstStyle/>
                    <a:p>
                      <a:pPr marL="0" marR="0">
                        <a:lnSpc>
                          <a:spcPct val="150000"/>
                        </a:lnSpc>
                        <a:spcBef>
                          <a:spcPts val="0"/>
                        </a:spcBef>
                        <a:spcAft>
                          <a:spcPts val="0"/>
                        </a:spcAft>
                      </a:pPr>
                      <a:r>
                        <a:rPr lang="en-VN" sz="200">
                          <a:effectLst/>
                        </a:rPr>
                        <a:t>TC-LOGOUT-01</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Đăng xuất user</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GET /logout</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Xoá session id_user, hoten, email, vaitro. Redirect trang chủ.</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3706437265"/>
                  </a:ext>
                </a:extLst>
              </a:tr>
              <a:tr h="227279">
                <a:tc>
                  <a:txBody>
                    <a:bodyPr/>
                    <a:lstStyle/>
                    <a:p>
                      <a:pPr marL="0" marR="0">
                        <a:lnSpc>
                          <a:spcPct val="150000"/>
                        </a:lnSpc>
                        <a:spcBef>
                          <a:spcPts val="0"/>
                        </a:spcBef>
                        <a:spcAft>
                          <a:spcPts val="0"/>
                        </a:spcAft>
                      </a:pPr>
                      <a:r>
                        <a:rPr lang="en-VN" sz="200">
                          <a:effectLst/>
                        </a:rPr>
                        <a:t>TC-LOGOUT-02</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Đăng xuất admin</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GET /admin/logout</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Redirect /admin/login với thông báo.</a:t>
                      </a:r>
                      <a:endParaRPr lang="en-VN" sz="200">
                        <a:effectLst/>
                        <a:latin typeface="Calibri" panose="020F0502020204030204" pitchFamily="34" charset="0"/>
                        <a:ea typeface="Calibri" panose="020F0502020204030204" pitchFamily="34" charset="0"/>
                      </a:endParaRPr>
                    </a:p>
                  </a:txBody>
                  <a:tcPr marL="10423" marR="10423" marT="6948" marB="6948"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423" marR="10423" marT="6948" marB="6948" anchor="ctr"/>
                </a:tc>
                <a:extLst>
                  <a:ext uri="{0D108BD9-81ED-4DB2-BD59-A6C34878D82A}">
                    <a16:rowId xmlns:a16="http://schemas.microsoft.com/office/drawing/2014/main" val="700562659"/>
                  </a:ext>
                </a:extLst>
              </a:tr>
            </a:tbl>
          </a:graphicData>
        </a:graphic>
      </p:graphicFrame>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1114874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.2.</a:t>
            </a:r>
            <a:r>
              <a:rPr lang="en-VN" sz="2400" b="1">
                <a:solidFill>
                  <a:srgbClr val="7030A0"/>
                </a:solidFill>
                <a:effectLst/>
                <a:latin typeface="Times New Roman" panose="02020603050405020304" pitchFamily="18" charset="0"/>
                <a:ea typeface="Calibri" panose="020F0502020204030204" pitchFamily="34" charset="0"/>
              </a:rPr>
              <a:t> Kiểm thử chức năng</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5495BC82-4410-D5E4-5930-385127F322D9}"/>
              </a:ext>
            </a:extLst>
          </p:cNvPr>
          <p:cNvSpPr txBox="1"/>
          <p:nvPr/>
        </p:nvSpPr>
        <p:spPr>
          <a:xfrm>
            <a:off x="424543" y="1383206"/>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Nhóm test case: Admin - Quản lý sản phẩm</a:t>
            </a:r>
            <a:r>
              <a:rPr lang="en-VN">
                <a:effectLst/>
              </a:rPr>
              <a:t> </a:t>
            </a:r>
            <a:endParaRPr lang="en-VN"/>
          </a:p>
        </p:txBody>
      </p:sp>
      <p:graphicFrame>
        <p:nvGraphicFramePr>
          <p:cNvPr id="8" name="Table 7">
            <a:extLst>
              <a:ext uri="{FF2B5EF4-FFF2-40B4-BE49-F238E27FC236}">
                <a16:creationId xmlns:a16="http://schemas.microsoft.com/office/drawing/2014/main" id="{13FB09A0-AC24-AEC9-837D-EDBD1951A536}"/>
              </a:ext>
            </a:extLst>
          </p:cNvPr>
          <p:cNvGraphicFramePr>
            <a:graphicFrameLocks noGrp="1"/>
          </p:cNvGraphicFramePr>
          <p:nvPr>
            <p:extLst>
              <p:ext uri="{D42A27DB-BD31-4B8C-83A1-F6EECF244321}">
                <p14:modId xmlns:p14="http://schemas.microsoft.com/office/powerpoint/2010/main" val="101554968"/>
              </p:ext>
            </p:extLst>
          </p:nvPr>
        </p:nvGraphicFramePr>
        <p:xfrm>
          <a:off x="5478396" y="382992"/>
          <a:ext cx="4028461" cy="5894470"/>
        </p:xfrm>
        <a:graphic>
          <a:graphicData uri="http://schemas.openxmlformats.org/drawingml/2006/table">
            <a:tbl>
              <a:tblPr>
                <a:tableStyleId>{5C22544A-7EE6-4342-B048-85BDC9FD1C3A}</a:tableStyleId>
              </a:tblPr>
              <a:tblGrid>
                <a:gridCol w="337411">
                  <a:extLst>
                    <a:ext uri="{9D8B030D-6E8A-4147-A177-3AD203B41FA5}">
                      <a16:colId xmlns:a16="http://schemas.microsoft.com/office/drawing/2014/main" val="4131494999"/>
                    </a:ext>
                  </a:extLst>
                </a:gridCol>
                <a:gridCol w="630810">
                  <a:extLst>
                    <a:ext uri="{9D8B030D-6E8A-4147-A177-3AD203B41FA5}">
                      <a16:colId xmlns:a16="http://schemas.microsoft.com/office/drawing/2014/main" val="993434493"/>
                    </a:ext>
                  </a:extLst>
                </a:gridCol>
                <a:gridCol w="940809">
                  <a:extLst>
                    <a:ext uri="{9D8B030D-6E8A-4147-A177-3AD203B41FA5}">
                      <a16:colId xmlns:a16="http://schemas.microsoft.com/office/drawing/2014/main" val="2136326146"/>
                    </a:ext>
                  </a:extLst>
                </a:gridCol>
                <a:gridCol w="1667748">
                  <a:extLst>
                    <a:ext uri="{9D8B030D-6E8A-4147-A177-3AD203B41FA5}">
                      <a16:colId xmlns:a16="http://schemas.microsoft.com/office/drawing/2014/main" val="1640709980"/>
                    </a:ext>
                  </a:extLst>
                </a:gridCol>
                <a:gridCol w="451683">
                  <a:extLst>
                    <a:ext uri="{9D8B030D-6E8A-4147-A177-3AD203B41FA5}">
                      <a16:colId xmlns:a16="http://schemas.microsoft.com/office/drawing/2014/main" val="2598166888"/>
                    </a:ext>
                  </a:extLst>
                </a:gridCol>
              </a:tblGrid>
              <a:tr h="82409">
                <a:tc>
                  <a:txBody>
                    <a:bodyPr/>
                    <a:lstStyle/>
                    <a:p>
                      <a:pPr marL="0" marR="0" algn="ctr">
                        <a:lnSpc>
                          <a:spcPct val="150000"/>
                        </a:lnSpc>
                        <a:spcBef>
                          <a:spcPts val="0"/>
                        </a:spcBef>
                        <a:spcAft>
                          <a:spcPts val="0"/>
                        </a:spcAft>
                      </a:pPr>
                      <a:r>
                        <a:rPr lang="en-VN" sz="200">
                          <a:effectLst/>
                        </a:rPr>
                        <a:t>ID</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gn="ctr">
                        <a:lnSpc>
                          <a:spcPct val="150000"/>
                        </a:lnSpc>
                        <a:spcBef>
                          <a:spcPts val="0"/>
                        </a:spcBef>
                        <a:spcAft>
                          <a:spcPts val="0"/>
                        </a:spcAft>
                      </a:pPr>
                      <a:r>
                        <a:rPr lang="en-VN" sz="200">
                          <a:effectLst/>
                        </a:rPr>
                        <a:t>Tình huống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gn="ctr">
                        <a:lnSpc>
                          <a:spcPct val="150000"/>
                        </a:lnSpc>
                        <a:spcBef>
                          <a:spcPts val="0"/>
                        </a:spcBef>
                        <a:spcAft>
                          <a:spcPts val="0"/>
                        </a:spcAft>
                      </a:pPr>
                      <a:r>
                        <a:rPr lang="en-VN" sz="200">
                          <a:effectLst/>
                        </a:rPr>
                        <a:t>Các bước / Dữ liệu</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gn="ctr">
                        <a:lnSpc>
                          <a:spcPct val="150000"/>
                        </a:lnSpc>
                        <a:spcBef>
                          <a:spcPts val="0"/>
                        </a:spcBef>
                        <a:spcAft>
                          <a:spcPts val="0"/>
                        </a:spcAft>
                      </a:pPr>
                      <a:r>
                        <a:rPr lang="en-VN" sz="200">
                          <a:effectLst/>
                        </a:rPr>
                        <a:t>Kết quả kỳ vọng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gn="ctr">
                        <a:lnSpc>
                          <a:spcPct val="150000"/>
                        </a:lnSpc>
                        <a:spcBef>
                          <a:spcPts val="0"/>
                        </a:spcBef>
                        <a:spcAft>
                          <a:spcPts val="0"/>
                        </a:spcAft>
                      </a:pPr>
                      <a:r>
                        <a:rPr lang="en-VN" sz="200">
                          <a:effectLst/>
                        </a:rPr>
                        <a:t>Ưu tiên</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2257583994"/>
                  </a:ext>
                </a:extLst>
              </a:tr>
              <a:tr h="485833">
                <a:tc>
                  <a:txBody>
                    <a:bodyPr/>
                    <a:lstStyle/>
                    <a:p>
                      <a:pPr marL="0" marR="0">
                        <a:lnSpc>
                          <a:spcPct val="150000"/>
                        </a:lnSpc>
                        <a:spcBef>
                          <a:spcPts val="0"/>
                        </a:spcBef>
                        <a:spcAft>
                          <a:spcPts val="0"/>
                        </a:spcAft>
                      </a:pPr>
                      <a:r>
                        <a:rPr lang="en-VN" sz="200">
                          <a:effectLst/>
                        </a:rPr>
                        <a:t>TC-ADM-SP-01</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Xem danh sách SP</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GET /admin/sp</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331470">
                        <a:lnSpc>
                          <a:spcPct val="150000"/>
                        </a:lnSpc>
                        <a:spcBef>
                          <a:spcPts val="0"/>
                        </a:spcBef>
                        <a:spcAft>
                          <a:spcPts val="0"/>
                        </a:spcAft>
                      </a:pPr>
                      <a:r>
                        <a:rPr lang="en-VN" sz="200">
                          <a:effectLst/>
                        </a:rPr>
                        <a:t>Hiển thị 10 SP/trang, cột: SP (ảnh + tên), Danh mục, Giá, Trạng thái, Nổi bật, Ngày, Thao tác.</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1667969265"/>
                  </a:ext>
                </a:extLst>
              </a:tr>
              <a:tr h="225806">
                <a:tc>
                  <a:txBody>
                    <a:bodyPr/>
                    <a:lstStyle/>
                    <a:p>
                      <a:pPr marL="0" marR="0">
                        <a:lnSpc>
                          <a:spcPct val="150000"/>
                        </a:lnSpc>
                        <a:spcBef>
                          <a:spcPts val="0"/>
                        </a:spcBef>
                        <a:spcAft>
                          <a:spcPts val="0"/>
                        </a:spcAft>
                      </a:pPr>
                      <a:r>
                        <a:rPr lang="en-VN" sz="200">
                          <a:effectLst/>
                        </a:rPr>
                        <a:t>TC-ADM-SP-02</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Tìm SP theo tên</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keyword="Dell"</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Chỉ hiện SP khớp; nút "Xóa bộ lọc" xuất hiện.</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1727180260"/>
                  </a:ext>
                </a:extLst>
              </a:tr>
              <a:tr h="225806">
                <a:tc>
                  <a:txBody>
                    <a:bodyPr/>
                    <a:lstStyle/>
                    <a:p>
                      <a:pPr marL="0" marR="0">
                        <a:lnSpc>
                          <a:spcPct val="150000"/>
                        </a:lnSpc>
                        <a:spcBef>
                          <a:spcPts val="0"/>
                        </a:spcBef>
                        <a:spcAft>
                          <a:spcPts val="0"/>
                        </a:spcAft>
                      </a:pPr>
                      <a:r>
                        <a:rPr lang="en-VN" sz="200">
                          <a:effectLst/>
                        </a:rPr>
                        <a:t>TC-ADM-SP-03</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Sắp xếp theo giá</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Click header Giá</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Chuyển sort=gia; toggle ASC/DESC.</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2908798509"/>
                  </a:ext>
                </a:extLst>
              </a:tr>
              <a:tr h="225806">
                <a:tc>
                  <a:txBody>
                    <a:bodyPr/>
                    <a:lstStyle/>
                    <a:p>
                      <a:pPr marL="0" marR="0">
                        <a:lnSpc>
                          <a:spcPct val="150000"/>
                        </a:lnSpc>
                        <a:spcBef>
                          <a:spcPts val="0"/>
                        </a:spcBef>
                        <a:spcAft>
                          <a:spcPts val="0"/>
                        </a:spcAft>
                      </a:pPr>
                      <a:r>
                        <a:rPr lang="en-VN" sz="200">
                          <a:effectLst/>
                        </a:rPr>
                        <a:t>TC-ADM-SP-04</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Sắp xếp theo ngày</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Click header Ngày</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sort=ngay, toggle.</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3870312928"/>
                  </a:ext>
                </a:extLst>
              </a:tr>
              <a:tr h="225806">
                <a:tc>
                  <a:txBody>
                    <a:bodyPr/>
                    <a:lstStyle/>
                    <a:p>
                      <a:pPr marL="0" marR="0">
                        <a:lnSpc>
                          <a:spcPct val="150000"/>
                        </a:lnSpc>
                        <a:spcBef>
                          <a:spcPts val="0"/>
                        </a:spcBef>
                        <a:spcAft>
                          <a:spcPts val="0"/>
                        </a:spcAft>
                      </a:pPr>
                      <a:r>
                        <a:rPr lang="en-VN" sz="200">
                          <a:effectLst/>
                        </a:rPr>
                        <a:t>TC-ADM-SP-05</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Phân trang giữ keyword+sort</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Click sang trang 2 khi đang tìm</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URL /admin/sp?page=2&amp;keyword=Dell&amp;sort=gia&amp;order=ASC → giữ context.</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3168633342"/>
                  </a:ext>
                </a:extLst>
              </a:tr>
              <a:tr h="369205">
                <a:tc>
                  <a:txBody>
                    <a:bodyPr/>
                    <a:lstStyle/>
                    <a:p>
                      <a:pPr marL="0" marR="0">
                        <a:lnSpc>
                          <a:spcPct val="150000"/>
                        </a:lnSpc>
                        <a:spcBef>
                          <a:spcPts val="0"/>
                        </a:spcBef>
                        <a:spcAft>
                          <a:spcPts val="0"/>
                        </a:spcAft>
                      </a:pPr>
                      <a:r>
                        <a:rPr lang="en-VN" sz="200">
                          <a:effectLst/>
                        </a:rPr>
                        <a:t>TC-ADM-SP-06</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Thêm SP đủ thông tin</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Tên, danh mục hợp lệ, ngày hôm nay, gia=1000000, gia_km=800000, ảnh jpg 1MB</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INSERT thành công, redirect /admin/sp, flash "Đã thêm sản phẩm mới."</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3511012937"/>
                  </a:ext>
                </a:extLst>
              </a:tr>
              <a:tr h="225806">
                <a:tc>
                  <a:txBody>
                    <a:bodyPr/>
                    <a:lstStyle/>
                    <a:p>
                      <a:pPr marL="0" marR="0">
                        <a:lnSpc>
                          <a:spcPct val="150000"/>
                        </a:lnSpc>
                        <a:spcBef>
                          <a:spcPts val="0"/>
                        </a:spcBef>
                        <a:spcAft>
                          <a:spcPts val="0"/>
                        </a:spcAft>
                      </a:pPr>
                      <a:r>
                        <a:rPr lang="en-VN" sz="200">
                          <a:effectLst/>
                        </a:rPr>
                        <a:t>TC-ADM-SP-07</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Thêm không chọn danh mục</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id_loai=0</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die("Vui lòng chọn danh mục hợp lệ.") – trang trắng ưng ức.</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1830703815"/>
                  </a:ext>
                </a:extLst>
              </a:tr>
              <a:tr h="225806">
                <a:tc>
                  <a:txBody>
                    <a:bodyPr/>
                    <a:lstStyle/>
                    <a:p>
                      <a:pPr marL="0" marR="0">
                        <a:lnSpc>
                          <a:spcPct val="150000"/>
                        </a:lnSpc>
                        <a:spcBef>
                          <a:spcPts val="0"/>
                        </a:spcBef>
                        <a:spcAft>
                          <a:spcPts val="0"/>
                        </a:spcAft>
                      </a:pPr>
                      <a:r>
                        <a:rPr lang="en-VN" sz="200">
                          <a:effectLst/>
                        </a:rPr>
                        <a:t>TC-ADM-SP-08</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Tên SP rỗng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ten_sp=""</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die("Tên sản phẩm không được để trống.")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4043872258"/>
                  </a:ext>
                </a:extLst>
              </a:tr>
              <a:tr h="225806">
                <a:tc>
                  <a:txBody>
                    <a:bodyPr/>
                    <a:lstStyle/>
                    <a:p>
                      <a:pPr marL="0" marR="0">
                        <a:lnSpc>
                          <a:spcPct val="150000"/>
                        </a:lnSpc>
                        <a:spcBef>
                          <a:spcPts val="0"/>
                        </a:spcBef>
                        <a:spcAft>
                          <a:spcPts val="0"/>
                        </a:spcAft>
                      </a:pPr>
                      <a:r>
                        <a:rPr lang="en-VN" sz="200">
                          <a:effectLst/>
                        </a:rPr>
                        <a:t>TC-ADM-SP-09</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Ngày sai định dạng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ngay="31/12/2026"</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die("Ngày sản phẩm không hợp lệ.") (chỉ chấp nhận Y-m-d).</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4172139268"/>
                  </a:ext>
                </a:extLst>
              </a:tr>
              <a:tr h="225806">
                <a:tc>
                  <a:txBody>
                    <a:bodyPr/>
                    <a:lstStyle/>
                    <a:p>
                      <a:pPr marL="0" marR="0">
                        <a:lnSpc>
                          <a:spcPct val="150000"/>
                        </a:lnSpc>
                        <a:spcBef>
                          <a:spcPts val="0"/>
                        </a:spcBef>
                        <a:spcAft>
                          <a:spcPts val="0"/>
                        </a:spcAft>
                      </a:pPr>
                      <a:r>
                        <a:rPr lang="en-VN" sz="200">
                          <a:effectLst/>
                        </a:rPr>
                        <a:t>TC-ADM-SP-10</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Giá &lt;= 0</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gia=0</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die("Giá sản phẩm không hợp lệ.")</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559145593"/>
                  </a:ext>
                </a:extLst>
              </a:tr>
              <a:tr h="225806">
                <a:tc>
                  <a:txBody>
                    <a:bodyPr/>
                    <a:lstStyle/>
                    <a:p>
                      <a:pPr marL="0" marR="0">
                        <a:lnSpc>
                          <a:spcPct val="150000"/>
                        </a:lnSpc>
                        <a:spcBef>
                          <a:spcPts val="0"/>
                        </a:spcBef>
                        <a:spcAft>
                          <a:spcPts val="0"/>
                        </a:spcAft>
                      </a:pPr>
                      <a:r>
                        <a:rPr lang="en-VN" sz="200">
                          <a:effectLst/>
                        </a:rPr>
                        <a:t>TC-ADM-SP-11</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Giá KM &gt; giá gốc</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gia=1000, gia_km=2000</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die("Giá sản phẩm không hợp lệ.")</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3532366890"/>
                  </a:ext>
                </a:extLst>
              </a:tr>
              <a:tr h="225806">
                <a:tc>
                  <a:txBody>
                    <a:bodyPr/>
                    <a:lstStyle/>
                    <a:p>
                      <a:pPr marL="0" marR="0">
                        <a:lnSpc>
                          <a:spcPct val="150000"/>
                        </a:lnSpc>
                        <a:spcBef>
                          <a:spcPts val="0"/>
                        </a:spcBef>
                        <a:spcAft>
                          <a:spcPts val="0"/>
                        </a:spcAft>
                      </a:pPr>
                      <a:r>
                        <a:rPr lang="en-VN" sz="200">
                          <a:effectLst/>
                        </a:rPr>
                        <a:t>TC-ADM-SP-12</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Giá KM = 0</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gia_km=0</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Được chấp nhận (không giảm giá).</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1319116313"/>
                  </a:ext>
                </a:extLst>
              </a:tr>
              <a:tr h="225806">
                <a:tc>
                  <a:txBody>
                    <a:bodyPr/>
                    <a:lstStyle/>
                    <a:p>
                      <a:pPr marL="0" marR="0">
                        <a:lnSpc>
                          <a:spcPct val="150000"/>
                        </a:lnSpc>
                        <a:spcBef>
                          <a:spcPts val="0"/>
                        </a:spcBef>
                        <a:spcAft>
                          <a:spcPts val="0"/>
                        </a:spcAft>
                      </a:pPr>
                      <a:r>
                        <a:rPr lang="en-VN" sz="200">
                          <a:effectLst/>
                        </a:rPr>
                        <a:t>TC-ADM-SP-13</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Không upload ảnh khi thêm</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Không chọn file</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die("Vui lòng chọn ảnh sản phẩm.") (uploadImage true).</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4046248667"/>
                  </a:ext>
                </a:extLst>
              </a:tr>
              <a:tr h="225806">
                <a:tc>
                  <a:txBody>
                    <a:bodyPr/>
                    <a:lstStyle/>
                    <a:p>
                      <a:pPr marL="0" marR="0">
                        <a:lnSpc>
                          <a:spcPct val="150000"/>
                        </a:lnSpc>
                        <a:spcBef>
                          <a:spcPts val="0"/>
                        </a:spcBef>
                        <a:spcAft>
                          <a:spcPts val="0"/>
                        </a:spcAft>
                      </a:pPr>
                      <a:r>
                        <a:rPr lang="en-VN" sz="200">
                          <a:effectLst/>
                        </a:rPr>
                        <a:t>TC-ADM-SP-14</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Upload ảnh PDF</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File .pdf giả jpg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finfo phát hiện MIME ≠ jpg/png/webp → die("Chỉ chấp nhận ảnh JPG, PNG hoặc WEBP.")</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2252054891"/>
                  </a:ext>
                </a:extLst>
              </a:tr>
              <a:tr h="225806">
                <a:tc>
                  <a:txBody>
                    <a:bodyPr/>
                    <a:lstStyle/>
                    <a:p>
                      <a:pPr marL="0" marR="0">
                        <a:lnSpc>
                          <a:spcPct val="150000"/>
                        </a:lnSpc>
                        <a:spcBef>
                          <a:spcPts val="0"/>
                        </a:spcBef>
                        <a:spcAft>
                          <a:spcPts val="0"/>
                        </a:spcAft>
                      </a:pPr>
                      <a:r>
                        <a:rPr lang="en-VN" sz="200">
                          <a:effectLst/>
                        </a:rPr>
                        <a:t>TC-ADM-SP-15</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Upload ảnh &gt; 5MB</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ảnh jpg 6MB</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die("Ảnh sản phẩm không được vượt quá 5 MB.")</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97076437"/>
                  </a:ext>
                </a:extLst>
              </a:tr>
              <a:tr h="225806">
                <a:tc>
                  <a:txBody>
                    <a:bodyPr/>
                    <a:lstStyle/>
                    <a:p>
                      <a:pPr marL="0" marR="0">
                        <a:lnSpc>
                          <a:spcPct val="150000"/>
                        </a:lnSpc>
                        <a:spcBef>
                          <a:spcPts val="0"/>
                        </a:spcBef>
                        <a:spcAft>
                          <a:spcPts val="0"/>
                        </a:spcAft>
                      </a:pPr>
                      <a:r>
                        <a:rPr lang="en-VN" sz="200">
                          <a:effectLst/>
                        </a:rPr>
                        <a:t>TC-ADM-SP-16</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Upload nhiều ảnh cùng lúc</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File input single</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HTML input không multiple → chỉ 1 file/lần.</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L</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4242243667"/>
                  </a:ext>
                </a:extLst>
              </a:tr>
              <a:tr h="225806">
                <a:tc>
                  <a:txBody>
                    <a:bodyPr/>
                    <a:lstStyle/>
                    <a:p>
                      <a:pPr marL="0" marR="0">
                        <a:lnSpc>
                          <a:spcPct val="150000"/>
                        </a:lnSpc>
                        <a:spcBef>
                          <a:spcPts val="0"/>
                        </a:spcBef>
                        <a:spcAft>
                          <a:spcPts val="0"/>
                        </a:spcAft>
                      </a:pPr>
                      <a:r>
                        <a:rPr lang="en-VN" sz="200">
                          <a:effectLst/>
                        </a:rPr>
                        <a:t>TC-ADM-SP-17</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Ảnh có phần mở rộng khác MIME</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ảnh png đổi thành .jpg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finfo đọc MIME thực → dùng đúng đuôi khi lưu (png).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2372769249"/>
                  </a:ext>
                </a:extLst>
              </a:tr>
              <a:tr h="225806">
                <a:tc>
                  <a:txBody>
                    <a:bodyPr/>
                    <a:lstStyle/>
                    <a:p>
                      <a:pPr marL="0" marR="0">
                        <a:lnSpc>
                          <a:spcPct val="150000"/>
                        </a:lnSpc>
                        <a:spcBef>
                          <a:spcPts val="0"/>
                        </a:spcBef>
                        <a:spcAft>
                          <a:spcPts val="0"/>
                        </a:spcAft>
                      </a:pPr>
                      <a:r>
                        <a:rPr lang="en-VN" sz="200">
                          <a:effectLst/>
                        </a:rPr>
                        <a:t>TC-ADM-SP-18</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Sửa SP giữ ảnh cũ</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Không upload ảnh mới khi edit</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hinh giữ nguyên giá trị existing.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2737752460"/>
                  </a:ext>
                </a:extLst>
              </a:tr>
              <a:tr h="225806">
                <a:tc>
                  <a:txBody>
                    <a:bodyPr/>
                    <a:lstStyle/>
                    <a:p>
                      <a:pPr marL="0" marR="0">
                        <a:lnSpc>
                          <a:spcPct val="150000"/>
                        </a:lnSpc>
                        <a:spcBef>
                          <a:spcPts val="0"/>
                        </a:spcBef>
                        <a:spcAft>
                          <a:spcPts val="0"/>
                        </a:spcAft>
                      </a:pPr>
                      <a:r>
                        <a:rPr lang="en-VN" sz="200">
                          <a:effectLst/>
                        </a:rPr>
                        <a:t>TC-ADM-SP-19</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Sửa SP id không tồn tại</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GET /admin/editsp?id=99999</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404.</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2296436735"/>
                  </a:ext>
                </a:extLst>
              </a:tr>
              <a:tr h="225806">
                <a:tc>
                  <a:txBody>
                    <a:bodyPr/>
                    <a:lstStyle/>
                    <a:p>
                      <a:pPr marL="0" marR="0">
                        <a:lnSpc>
                          <a:spcPct val="150000"/>
                        </a:lnSpc>
                        <a:spcBef>
                          <a:spcPts val="0"/>
                        </a:spcBef>
                        <a:spcAft>
                          <a:spcPts val="0"/>
                        </a:spcAft>
                      </a:pPr>
                      <a:r>
                        <a:rPr lang="en-VN" sz="200">
                          <a:effectLst/>
                        </a:rPr>
                        <a:t>TC-ADM-SP-20</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Xoá SP</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GET /admin/deletesp?id=1 (confirm dialog OK)</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DELETE sanpham, @unlink ảnh trên đĩa, flash "Đã xóa sản phẩm."</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2977258912"/>
                  </a:ext>
                </a:extLst>
              </a:tr>
              <a:tr h="225806">
                <a:tc>
                  <a:txBody>
                    <a:bodyPr/>
                    <a:lstStyle/>
                    <a:p>
                      <a:pPr marL="0" marR="0">
                        <a:lnSpc>
                          <a:spcPct val="150000"/>
                        </a:lnSpc>
                        <a:spcBef>
                          <a:spcPts val="0"/>
                        </a:spcBef>
                        <a:spcAft>
                          <a:spcPts val="0"/>
                        </a:spcAft>
                      </a:pPr>
                      <a:r>
                        <a:rPr lang="en-VN" sz="200">
                          <a:effectLst/>
                        </a:rPr>
                        <a:t>TC-ADM-SP-21</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Xoá SP đang có trong đơn hàng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SP id=1 có mặt trong donhangchitiet</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DELETE thành công (không có FK) → dữ liệu mồ côi.</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1415229969"/>
                  </a:ext>
                </a:extLst>
              </a:tr>
              <a:tr h="225806">
                <a:tc>
                  <a:txBody>
                    <a:bodyPr/>
                    <a:lstStyle/>
                    <a:p>
                      <a:pPr marL="0" marR="0">
                        <a:lnSpc>
                          <a:spcPct val="150000"/>
                        </a:lnSpc>
                        <a:spcBef>
                          <a:spcPts val="0"/>
                        </a:spcBef>
                        <a:spcAft>
                          <a:spcPts val="0"/>
                        </a:spcAft>
                      </a:pPr>
                      <a:r>
                        <a:rPr lang="en-VN" sz="200">
                          <a:effectLst/>
                        </a:rPr>
                        <a:t>TC-ADM-SP-22</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Xoá SP không tồn tại</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GET /admin/deletesp?id=99999</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Không có SP → không có gì bị xoá, nhưng flash "Đã xóa..." (misleading).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M</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1502373092"/>
                  </a:ext>
                </a:extLst>
              </a:tr>
              <a:tr h="440903">
                <a:tc>
                  <a:txBody>
                    <a:bodyPr/>
                    <a:lstStyle/>
                    <a:p>
                      <a:pPr marL="0" marR="0">
                        <a:lnSpc>
                          <a:spcPct val="150000"/>
                        </a:lnSpc>
                        <a:spcBef>
                          <a:spcPts val="0"/>
                        </a:spcBef>
                        <a:spcAft>
                          <a:spcPts val="0"/>
                        </a:spcAft>
                      </a:pPr>
                      <a:r>
                        <a:rPr lang="en-VN" sz="200">
                          <a:effectLst/>
                        </a:rPr>
                        <a:t>TC-ADM-SP-23</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CSRF trên xoá SP</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Nạn nhân admin đang login, truy cập ảnh trên site độc: &lt;img src="/banhang/admin/deletesp?id=1"&gt;</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Vì là GET và không có CSRF token → SP bị xoá. Lỗ hổng nghiêm trọng.</a:t>
                      </a:r>
                      <a:endParaRPr lang="en-VN" sz="200">
                        <a:effectLst/>
                        <a:latin typeface="Calibri" panose="020F0502020204030204" pitchFamily="34" charset="0"/>
                        <a:ea typeface="Calibri" panose="020F0502020204030204" pitchFamily="34" charset="0"/>
                      </a:endParaRPr>
                    </a:p>
                  </a:txBody>
                  <a:tcPr marL="10648" marR="10648" marT="7099" marB="7099" anchor="ctr"/>
                </a:tc>
                <a:tc>
                  <a:txBody>
                    <a:bodyPr/>
                    <a:lstStyle/>
                    <a:p>
                      <a:pPr marL="0" marR="0">
                        <a:lnSpc>
                          <a:spcPct val="150000"/>
                        </a:lnSpc>
                        <a:spcBef>
                          <a:spcPts val="0"/>
                        </a:spcBef>
                        <a:spcAft>
                          <a:spcPts val="0"/>
                        </a:spcAft>
                      </a:pPr>
                      <a:r>
                        <a:rPr lang="en-VN" sz="200">
                          <a:effectLst/>
                        </a:rPr>
                        <a:t>H</a:t>
                      </a:r>
                      <a:endParaRPr lang="en-VN" sz="200">
                        <a:effectLst/>
                        <a:latin typeface="Calibri" panose="020F0502020204030204" pitchFamily="34" charset="0"/>
                        <a:ea typeface="Calibri" panose="020F0502020204030204" pitchFamily="34" charset="0"/>
                      </a:endParaRPr>
                    </a:p>
                  </a:txBody>
                  <a:tcPr marL="10648" marR="10648" marT="7099" marB="7099" anchor="ctr"/>
                </a:tc>
                <a:extLst>
                  <a:ext uri="{0D108BD9-81ED-4DB2-BD59-A6C34878D82A}">
                    <a16:rowId xmlns:a16="http://schemas.microsoft.com/office/drawing/2014/main" val="3049690403"/>
                  </a:ext>
                </a:extLst>
              </a:tr>
            </a:tbl>
          </a:graphicData>
        </a:graphic>
      </p:graphicFrame>
    </p:spTree>
    <p:extLst>
      <p:ext uri="{BB962C8B-B14F-4D97-AF65-F5344CB8AC3E}">
        <p14:creationId xmlns:p14="http://schemas.microsoft.com/office/powerpoint/2010/main" val="42815644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.2.</a:t>
            </a:r>
            <a:r>
              <a:rPr lang="en-VN" sz="2400" b="1">
                <a:solidFill>
                  <a:srgbClr val="7030A0"/>
                </a:solidFill>
                <a:effectLst/>
                <a:latin typeface="Times New Roman" panose="02020603050405020304" pitchFamily="18" charset="0"/>
                <a:ea typeface="Calibri" panose="020F0502020204030204" pitchFamily="34" charset="0"/>
              </a:rPr>
              <a:t> Kiểm thử chức năng</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70071A12-E013-0804-A353-169C9E62B1BD}"/>
              </a:ext>
            </a:extLst>
          </p:cNvPr>
          <p:cNvSpPr txBox="1"/>
          <p:nvPr/>
        </p:nvSpPr>
        <p:spPr>
          <a:xfrm>
            <a:off x="595884" y="1433954"/>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Nhóm test case: Admin - Quản lý danh mục</a:t>
            </a:r>
            <a:r>
              <a:rPr lang="en-VN">
                <a:effectLst/>
              </a:rPr>
              <a:t> </a:t>
            </a:r>
            <a:endParaRPr lang="en-VN"/>
          </a:p>
        </p:txBody>
      </p:sp>
      <p:graphicFrame>
        <p:nvGraphicFramePr>
          <p:cNvPr id="5" name="Table 4">
            <a:extLst>
              <a:ext uri="{FF2B5EF4-FFF2-40B4-BE49-F238E27FC236}">
                <a16:creationId xmlns:a16="http://schemas.microsoft.com/office/drawing/2014/main" id="{AA5EA072-EC36-62C4-1AD7-F5D85B9B188E}"/>
              </a:ext>
            </a:extLst>
          </p:cNvPr>
          <p:cNvGraphicFramePr>
            <a:graphicFrameLocks noGrp="1"/>
          </p:cNvGraphicFramePr>
          <p:nvPr>
            <p:extLst>
              <p:ext uri="{D42A27DB-BD31-4B8C-83A1-F6EECF244321}">
                <p14:modId xmlns:p14="http://schemas.microsoft.com/office/powerpoint/2010/main" val="3932017530"/>
              </p:ext>
            </p:extLst>
          </p:nvPr>
        </p:nvGraphicFramePr>
        <p:xfrm>
          <a:off x="5819439" y="239063"/>
          <a:ext cx="4572790" cy="5000596"/>
        </p:xfrm>
        <a:graphic>
          <a:graphicData uri="http://schemas.openxmlformats.org/drawingml/2006/table">
            <a:tbl>
              <a:tblPr>
                <a:tableStyleId>{5C22544A-7EE6-4342-B048-85BDC9FD1C3A}</a:tableStyleId>
              </a:tblPr>
              <a:tblGrid>
                <a:gridCol w="476333">
                  <a:extLst>
                    <a:ext uri="{9D8B030D-6E8A-4147-A177-3AD203B41FA5}">
                      <a16:colId xmlns:a16="http://schemas.microsoft.com/office/drawing/2014/main" val="3782828179"/>
                    </a:ext>
                  </a:extLst>
                </a:gridCol>
                <a:gridCol w="905031">
                  <a:extLst>
                    <a:ext uri="{9D8B030D-6E8A-4147-A177-3AD203B41FA5}">
                      <a16:colId xmlns:a16="http://schemas.microsoft.com/office/drawing/2014/main" val="3999284264"/>
                    </a:ext>
                  </a:extLst>
                </a:gridCol>
                <a:gridCol w="1667163">
                  <a:extLst>
                    <a:ext uri="{9D8B030D-6E8A-4147-A177-3AD203B41FA5}">
                      <a16:colId xmlns:a16="http://schemas.microsoft.com/office/drawing/2014/main" val="3558540746"/>
                    </a:ext>
                  </a:extLst>
                </a:gridCol>
                <a:gridCol w="1143197">
                  <a:extLst>
                    <a:ext uri="{9D8B030D-6E8A-4147-A177-3AD203B41FA5}">
                      <a16:colId xmlns:a16="http://schemas.microsoft.com/office/drawing/2014/main" val="1861920969"/>
                    </a:ext>
                  </a:extLst>
                </a:gridCol>
                <a:gridCol w="381066">
                  <a:extLst>
                    <a:ext uri="{9D8B030D-6E8A-4147-A177-3AD203B41FA5}">
                      <a16:colId xmlns:a16="http://schemas.microsoft.com/office/drawing/2014/main" val="3029161923"/>
                    </a:ext>
                  </a:extLst>
                </a:gridCol>
              </a:tblGrid>
              <a:tr h="318996">
                <a:tc>
                  <a:txBody>
                    <a:bodyPr/>
                    <a:lstStyle/>
                    <a:p>
                      <a:pPr marL="0" marR="0" algn="just">
                        <a:lnSpc>
                          <a:spcPct val="150000"/>
                        </a:lnSpc>
                        <a:spcBef>
                          <a:spcPts val="0"/>
                        </a:spcBef>
                        <a:spcAft>
                          <a:spcPts val="0"/>
                        </a:spcAft>
                      </a:pPr>
                      <a:r>
                        <a:rPr lang="en-VN" sz="600">
                          <a:effectLst/>
                        </a:rPr>
                        <a:t>ID</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Tình huống</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Các bước / Dữ liệu</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Kết quả kỳ vọng</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Ưu tiên</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1377969487"/>
                  </a:ext>
                </a:extLst>
              </a:tr>
              <a:tr h="468160">
                <a:tc>
                  <a:txBody>
                    <a:bodyPr/>
                    <a:lstStyle/>
                    <a:p>
                      <a:pPr marL="0" marR="0" algn="just">
                        <a:lnSpc>
                          <a:spcPct val="150000"/>
                        </a:lnSpc>
                        <a:spcBef>
                          <a:spcPts val="0"/>
                        </a:spcBef>
                        <a:spcAft>
                          <a:spcPts val="0"/>
                        </a:spcAft>
                      </a:pPr>
                      <a:r>
                        <a:rPr lang="en-VN" sz="600">
                          <a:effectLst/>
                        </a:rPr>
                        <a:t>TC-ADM-LO-01</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Danh sách danh mục</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GET /admin/loai</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Hiển thị bảng loai với paging (10/trang).</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H</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2360893652"/>
                  </a:ext>
                </a:extLst>
              </a:tr>
              <a:tr h="468160">
                <a:tc>
                  <a:txBody>
                    <a:bodyPr/>
                    <a:lstStyle/>
                    <a:p>
                      <a:pPr marL="0" marR="0" algn="just">
                        <a:lnSpc>
                          <a:spcPct val="150000"/>
                        </a:lnSpc>
                        <a:spcBef>
                          <a:spcPts val="0"/>
                        </a:spcBef>
                        <a:spcAft>
                          <a:spcPts val="0"/>
                        </a:spcAft>
                      </a:pPr>
                      <a:r>
                        <a:rPr lang="en-VN" sz="600">
                          <a:effectLst/>
                        </a:rPr>
                        <a:t>TC-ADM-LO-02</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Thêm danh mục hợp lệ</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ten_loai="Ultrabook", thutu=5, anhien=1</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INSERT thành công.</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H</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731267272"/>
                  </a:ext>
                </a:extLst>
              </a:tr>
              <a:tr h="468160">
                <a:tc>
                  <a:txBody>
                    <a:bodyPr/>
                    <a:lstStyle/>
                    <a:p>
                      <a:pPr marL="0" marR="0" algn="just">
                        <a:lnSpc>
                          <a:spcPct val="150000"/>
                        </a:lnSpc>
                        <a:spcBef>
                          <a:spcPts val="0"/>
                        </a:spcBef>
                        <a:spcAft>
                          <a:spcPts val="0"/>
                        </a:spcAft>
                      </a:pPr>
                      <a:r>
                        <a:rPr lang="en-VN" sz="600">
                          <a:effectLst/>
                        </a:rPr>
                        <a:t>TC-ADM-LO-03</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Thêm danh mục trùng tên</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ten_loai đã tồn tại</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die("Tên danh mục đã tồn tại.")</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H</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1197432904"/>
                  </a:ext>
                </a:extLst>
              </a:tr>
              <a:tr h="468160">
                <a:tc>
                  <a:txBody>
                    <a:bodyPr/>
                    <a:lstStyle/>
                    <a:p>
                      <a:pPr marL="0" marR="0" algn="just">
                        <a:lnSpc>
                          <a:spcPct val="150000"/>
                        </a:lnSpc>
                        <a:spcBef>
                          <a:spcPts val="0"/>
                        </a:spcBef>
                        <a:spcAft>
                          <a:spcPts val="0"/>
                        </a:spcAft>
                      </a:pPr>
                      <a:r>
                        <a:rPr lang="en-VN" sz="600">
                          <a:effectLst/>
                        </a:rPr>
                        <a:t>TC-ADM-LO-04</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Tên danh mục rỗng</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ten_loai=""</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die("Tên danh mục không được để trống.")</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H</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971313560"/>
                  </a:ext>
                </a:extLst>
              </a:tr>
              <a:tr h="468160">
                <a:tc>
                  <a:txBody>
                    <a:bodyPr/>
                    <a:lstStyle/>
                    <a:p>
                      <a:pPr marL="0" marR="0" algn="just">
                        <a:lnSpc>
                          <a:spcPct val="150000"/>
                        </a:lnSpc>
                        <a:spcBef>
                          <a:spcPts val="0"/>
                        </a:spcBef>
                        <a:spcAft>
                          <a:spcPts val="0"/>
                        </a:spcAft>
                      </a:pPr>
                      <a:r>
                        <a:rPr lang="en-VN" sz="600">
                          <a:effectLst/>
                        </a:rPr>
                        <a:t>TC-ADM-LO-05</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anhien không phải 0/1</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anhien=2</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die("Trạng thái danh mục không hợp lệ.")</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M</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1426979514"/>
                  </a:ext>
                </a:extLst>
              </a:tr>
              <a:tr h="468160">
                <a:tc>
                  <a:txBody>
                    <a:bodyPr/>
                    <a:lstStyle/>
                    <a:p>
                      <a:pPr marL="0" marR="0" algn="just">
                        <a:lnSpc>
                          <a:spcPct val="150000"/>
                        </a:lnSpc>
                        <a:spcBef>
                          <a:spcPts val="0"/>
                        </a:spcBef>
                        <a:spcAft>
                          <a:spcPts val="0"/>
                        </a:spcAft>
                      </a:pPr>
                      <a:r>
                        <a:rPr lang="en-VN" sz="600">
                          <a:effectLst/>
                        </a:rPr>
                        <a:t>TC-ADM-LO-06</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Sửa danh mục</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Đổi tên hợp lệ</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UPDATE thành công.</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H</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3719754568"/>
                  </a:ext>
                </a:extLst>
              </a:tr>
              <a:tr h="468160">
                <a:tc>
                  <a:txBody>
                    <a:bodyPr/>
                    <a:lstStyle/>
                    <a:p>
                      <a:pPr marL="0" marR="0" algn="just">
                        <a:lnSpc>
                          <a:spcPct val="150000"/>
                        </a:lnSpc>
                        <a:spcBef>
                          <a:spcPts val="0"/>
                        </a:spcBef>
                        <a:spcAft>
                          <a:spcPts val="0"/>
                        </a:spcAft>
                      </a:pPr>
                      <a:r>
                        <a:rPr lang="en-VN" sz="600">
                          <a:effectLst/>
                        </a:rPr>
                        <a:t>TC-ADM-LO-07</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Xoá danh mục rỗng</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Danh mục chưa có SP</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DELETE thành công, flash "Đã xóa danh mục."</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H</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4161183400"/>
                  </a:ext>
                </a:extLst>
              </a:tr>
              <a:tr h="468160">
                <a:tc>
                  <a:txBody>
                    <a:bodyPr/>
                    <a:lstStyle/>
                    <a:p>
                      <a:pPr marL="0" marR="0" algn="just">
                        <a:lnSpc>
                          <a:spcPct val="150000"/>
                        </a:lnSpc>
                        <a:spcBef>
                          <a:spcPts val="0"/>
                        </a:spcBef>
                        <a:spcAft>
                          <a:spcPts val="0"/>
                        </a:spcAft>
                      </a:pPr>
                      <a:r>
                        <a:rPr lang="en-VN" sz="600">
                          <a:effectLst/>
                        </a:rPr>
                        <a:t>TC-ADM-LO-08</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Xoá danh mục có SP</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Danh mục đang chứa SP</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error "Không thể xóa danh mục đang có sản phẩm."</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H</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538002698"/>
                  </a:ext>
                </a:extLst>
              </a:tr>
              <a:tr h="468160">
                <a:tc>
                  <a:txBody>
                    <a:bodyPr/>
                    <a:lstStyle/>
                    <a:p>
                      <a:pPr marL="0" marR="0" algn="just">
                        <a:lnSpc>
                          <a:spcPct val="150000"/>
                        </a:lnSpc>
                        <a:spcBef>
                          <a:spcPts val="0"/>
                        </a:spcBef>
                        <a:spcAft>
                          <a:spcPts val="0"/>
                        </a:spcAft>
                      </a:pPr>
                      <a:r>
                        <a:rPr lang="en-VN" sz="600">
                          <a:effectLst/>
                        </a:rPr>
                        <a:t>TC-ADM-LO-09</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thutu số âm</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thutu=-5</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max(0,...) → chuyển về 0.</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L</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881367470"/>
                  </a:ext>
                </a:extLst>
              </a:tr>
              <a:tr h="468160">
                <a:tc>
                  <a:txBody>
                    <a:bodyPr/>
                    <a:lstStyle/>
                    <a:p>
                      <a:pPr marL="0" marR="0" algn="just">
                        <a:lnSpc>
                          <a:spcPct val="150000"/>
                        </a:lnSpc>
                        <a:spcBef>
                          <a:spcPts val="0"/>
                        </a:spcBef>
                        <a:spcAft>
                          <a:spcPts val="0"/>
                        </a:spcAft>
                      </a:pPr>
                      <a:r>
                        <a:rPr lang="en-VN" sz="600">
                          <a:effectLst/>
                        </a:rPr>
                        <a:t>TC-ADM-LO-10</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ten_loai chứa HTML</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ten_loai="&lt;script&gt;x&lt;/script&gt;"</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strip_tags loại, chỉ còn "x".</a:t>
                      </a:r>
                      <a:endParaRPr lang="en-VN" sz="500">
                        <a:effectLst/>
                        <a:latin typeface="Calibri" panose="020F0502020204030204" pitchFamily="34" charset="0"/>
                        <a:ea typeface="Calibri" panose="020F0502020204030204" pitchFamily="34" charset="0"/>
                      </a:endParaRPr>
                    </a:p>
                  </a:txBody>
                  <a:tcPr marL="24873" marR="24873" marT="16582" marB="16582" anchor="ctr"/>
                </a:tc>
                <a:tc>
                  <a:txBody>
                    <a:bodyPr/>
                    <a:lstStyle/>
                    <a:p>
                      <a:pPr marL="0" marR="0" algn="just">
                        <a:lnSpc>
                          <a:spcPct val="150000"/>
                        </a:lnSpc>
                        <a:spcBef>
                          <a:spcPts val="0"/>
                        </a:spcBef>
                        <a:spcAft>
                          <a:spcPts val="0"/>
                        </a:spcAft>
                      </a:pPr>
                      <a:r>
                        <a:rPr lang="en-VN" sz="600">
                          <a:effectLst/>
                        </a:rPr>
                        <a:t>H</a:t>
                      </a:r>
                      <a:endParaRPr lang="en-VN" sz="500">
                        <a:effectLst/>
                        <a:latin typeface="Calibri" panose="020F0502020204030204" pitchFamily="34" charset="0"/>
                        <a:ea typeface="Calibri" panose="020F0502020204030204" pitchFamily="34" charset="0"/>
                      </a:endParaRPr>
                    </a:p>
                  </a:txBody>
                  <a:tcPr marL="24873" marR="24873" marT="16582" marB="16582" anchor="ctr"/>
                </a:tc>
                <a:extLst>
                  <a:ext uri="{0D108BD9-81ED-4DB2-BD59-A6C34878D82A}">
                    <a16:rowId xmlns:a16="http://schemas.microsoft.com/office/drawing/2014/main" val="3177556088"/>
                  </a:ext>
                </a:extLst>
              </a:tr>
            </a:tbl>
          </a:graphicData>
        </a:graphic>
      </p:graphicFrame>
    </p:spTree>
    <p:extLst>
      <p:ext uri="{BB962C8B-B14F-4D97-AF65-F5344CB8AC3E}">
        <p14:creationId xmlns:p14="http://schemas.microsoft.com/office/powerpoint/2010/main" val="34245735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.2.</a:t>
            </a:r>
            <a:r>
              <a:rPr lang="en-VN" sz="2400" b="1">
                <a:solidFill>
                  <a:srgbClr val="7030A0"/>
                </a:solidFill>
                <a:effectLst/>
                <a:latin typeface="Times New Roman" panose="02020603050405020304" pitchFamily="18" charset="0"/>
                <a:ea typeface="Calibri" panose="020F0502020204030204" pitchFamily="34" charset="0"/>
              </a:rPr>
              <a:t> Kiểm thử chức năng</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99414321-2A09-65C4-7F76-77DC1C3367F8}"/>
              </a:ext>
            </a:extLst>
          </p:cNvPr>
          <p:cNvSpPr txBox="1"/>
          <p:nvPr/>
        </p:nvSpPr>
        <p:spPr>
          <a:xfrm>
            <a:off x="813381" y="1362217"/>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Nhóm test case: Admin - Đơn hàng</a:t>
            </a:r>
            <a:r>
              <a:rPr lang="en-VN">
                <a:effectLst/>
              </a:rPr>
              <a:t> </a:t>
            </a:r>
            <a:endParaRPr lang="en-VN"/>
          </a:p>
        </p:txBody>
      </p:sp>
      <p:graphicFrame>
        <p:nvGraphicFramePr>
          <p:cNvPr id="11" name="Table 10">
            <a:extLst>
              <a:ext uri="{FF2B5EF4-FFF2-40B4-BE49-F238E27FC236}">
                <a16:creationId xmlns:a16="http://schemas.microsoft.com/office/drawing/2014/main" id="{E36E92B9-013A-0D70-88F9-D8B3FB7665AF}"/>
              </a:ext>
            </a:extLst>
          </p:cNvPr>
          <p:cNvGraphicFramePr>
            <a:graphicFrameLocks noGrp="1"/>
          </p:cNvGraphicFramePr>
          <p:nvPr>
            <p:extLst>
              <p:ext uri="{D42A27DB-BD31-4B8C-83A1-F6EECF244321}">
                <p14:modId xmlns:p14="http://schemas.microsoft.com/office/powerpoint/2010/main" val="2447950959"/>
              </p:ext>
            </p:extLst>
          </p:nvPr>
        </p:nvGraphicFramePr>
        <p:xfrm>
          <a:off x="4965974" y="956824"/>
          <a:ext cx="4931521" cy="5286277"/>
        </p:xfrm>
        <a:graphic>
          <a:graphicData uri="http://schemas.openxmlformats.org/drawingml/2006/table">
            <a:tbl>
              <a:tblPr>
                <a:tableStyleId>{5C22544A-7EE6-4342-B048-85BDC9FD1C3A}</a:tableStyleId>
              </a:tblPr>
              <a:tblGrid>
                <a:gridCol w="513700">
                  <a:extLst>
                    <a:ext uri="{9D8B030D-6E8A-4147-A177-3AD203B41FA5}">
                      <a16:colId xmlns:a16="http://schemas.microsoft.com/office/drawing/2014/main" val="2234650920"/>
                    </a:ext>
                  </a:extLst>
                </a:gridCol>
                <a:gridCol w="976030">
                  <a:extLst>
                    <a:ext uri="{9D8B030D-6E8A-4147-A177-3AD203B41FA5}">
                      <a16:colId xmlns:a16="http://schemas.microsoft.com/office/drawing/2014/main" val="1410646678"/>
                    </a:ext>
                  </a:extLst>
                </a:gridCol>
                <a:gridCol w="1797950">
                  <a:extLst>
                    <a:ext uri="{9D8B030D-6E8A-4147-A177-3AD203B41FA5}">
                      <a16:colId xmlns:a16="http://schemas.microsoft.com/office/drawing/2014/main" val="1480819872"/>
                    </a:ext>
                  </a:extLst>
                </a:gridCol>
                <a:gridCol w="1232880">
                  <a:extLst>
                    <a:ext uri="{9D8B030D-6E8A-4147-A177-3AD203B41FA5}">
                      <a16:colId xmlns:a16="http://schemas.microsoft.com/office/drawing/2014/main" val="1094377942"/>
                    </a:ext>
                  </a:extLst>
                </a:gridCol>
                <a:gridCol w="410961">
                  <a:extLst>
                    <a:ext uri="{9D8B030D-6E8A-4147-A177-3AD203B41FA5}">
                      <a16:colId xmlns:a16="http://schemas.microsoft.com/office/drawing/2014/main" val="639959537"/>
                    </a:ext>
                  </a:extLst>
                </a:gridCol>
              </a:tblGrid>
              <a:tr h="452878">
                <a:tc>
                  <a:txBody>
                    <a:bodyPr/>
                    <a:lstStyle/>
                    <a:p>
                      <a:pPr marL="0" marR="0" algn="just">
                        <a:lnSpc>
                          <a:spcPct val="150000"/>
                        </a:lnSpc>
                        <a:spcBef>
                          <a:spcPts val="0"/>
                        </a:spcBef>
                        <a:spcAft>
                          <a:spcPts val="0"/>
                        </a:spcAft>
                      </a:pPr>
                      <a:r>
                        <a:rPr lang="en-VN" sz="800">
                          <a:effectLst/>
                        </a:rPr>
                        <a:t>ID</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Tình huống</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Các bước / Dữ liệu</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Kết quả kỳ vọng</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Ưu tiên</a:t>
                      </a:r>
                      <a:endParaRPr lang="en-VN" sz="600">
                        <a:effectLst/>
                        <a:latin typeface="Calibri" panose="020F0502020204030204" pitchFamily="34" charset="0"/>
                        <a:ea typeface="Calibri" panose="020F0502020204030204" pitchFamily="34" charset="0"/>
                      </a:endParaRPr>
                    </a:p>
                  </a:txBody>
                  <a:tcPr marL="33411" marR="33411" marT="22274" marB="22274" anchor="ctr"/>
                </a:tc>
                <a:extLst>
                  <a:ext uri="{0D108BD9-81ED-4DB2-BD59-A6C34878D82A}">
                    <a16:rowId xmlns:a16="http://schemas.microsoft.com/office/drawing/2014/main" val="3451640337"/>
                  </a:ext>
                </a:extLst>
              </a:tr>
              <a:tr h="876104">
                <a:tc>
                  <a:txBody>
                    <a:bodyPr/>
                    <a:lstStyle/>
                    <a:p>
                      <a:pPr marL="0" marR="0" algn="just">
                        <a:lnSpc>
                          <a:spcPct val="150000"/>
                        </a:lnSpc>
                        <a:spcBef>
                          <a:spcPts val="0"/>
                        </a:spcBef>
                        <a:spcAft>
                          <a:spcPts val="0"/>
                        </a:spcAft>
                      </a:pPr>
                      <a:r>
                        <a:rPr lang="en-VN" sz="800">
                          <a:effectLst/>
                        </a:rPr>
                        <a:t>TC-ADM-DH-01</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Danh sách đơn hàng</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GET /admin/orders</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Bảng 10 đơn/trang, mới nhất ở trên, cột tổng SL và tổng tiền tính từ join.</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H</a:t>
                      </a:r>
                      <a:endParaRPr lang="en-VN" sz="600">
                        <a:effectLst/>
                        <a:latin typeface="Calibri" panose="020F0502020204030204" pitchFamily="34" charset="0"/>
                        <a:ea typeface="Calibri" panose="020F0502020204030204" pitchFamily="34" charset="0"/>
                      </a:endParaRPr>
                    </a:p>
                  </a:txBody>
                  <a:tcPr marL="33411" marR="33411" marT="22274" marB="22274" anchor="ctr"/>
                </a:tc>
                <a:extLst>
                  <a:ext uri="{0D108BD9-81ED-4DB2-BD59-A6C34878D82A}">
                    <a16:rowId xmlns:a16="http://schemas.microsoft.com/office/drawing/2014/main" val="777176409"/>
                  </a:ext>
                </a:extLst>
              </a:tr>
              <a:tr h="664491">
                <a:tc>
                  <a:txBody>
                    <a:bodyPr/>
                    <a:lstStyle/>
                    <a:p>
                      <a:pPr marL="0" marR="0" algn="just">
                        <a:lnSpc>
                          <a:spcPct val="150000"/>
                        </a:lnSpc>
                        <a:spcBef>
                          <a:spcPts val="0"/>
                        </a:spcBef>
                        <a:spcAft>
                          <a:spcPts val="0"/>
                        </a:spcAft>
                      </a:pPr>
                      <a:r>
                        <a:rPr lang="en-VN" sz="800">
                          <a:effectLst/>
                        </a:rPr>
                        <a:t>TC-ADM-DH-02</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Đơn hàng không có chi tiết</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donhang có id_dh nhưng 0 dòng chi tiết</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tong_soluong=0, tong_tien=0 (COALESCE 0).</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M</a:t>
                      </a:r>
                      <a:endParaRPr lang="en-VN" sz="600">
                        <a:effectLst/>
                        <a:latin typeface="Calibri" panose="020F0502020204030204" pitchFamily="34" charset="0"/>
                        <a:ea typeface="Calibri" panose="020F0502020204030204" pitchFamily="34" charset="0"/>
                      </a:endParaRPr>
                    </a:p>
                  </a:txBody>
                  <a:tcPr marL="33411" marR="33411" marT="22274" marB="22274" anchor="ctr"/>
                </a:tc>
                <a:extLst>
                  <a:ext uri="{0D108BD9-81ED-4DB2-BD59-A6C34878D82A}">
                    <a16:rowId xmlns:a16="http://schemas.microsoft.com/office/drawing/2014/main" val="1459856161"/>
                  </a:ext>
                </a:extLst>
              </a:tr>
              <a:tr h="876104">
                <a:tc>
                  <a:txBody>
                    <a:bodyPr/>
                    <a:lstStyle/>
                    <a:p>
                      <a:pPr marL="0" marR="0" algn="just">
                        <a:lnSpc>
                          <a:spcPct val="150000"/>
                        </a:lnSpc>
                        <a:spcBef>
                          <a:spcPts val="0"/>
                        </a:spcBef>
                        <a:spcAft>
                          <a:spcPts val="0"/>
                        </a:spcAft>
                      </a:pPr>
                      <a:r>
                        <a:rPr lang="en-VN" sz="800">
                          <a:effectLst/>
                        </a:rPr>
                        <a:t>TC-ADM-DH-03</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Chi tiết đơn hàng</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GET /admin/order?id=1</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Hiển thị thông tin khách + danh sách SP với ten_sp và gia snapshot.</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H</a:t>
                      </a:r>
                      <a:endParaRPr lang="en-VN" sz="600">
                        <a:effectLst/>
                        <a:latin typeface="Calibri" panose="020F0502020204030204" pitchFamily="34" charset="0"/>
                        <a:ea typeface="Calibri" panose="020F0502020204030204" pitchFamily="34" charset="0"/>
                      </a:endParaRPr>
                    </a:p>
                  </a:txBody>
                  <a:tcPr marL="33411" marR="33411" marT="22274" marB="22274" anchor="ctr"/>
                </a:tc>
                <a:extLst>
                  <a:ext uri="{0D108BD9-81ED-4DB2-BD59-A6C34878D82A}">
                    <a16:rowId xmlns:a16="http://schemas.microsoft.com/office/drawing/2014/main" val="4232590443"/>
                  </a:ext>
                </a:extLst>
              </a:tr>
              <a:tr h="664491">
                <a:tc>
                  <a:txBody>
                    <a:bodyPr/>
                    <a:lstStyle/>
                    <a:p>
                      <a:pPr marL="0" marR="0" algn="just">
                        <a:lnSpc>
                          <a:spcPct val="150000"/>
                        </a:lnSpc>
                        <a:spcBef>
                          <a:spcPts val="0"/>
                        </a:spcBef>
                        <a:spcAft>
                          <a:spcPts val="0"/>
                        </a:spcAft>
                      </a:pPr>
                      <a:r>
                        <a:rPr lang="en-VN" sz="800">
                          <a:effectLst/>
                        </a:rPr>
                        <a:t>TC-ADM-DH-04</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Chi tiết đơn không tồn tại</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id=99999</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404.</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H</a:t>
                      </a:r>
                      <a:endParaRPr lang="en-VN" sz="600">
                        <a:effectLst/>
                        <a:latin typeface="Calibri" panose="020F0502020204030204" pitchFamily="34" charset="0"/>
                        <a:ea typeface="Calibri" panose="020F0502020204030204" pitchFamily="34" charset="0"/>
                      </a:endParaRPr>
                    </a:p>
                  </a:txBody>
                  <a:tcPr marL="33411" marR="33411" marT="22274" marB="22274" anchor="ctr"/>
                </a:tc>
                <a:extLst>
                  <a:ext uri="{0D108BD9-81ED-4DB2-BD59-A6C34878D82A}">
                    <a16:rowId xmlns:a16="http://schemas.microsoft.com/office/drawing/2014/main" val="2016968075"/>
                  </a:ext>
                </a:extLst>
              </a:tr>
              <a:tr h="1087718">
                <a:tc>
                  <a:txBody>
                    <a:bodyPr/>
                    <a:lstStyle/>
                    <a:p>
                      <a:pPr marL="0" marR="0" algn="just">
                        <a:lnSpc>
                          <a:spcPct val="150000"/>
                        </a:lnSpc>
                        <a:spcBef>
                          <a:spcPts val="0"/>
                        </a:spcBef>
                        <a:spcAft>
                          <a:spcPts val="0"/>
                        </a:spcAft>
                      </a:pPr>
                      <a:r>
                        <a:rPr lang="en-VN" sz="800">
                          <a:effectLst/>
                        </a:rPr>
                        <a:t>TC-ADM-DH-05</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Dashboard thống kê</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GET /admin</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Số SP, danh mục, đơn hàng, và doanh thu tổng (SUM(soluong*gia)) khớp DB.</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H</a:t>
                      </a:r>
                      <a:endParaRPr lang="en-VN" sz="600">
                        <a:effectLst/>
                        <a:latin typeface="Calibri" panose="020F0502020204030204" pitchFamily="34" charset="0"/>
                        <a:ea typeface="Calibri" panose="020F0502020204030204" pitchFamily="34" charset="0"/>
                      </a:endParaRPr>
                    </a:p>
                  </a:txBody>
                  <a:tcPr marL="33411" marR="33411" marT="22274" marB="22274" anchor="ctr"/>
                </a:tc>
                <a:extLst>
                  <a:ext uri="{0D108BD9-81ED-4DB2-BD59-A6C34878D82A}">
                    <a16:rowId xmlns:a16="http://schemas.microsoft.com/office/drawing/2014/main" val="1577328605"/>
                  </a:ext>
                </a:extLst>
              </a:tr>
              <a:tr h="664491">
                <a:tc>
                  <a:txBody>
                    <a:bodyPr/>
                    <a:lstStyle/>
                    <a:p>
                      <a:pPr marL="0" marR="0" algn="just">
                        <a:lnSpc>
                          <a:spcPct val="150000"/>
                        </a:lnSpc>
                        <a:spcBef>
                          <a:spcPts val="0"/>
                        </a:spcBef>
                        <a:spcAft>
                          <a:spcPts val="0"/>
                        </a:spcAft>
                      </a:pPr>
                      <a:r>
                        <a:rPr lang="en-VN" sz="800">
                          <a:effectLst/>
                        </a:rPr>
                        <a:t>TC-ADM-DH-06</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Bảng recent orders</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Dashboard</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Hiển thị đúng 5 đơn mới nhất.</a:t>
                      </a:r>
                      <a:endParaRPr lang="en-VN" sz="600">
                        <a:effectLst/>
                        <a:latin typeface="Calibri" panose="020F0502020204030204" pitchFamily="34" charset="0"/>
                        <a:ea typeface="Calibri" panose="020F0502020204030204" pitchFamily="34" charset="0"/>
                      </a:endParaRPr>
                    </a:p>
                  </a:txBody>
                  <a:tcPr marL="33411" marR="33411" marT="22274" marB="22274" anchor="ctr"/>
                </a:tc>
                <a:tc>
                  <a:txBody>
                    <a:bodyPr/>
                    <a:lstStyle/>
                    <a:p>
                      <a:pPr marL="0" marR="0" algn="just">
                        <a:lnSpc>
                          <a:spcPct val="150000"/>
                        </a:lnSpc>
                        <a:spcBef>
                          <a:spcPts val="0"/>
                        </a:spcBef>
                        <a:spcAft>
                          <a:spcPts val="0"/>
                        </a:spcAft>
                      </a:pPr>
                      <a:r>
                        <a:rPr lang="en-VN" sz="800">
                          <a:effectLst/>
                        </a:rPr>
                        <a:t>M</a:t>
                      </a:r>
                      <a:endParaRPr lang="en-VN" sz="600">
                        <a:effectLst/>
                        <a:latin typeface="Calibri" panose="020F0502020204030204" pitchFamily="34" charset="0"/>
                        <a:ea typeface="Calibri" panose="020F0502020204030204" pitchFamily="34" charset="0"/>
                      </a:endParaRPr>
                    </a:p>
                  </a:txBody>
                  <a:tcPr marL="33411" marR="33411" marT="22274" marB="22274" anchor="ctr"/>
                </a:tc>
                <a:extLst>
                  <a:ext uri="{0D108BD9-81ED-4DB2-BD59-A6C34878D82A}">
                    <a16:rowId xmlns:a16="http://schemas.microsoft.com/office/drawing/2014/main" val="505830777"/>
                  </a:ext>
                </a:extLst>
              </a:tr>
            </a:tbl>
          </a:graphicData>
        </a:graphic>
      </p:graphicFrame>
    </p:spTree>
    <p:extLst>
      <p:ext uri="{BB962C8B-B14F-4D97-AF65-F5344CB8AC3E}">
        <p14:creationId xmlns:p14="http://schemas.microsoft.com/office/powerpoint/2010/main" val="1086767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39378"/>
          </a:xfrm>
          <a:prstGeom prst="rect">
            <a:avLst/>
          </a:prstGeom>
          <a:noFill/>
        </p:spPr>
        <p:txBody>
          <a:bodyPr wrap="square">
            <a:spAutoFit/>
          </a:bodyPr>
          <a:lstStyle/>
          <a:p>
            <a:pPr>
              <a:lnSpc>
                <a:spcPct val="150000"/>
              </a:lnSpc>
            </a:pPr>
            <a:r>
              <a:rPr lang="vi-VN" sz="2200" b="1">
                <a:solidFill>
                  <a:srgbClr val="7030A0"/>
                </a:solidFill>
                <a:latin typeface="Times New Roman" panose="02020603050405020304" pitchFamily="18" charset="0"/>
                <a:cs typeface="Times New Roman" panose="02020603050405020304" pitchFamily="18" charset="0"/>
              </a:rPr>
              <a:t>5</a:t>
            </a:r>
            <a:r>
              <a:rPr lang="vi-VN" sz="2200" b="1">
                <a:solidFill>
                  <a:srgbClr val="7030A0"/>
                </a:solidFill>
                <a:effectLst/>
                <a:latin typeface="Times New Roman" panose="02020603050405020304" pitchFamily="18" charset="0"/>
                <a:cs typeface="Times New Roman" panose="02020603050405020304" pitchFamily="18" charset="0"/>
              </a:rPr>
              <a:t>.3.</a:t>
            </a:r>
            <a:r>
              <a:rPr lang="en-VN" sz="22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Kiểm thử giao diện &amp; trải nghiệm người dùng (UI/UX)</a:t>
            </a:r>
            <a:r>
              <a:rPr lang="en-VN" sz="2200" b="1">
                <a:solidFill>
                  <a:srgbClr val="7030A0"/>
                </a:solidFill>
                <a:effectLst/>
                <a:latin typeface="Times New Roman" panose="02020603050405020304" pitchFamily="18" charset="0"/>
                <a:cs typeface="Times New Roman" panose="02020603050405020304" pitchFamily="18" charset="0"/>
              </a:rPr>
              <a:t> </a:t>
            </a:r>
            <a:endParaRPr lang="vi-VN" sz="22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2015E381-5B65-F512-8674-E1514C955B94}"/>
              </a:ext>
            </a:extLst>
          </p:cNvPr>
          <p:cNvSpPr txBox="1"/>
          <p:nvPr/>
        </p:nvSpPr>
        <p:spPr>
          <a:xfrm>
            <a:off x="595884" y="1368692"/>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Visibility of System Status (Trạng thái hệ thống rõ ràng)</a:t>
            </a:r>
            <a:r>
              <a:rPr lang="en-VN">
                <a:effectLst/>
              </a:rPr>
              <a:t> </a:t>
            </a:r>
            <a:endParaRPr lang="en-VN"/>
          </a:p>
        </p:txBody>
      </p:sp>
      <p:graphicFrame>
        <p:nvGraphicFramePr>
          <p:cNvPr id="5" name="Table 4">
            <a:extLst>
              <a:ext uri="{FF2B5EF4-FFF2-40B4-BE49-F238E27FC236}">
                <a16:creationId xmlns:a16="http://schemas.microsoft.com/office/drawing/2014/main" id="{1DB6D14B-DF31-E791-16BD-B265293E44A9}"/>
              </a:ext>
            </a:extLst>
          </p:cNvPr>
          <p:cNvGraphicFramePr>
            <a:graphicFrameLocks noGrp="1"/>
          </p:cNvGraphicFramePr>
          <p:nvPr>
            <p:extLst>
              <p:ext uri="{D42A27DB-BD31-4B8C-83A1-F6EECF244321}">
                <p14:modId xmlns:p14="http://schemas.microsoft.com/office/powerpoint/2010/main" val="2902948243"/>
              </p:ext>
            </p:extLst>
          </p:nvPr>
        </p:nvGraphicFramePr>
        <p:xfrm>
          <a:off x="6096000" y="1368692"/>
          <a:ext cx="3057323" cy="4813724"/>
        </p:xfrm>
        <a:graphic>
          <a:graphicData uri="http://schemas.openxmlformats.org/drawingml/2006/table">
            <a:tbl>
              <a:tblPr>
                <a:tableStyleId>{5C22544A-7EE6-4342-B048-85BDC9FD1C3A}</a:tableStyleId>
              </a:tblPr>
              <a:tblGrid>
                <a:gridCol w="318471">
                  <a:extLst>
                    <a:ext uri="{9D8B030D-6E8A-4147-A177-3AD203B41FA5}">
                      <a16:colId xmlns:a16="http://schemas.microsoft.com/office/drawing/2014/main" val="508690999"/>
                    </a:ext>
                  </a:extLst>
                </a:gridCol>
                <a:gridCol w="605095">
                  <a:extLst>
                    <a:ext uri="{9D8B030D-6E8A-4147-A177-3AD203B41FA5}">
                      <a16:colId xmlns:a16="http://schemas.microsoft.com/office/drawing/2014/main" val="2636581919"/>
                    </a:ext>
                  </a:extLst>
                </a:gridCol>
                <a:gridCol w="1114649">
                  <a:extLst>
                    <a:ext uri="{9D8B030D-6E8A-4147-A177-3AD203B41FA5}">
                      <a16:colId xmlns:a16="http://schemas.microsoft.com/office/drawing/2014/main" val="985827548"/>
                    </a:ext>
                  </a:extLst>
                </a:gridCol>
                <a:gridCol w="764331">
                  <a:extLst>
                    <a:ext uri="{9D8B030D-6E8A-4147-A177-3AD203B41FA5}">
                      <a16:colId xmlns:a16="http://schemas.microsoft.com/office/drawing/2014/main" val="48544856"/>
                    </a:ext>
                  </a:extLst>
                </a:gridCol>
                <a:gridCol w="254777">
                  <a:extLst>
                    <a:ext uri="{9D8B030D-6E8A-4147-A177-3AD203B41FA5}">
                      <a16:colId xmlns:a16="http://schemas.microsoft.com/office/drawing/2014/main" val="2092343292"/>
                    </a:ext>
                  </a:extLst>
                </a:gridCol>
              </a:tblGrid>
              <a:tr h="320350">
                <a:tc>
                  <a:txBody>
                    <a:bodyPr/>
                    <a:lstStyle/>
                    <a:p>
                      <a:pPr marL="0" marR="0" algn="just">
                        <a:lnSpc>
                          <a:spcPct val="150000"/>
                        </a:lnSpc>
                        <a:spcBef>
                          <a:spcPts val="0"/>
                        </a:spcBef>
                        <a:spcAft>
                          <a:spcPts val="0"/>
                        </a:spcAft>
                      </a:pPr>
                      <a:r>
                        <a:rPr lang="en-VN" sz="700">
                          <a:effectLst/>
                        </a:rPr>
                        <a:t>ID</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Tình huống</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Các bước / Dữ liệu</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Kết quả kỳ vọng</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Ưu tiên</a:t>
                      </a:r>
                      <a:endParaRPr lang="en-VN" sz="600">
                        <a:effectLst/>
                        <a:latin typeface="Calibri" panose="020F0502020204030204" pitchFamily="34" charset="0"/>
                        <a:ea typeface="Calibri" panose="020F0502020204030204" pitchFamily="34" charset="0"/>
                      </a:endParaRPr>
                    </a:p>
                  </a:txBody>
                  <a:tcPr marL="28662" marR="28662" marT="19108" marB="19108" anchor="ctr"/>
                </a:tc>
                <a:extLst>
                  <a:ext uri="{0D108BD9-81ED-4DB2-BD59-A6C34878D82A}">
                    <a16:rowId xmlns:a16="http://schemas.microsoft.com/office/drawing/2014/main" val="14116802"/>
                  </a:ext>
                </a:extLst>
              </a:tr>
              <a:tr h="767484">
                <a:tc>
                  <a:txBody>
                    <a:bodyPr/>
                    <a:lstStyle/>
                    <a:p>
                      <a:pPr marL="0" marR="0" algn="just">
                        <a:lnSpc>
                          <a:spcPct val="150000"/>
                        </a:lnSpc>
                        <a:spcBef>
                          <a:spcPts val="0"/>
                        </a:spcBef>
                        <a:spcAft>
                          <a:spcPts val="0"/>
                        </a:spcAft>
                      </a:pPr>
                      <a:r>
                        <a:rPr lang="en-VN" sz="700">
                          <a:effectLst/>
                        </a:rPr>
                        <a:t>TC-UI-01</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Flash message sau thao tác</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Thêm/xoá SP, đăng nhập/xuất</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Hiển thị alert-success hoặc alert-danger ở đầu content, tự đóng khi user bấm nút X.</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28662" marR="28662" marT="19108" marB="19108" anchor="ctr"/>
                </a:tc>
                <a:extLst>
                  <a:ext uri="{0D108BD9-81ED-4DB2-BD59-A6C34878D82A}">
                    <a16:rowId xmlns:a16="http://schemas.microsoft.com/office/drawing/2014/main" val="3045780626"/>
                  </a:ext>
                </a:extLst>
              </a:tr>
              <a:tr h="469395">
                <a:tc>
                  <a:txBody>
                    <a:bodyPr/>
                    <a:lstStyle/>
                    <a:p>
                      <a:pPr marL="0" marR="0" algn="just">
                        <a:lnSpc>
                          <a:spcPct val="150000"/>
                        </a:lnSpc>
                        <a:spcBef>
                          <a:spcPts val="0"/>
                        </a:spcBef>
                        <a:spcAft>
                          <a:spcPts val="0"/>
                        </a:spcAft>
                      </a:pPr>
                      <a:r>
                        <a:rPr lang="en-VN" sz="700">
                          <a:effectLst/>
                        </a:rPr>
                        <a:t>TC-UI-02</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Badge số lượng giỏ hàng luôn nhìn thấy</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Thêm SP</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Số trong badge cập nhật đúng ngay lần tải trang tiếp theo.</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28662" marR="28662" marT="19108" marB="19108" anchor="ctr"/>
                </a:tc>
                <a:extLst>
                  <a:ext uri="{0D108BD9-81ED-4DB2-BD59-A6C34878D82A}">
                    <a16:rowId xmlns:a16="http://schemas.microsoft.com/office/drawing/2014/main" val="1720038322"/>
                  </a:ext>
                </a:extLst>
              </a:tr>
              <a:tr h="618439">
                <a:tc>
                  <a:txBody>
                    <a:bodyPr/>
                    <a:lstStyle/>
                    <a:p>
                      <a:pPr marL="0" marR="0" algn="just">
                        <a:lnSpc>
                          <a:spcPct val="150000"/>
                        </a:lnSpc>
                        <a:spcBef>
                          <a:spcPts val="0"/>
                        </a:spcBef>
                        <a:spcAft>
                          <a:spcPts val="0"/>
                        </a:spcAft>
                      </a:pPr>
                      <a:r>
                        <a:rPr lang="en-VN" sz="700">
                          <a:effectLst/>
                        </a:rPr>
                        <a:t>TC-UI-03</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Trạng thái đăng nhập ở nav</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Đăng nhập/xuất</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Nav hiển thị "Đăng nhập | Đăng ký" hoặc "Xin chào &lt;hoten&gt;".</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28662" marR="28662" marT="19108" marB="19108" anchor="ctr"/>
                </a:tc>
                <a:extLst>
                  <a:ext uri="{0D108BD9-81ED-4DB2-BD59-A6C34878D82A}">
                    <a16:rowId xmlns:a16="http://schemas.microsoft.com/office/drawing/2014/main" val="4115087715"/>
                  </a:ext>
                </a:extLst>
              </a:tr>
              <a:tr h="767484">
                <a:tc>
                  <a:txBody>
                    <a:bodyPr/>
                    <a:lstStyle/>
                    <a:p>
                      <a:pPr marL="0" marR="0" algn="just">
                        <a:lnSpc>
                          <a:spcPct val="150000"/>
                        </a:lnSpc>
                        <a:spcBef>
                          <a:spcPts val="0"/>
                        </a:spcBef>
                        <a:spcAft>
                          <a:spcPts val="0"/>
                        </a:spcAft>
                      </a:pPr>
                      <a:r>
                        <a:rPr lang="en-VN" sz="700">
                          <a:effectLst/>
                        </a:rPr>
                        <a:t>TC-UI-04</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Loading state khi upload ảnh</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Chọn file lớn</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Không có indicator progress → user không biết đang gửi (khuyến nghị bổ sung).</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M</a:t>
                      </a:r>
                      <a:endParaRPr lang="en-VN" sz="600">
                        <a:effectLst/>
                        <a:latin typeface="Calibri" panose="020F0502020204030204" pitchFamily="34" charset="0"/>
                        <a:ea typeface="Calibri" panose="020F0502020204030204" pitchFamily="34" charset="0"/>
                      </a:endParaRPr>
                    </a:p>
                  </a:txBody>
                  <a:tcPr marL="28662" marR="28662" marT="19108" marB="19108" anchor="ctr"/>
                </a:tc>
                <a:extLst>
                  <a:ext uri="{0D108BD9-81ED-4DB2-BD59-A6C34878D82A}">
                    <a16:rowId xmlns:a16="http://schemas.microsoft.com/office/drawing/2014/main" val="2397658707"/>
                  </a:ext>
                </a:extLst>
              </a:tr>
              <a:tr h="469395">
                <a:tc>
                  <a:txBody>
                    <a:bodyPr/>
                    <a:lstStyle/>
                    <a:p>
                      <a:pPr marL="0" marR="0" algn="just">
                        <a:lnSpc>
                          <a:spcPct val="150000"/>
                        </a:lnSpc>
                        <a:spcBef>
                          <a:spcPts val="0"/>
                        </a:spcBef>
                        <a:spcAft>
                          <a:spcPts val="0"/>
                        </a:spcAft>
                      </a:pPr>
                      <a:r>
                        <a:rPr lang="en-VN" sz="700">
                          <a:effectLst/>
                        </a:rPr>
                        <a:t>TC-UI-05</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Kết quả tìm kiếm ghi rõ số lượng</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Search "Dell"</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"&lt;N&gt; kết quả" hiển thị trong section-note.</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M</a:t>
                      </a:r>
                      <a:endParaRPr lang="en-VN" sz="600">
                        <a:effectLst/>
                        <a:latin typeface="Calibri" panose="020F0502020204030204" pitchFamily="34" charset="0"/>
                        <a:ea typeface="Calibri" panose="020F0502020204030204" pitchFamily="34" charset="0"/>
                      </a:endParaRPr>
                    </a:p>
                  </a:txBody>
                  <a:tcPr marL="28662" marR="28662" marT="19108" marB="19108" anchor="ctr"/>
                </a:tc>
                <a:extLst>
                  <a:ext uri="{0D108BD9-81ED-4DB2-BD59-A6C34878D82A}">
                    <a16:rowId xmlns:a16="http://schemas.microsoft.com/office/drawing/2014/main" val="2178527890"/>
                  </a:ext>
                </a:extLst>
              </a:tr>
              <a:tr h="469395">
                <a:tc>
                  <a:txBody>
                    <a:bodyPr/>
                    <a:lstStyle/>
                    <a:p>
                      <a:pPr marL="0" marR="0" algn="just">
                        <a:lnSpc>
                          <a:spcPct val="150000"/>
                        </a:lnSpc>
                        <a:spcBef>
                          <a:spcPts val="0"/>
                        </a:spcBef>
                        <a:spcAft>
                          <a:spcPts val="0"/>
                        </a:spcAft>
                      </a:pPr>
                      <a:r>
                        <a:rPr lang="en-VN" sz="700">
                          <a:effectLst/>
                        </a:rPr>
                        <a:t>TC-UI-06</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Sản phẩm đang giảm giá</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Xem chi tiết SP có KM</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Nhãn "Đang giảm giá" rõ ràng trên ảnh + giá gạch ngang.</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28662" marR="28662" marT="19108" marB="19108" anchor="ctr"/>
                </a:tc>
                <a:extLst>
                  <a:ext uri="{0D108BD9-81ED-4DB2-BD59-A6C34878D82A}">
                    <a16:rowId xmlns:a16="http://schemas.microsoft.com/office/drawing/2014/main" val="4149851466"/>
                  </a:ext>
                </a:extLst>
              </a:tr>
              <a:tr h="469395">
                <a:tc>
                  <a:txBody>
                    <a:bodyPr/>
                    <a:lstStyle/>
                    <a:p>
                      <a:pPr marL="0" marR="0" algn="just">
                        <a:lnSpc>
                          <a:spcPct val="150000"/>
                        </a:lnSpc>
                        <a:spcBef>
                          <a:spcPts val="0"/>
                        </a:spcBef>
                        <a:spcAft>
                          <a:spcPts val="0"/>
                        </a:spcAft>
                      </a:pPr>
                      <a:r>
                        <a:rPr lang="en-VN" sz="700">
                          <a:effectLst/>
                        </a:rPr>
                        <a:t>TC-UI-07</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Số lượt xem sản phẩm</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Detail page</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Icon mắt + số lượt xem hiển thị trong detail-meta.</a:t>
                      </a:r>
                      <a:endParaRPr lang="en-VN" sz="600">
                        <a:effectLst/>
                        <a:latin typeface="Calibri" panose="020F0502020204030204" pitchFamily="34" charset="0"/>
                        <a:ea typeface="Calibri" panose="020F0502020204030204" pitchFamily="34" charset="0"/>
                      </a:endParaRPr>
                    </a:p>
                  </a:txBody>
                  <a:tcPr marL="28662" marR="28662" marT="19108" marB="19108" anchor="ctr"/>
                </a:tc>
                <a:tc>
                  <a:txBody>
                    <a:bodyPr/>
                    <a:lstStyle/>
                    <a:p>
                      <a:pPr marL="0" marR="0" algn="just">
                        <a:lnSpc>
                          <a:spcPct val="150000"/>
                        </a:lnSpc>
                        <a:spcBef>
                          <a:spcPts val="0"/>
                        </a:spcBef>
                        <a:spcAft>
                          <a:spcPts val="0"/>
                        </a:spcAft>
                      </a:pPr>
                      <a:r>
                        <a:rPr lang="en-VN" sz="700">
                          <a:effectLst/>
                        </a:rPr>
                        <a:t>L</a:t>
                      </a:r>
                      <a:endParaRPr lang="en-VN" sz="600">
                        <a:effectLst/>
                        <a:latin typeface="Calibri" panose="020F0502020204030204" pitchFamily="34" charset="0"/>
                        <a:ea typeface="Calibri" panose="020F0502020204030204" pitchFamily="34" charset="0"/>
                      </a:endParaRPr>
                    </a:p>
                  </a:txBody>
                  <a:tcPr marL="28662" marR="28662" marT="19108" marB="19108" anchor="ctr"/>
                </a:tc>
                <a:extLst>
                  <a:ext uri="{0D108BD9-81ED-4DB2-BD59-A6C34878D82A}">
                    <a16:rowId xmlns:a16="http://schemas.microsoft.com/office/drawing/2014/main" val="4065637521"/>
                  </a:ext>
                </a:extLst>
              </a:tr>
            </a:tbl>
          </a:graphicData>
        </a:graphic>
      </p:graphicFrame>
    </p:spTree>
    <p:extLst>
      <p:ext uri="{BB962C8B-B14F-4D97-AF65-F5344CB8AC3E}">
        <p14:creationId xmlns:p14="http://schemas.microsoft.com/office/powerpoint/2010/main" val="18918994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39378"/>
          </a:xfrm>
          <a:prstGeom prst="rect">
            <a:avLst/>
          </a:prstGeom>
          <a:noFill/>
        </p:spPr>
        <p:txBody>
          <a:bodyPr wrap="square">
            <a:spAutoFit/>
          </a:bodyPr>
          <a:lstStyle/>
          <a:p>
            <a:pPr>
              <a:lnSpc>
                <a:spcPct val="150000"/>
              </a:lnSpc>
            </a:pPr>
            <a:r>
              <a:rPr lang="vi-VN" sz="2200" b="1">
                <a:solidFill>
                  <a:srgbClr val="7030A0"/>
                </a:solidFill>
                <a:latin typeface="Times New Roman" panose="02020603050405020304" pitchFamily="18" charset="0"/>
                <a:cs typeface="Times New Roman" panose="02020603050405020304" pitchFamily="18" charset="0"/>
              </a:rPr>
              <a:t>5</a:t>
            </a:r>
            <a:r>
              <a:rPr lang="vi-VN" sz="2200" b="1">
                <a:solidFill>
                  <a:srgbClr val="7030A0"/>
                </a:solidFill>
                <a:effectLst/>
                <a:latin typeface="Times New Roman" panose="02020603050405020304" pitchFamily="18" charset="0"/>
                <a:cs typeface="Times New Roman" panose="02020603050405020304" pitchFamily="18" charset="0"/>
              </a:rPr>
              <a:t>.3.</a:t>
            </a:r>
            <a:r>
              <a:rPr lang="en-VN" sz="22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Kiểm thử giao diện &amp; trải nghiệm người dùng (UI/UX)</a:t>
            </a:r>
            <a:r>
              <a:rPr lang="en-VN" sz="2200" b="1">
                <a:solidFill>
                  <a:srgbClr val="7030A0"/>
                </a:solidFill>
                <a:effectLst/>
                <a:latin typeface="Times New Roman" panose="02020603050405020304" pitchFamily="18" charset="0"/>
                <a:cs typeface="Times New Roman" panose="02020603050405020304" pitchFamily="18" charset="0"/>
              </a:rPr>
              <a:t> </a:t>
            </a:r>
            <a:endParaRPr lang="vi-VN" sz="22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2D3C1DC4-AC51-941F-2992-784752A1796D}"/>
              </a:ext>
            </a:extLst>
          </p:cNvPr>
          <p:cNvSpPr txBox="1"/>
          <p:nvPr/>
        </p:nvSpPr>
        <p:spPr>
          <a:xfrm>
            <a:off x="482600" y="1368692"/>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Match between System &amp; Real World (Ngôn ngữ gần gũi)</a:t>
            </a:r>
            <a:r>
              <a:rPr lang="en-VN">
                <a:effectLst/>
              </a:rPr>
              <a:t> </a:t>
            </a:r>
            <a:endParaRPr lang="en-VN"/>
          </a:p>
        </p:txBody>
      </p:sp>
      <p:graphicFrame>
        <p:nvGraphicFramePr>
          <p:cNvPr id="8" name="Table 7">
            <a:extLst>
              <a:ext uri="{FF2B5EF4-FFF2-40B4-BE49-F238E27FC236}">
                <a16:creationId xmlns:a16="http://schemas.microsoft.com/office/drawing/2014/main" id="{AC1EDDA4-80C1-6BC6-6687-CAF2A2227BCC}"/>
              </a:ext>
            </a:extLst>
          </p:cNvPr>
          <p:cNvGraphicFramePr>
            <a:graphicFrameLocks noGrp="1"/>
          </p:cNvGraphicFramePr>
          <p:nvPr>
            <p:extLst>
              <p:ext uri="{D42A27DB-BD31-4B8C-83A1-F6EECF244321}">
                <p14:modId xmlns:p14="http://schemas.microsoft.com/office/powerpoint/2010/main" val="3059505630"/>
              </p:ext>
            </p:extLst>
          </p:nvPr>
        </p:nvGraphicFramePr>
        <p:xfrm>
          <a:off x="3359927" y="1952439"/>
          <a:ext cx="6052715" cy="4385140"/>
        </p:xfrm>
        <a:graphic>
          <a:graphicData uri="http://schemas.openxmlformats.org/drawingml/2006/table">
            <a:tbl>
              <a:tblPr>
                <a:tableStyleId>{5C22544A-7EE6-4342-B048-85BDC9FD1C3A}</a:tableStyleId>
              </a:tblPr>
              <a:tblGrid>
                <a:gridCol w="630491">
                  <a:extLst>
                    <a:ext uri="{9D8B030D-6E8A-4147-A177-3AD203B41FA5}">
                      <a16:colId xmlns:a16="http://schemas.microsoft.com/office/drawing/2014/main" val="1546419066"/>
                    </a:ext>
                  </a:extLst>
                </a:gridCol>
                <a:gridCol w="1197933">
                  <a:extLst>
                    <a:ext uri="{9D8B030D-6E8A-4147-A177-3AD203B41FA5}">
                      <a16:colId xmlns:a16="http://schemas.microsoft.com/office/drawing/2014/main" val="996418067"/>
                    </a:ext>
                  </a:extLst>
                </a:gridCol>
                <a:gridCol w="2206719">
                  <a:extLst>
                    <a:ext uri="{9D8B030D-6E8A-4147-A177-3AD203B41FA5}">
                      <a16:colId xmlns:a16="http://schemas.microsoft.com/office/drawing/2014/main" val="1683851150"/>
                    </a:ext>
                  </a:extLst>
                </a:gridCol>
                <a:gridCol w="1513179">
                  <a:extLst>
                    <a:ext uri="{9D8B030D-6E8A-4147-A177-3AD203B41FA5}">
                      <a16:colId xmlns:a16="http://schemas.microsoft.com/office/drawing/2014/main" val="1550665658"/>
                    </a:ext>
                  </a:extLst>
                </a:gridCol>
                <a:gridCol w="504393">
                  <a:extLst>
                    <a:ext uri="{9D8B030D-6E8A-4147-A177-3AD203B41FA5}">
                      <a16:colId xmlns:a16="http://schemas.microsoft.com/office/drawing/2014/main" val="4036838112"/>
                    </a:ext>
                  </a:extLst>
                </a:gridCol>
              </a:tblGrid>
              <a:tr h="634212">
                <a:tc>
                  <a:txBody>
                    <a:bodyPr/>
                    <a:lstStyle/>
                    <a:p>
                      <a:pPr marL="0" marR="0" algn="just">
                        <a:lnSpc>
                          <a:spcPct val="150000"/>
                        </a:lnSpc>
                        <a:spcBef>
                          <a:spcPts val="0"/>
                        </a:spcBef>
                        <a:spcAft>
                          <a:spcPts val="0"/>
                        </a:spcAft>
                      </a:pPr>
                      <a:r>
                        <a:rPr lang="en-VN" sz="1300">
                          <a:effectLst/>
                        </a:rPr>
                        <a:t>ID</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Tình huống</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Các bước / Dữ liệu</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Kết quả kỳ vọng</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Ưu tiên</a:t>
                      </a:r>
                      <a:endParaRPr lang="en-VN" sz="1100">
                        <a:effectLst/>
                        <a:latin typeface="Calibri" panose="020F0502020204030204" pitchFamily="34" charset="0"/>
                        <a:ea typeface="Calibri" panose="020F0502020204030204" pitchFamily="34" charset="0"/>
                      </a:endParaRPr>
                    </a:p>
                  </a:txBody>
                  <a:tcPr marL="56744" marR="56744" marT="37829" marB="37829" anchor="ctr"/>
                </a:tc>
                <a:extLst>
                  <a:ext uri="{0D108BD9-81ED-4DB2-BD59-A6C34878D82A}">
                    <a16:rowId xmlns:a16="http://schemas.microsoft.com/office/drawing/2014/main" val="494342984"/>
                  </a:ext>
                </a:extLst>
              </a:tr>
              <a:tr h="1224351">
                <a:tc>
                  <a:txBody>
                    <a:bodyPr/>
                    <a:lstStyle/>
                    <a:p>
                      <a:pPr marL="0" marR="0" algn="just">
                        <a:lnSpc>
                          <a:spcPct val="150000"/>
                        </a:lnSpc>
                        <a:spcBef>
                          <a:spcPts val="0"/>
                        </a:spcBef>
                        <a:spcAft>
                          <a:spcPts val="0"/>
                        </a:spcAft>
                      </a:pPr>
                      <a:r>
                        <a:rPr lang="en-VN" sz="1300">
                          <a:effectLst/>
                        </a:rPr>
                        <a:t>TC-UI-08</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Ngôn ngữ tiếng Việt nhất quán</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Toàn site</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Không lẫn ngôn ngữ khác. Tất cả label, thông báo, tiêu đề tiếng Việt có dấu.</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H</a:t>
                      </a:r>
                      <a:endParaRPr lang="en-VN" sz="1100">
                        <a:effectLst/>
                        <a:latin typeface="Calibri" panose="020F0502020204030204" pitchFamily="34" charset="0"/>
                        <a:ea typeface="Calibri" panose="020F0502020204030204" pitchFamily="34" charset="0"/>
                      </a:endParaRPr>
                    </a:p>
                  </a:txBody>
                  <a:tcPr marL="56744" marR="56744" marT="37829" marB="37829" anchor="ctr"/>
                </a:tc>
                <a:extLst>
                  <a:ext uri="{0D108BD9-81ED-4DB2-BD59-A6C34878D82A}">
                    <a16:rowId xmlns:a16="http://schemas.microsoft.com/office/drawing/2014/main" val="4085237503"/>
                  </a:ext>
                </a:extLst>
              </a:tr>
              <a:tr h="929282">
                <a:tc>
                  <a:txBody>
                    <a:bodyPr/>
                    <a:lstStyle/>
                    <a:p>
                      <a:pPr marL="0" marR="0" algn="just">
                        <a:lnSpc>
                          <a:spcPct val="150000"/>
                        </a:lnSpc>
                        <a:spcBef>
                          <a:spcPts val="0"/>
                        </a:spcBef>
                        <a:spcAft>
                          <a:spcPts val="0"/>
                        </a:spcAft>
                      </a:pPr>
                      <a:r>
                        <a:rPr lang="en-VN" sz="1300">
                          <a:effectLst/>
                        </a:rPr>
                        <a:t>TC-UI-09</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Đơn vị tiền ₫</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Bất kỳ giá tiền nào</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number_format(x, 0, ",", ".") + " ₫" (VD: 17.490.000 ₫).</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H</a:t>
                      </a:r>
                      <a:endParaRPr lang="en-VN" sz="1100">
                        <a:effectLst/>
                        <a:latin typeface="Calibri" panose="020F0502020204030204" pitchFamily="34" charset="0"/>
                        <a:ea typeface="Calibri" panose="020F0502020204030204" pitchFamily="34" charset="0"/>
                      </a:endParaRPr>
                    </a:p>
                  </a:txBody>
                  <a:tcPr marL="56744" marR="56744" marT="37829" marB="37829" anchor="ctr"/>
                </a:tc>
                <a:extLst>
                  <a:ext uri="{0D108BD9-81ED-4DB2-BD59-A6C34878D82A}">
                    <a16:rowId xmlns:a16="http://schemas.microsoft.com/office/drawing/2014/main" val="993414154"/>
                  </a:ext>
                </a:extLst>
              </a:tr>
              <a:tr h="634212">
                <a:tc>
                  <a:txBody>
                    <a:bodyPr/>
                    <a:lstStyle/>
                    <a:p>
                      <a:pPr marL="0" marR="0" algn="just">
                        <a:lnSpc>
                          <a:spcPct val="150000"/>
                        </a:lnSpc>
                        <a:spcBef>
                          <a:spcPts val="0"/>
                        </a:spcBef>
                        <a:spcAft>
                          <a:spcPts val="0"/>
                        </a:spcAft>
                      </a:pPr>
                      <a:r>
                        <a:rPr lang="en-VN" sz="1300">
                          <a:effectLst/>
                        </a:rPr>
                        <a:t>TC-UI-10</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Định dạng ngày dd/mm/yyyy</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Detail SP, đơn hàng</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date("d/m/Y", strtotime(...))</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M</a:t>
                      </a:r>
                      <a:endParaRPr lang="en-VN" sz="1100">
                        <a:effectLst/>
                        <a:latin typeface="Calibri" panose="020F0502020204030204" pitchFamily="34" charset="0"/>
                        <a:ea typeface="Calibri" panose="020F0502020204030204" pitchFamily="34" charset="0"/>
                      </a:endParaRPr>
                    </a:p>
                  </a:txBody>
                  <a:tcPr marL="56744" marR="56744" marT="37829" marB="37829" anchor="ctr"/>
                </a:tc>
                <a:extLst>
                  <a:ext uri="{0D108BD9-81ED-4DB2-BD59-A6C34878D82A}">
                    <a16:rowId xmlns:a16="http://schemas.microsoft.com/office/drawing/2014/main" val="2115276699"/>
                  </a:ext>
                </a:extLst>
              </a:tr>
              <a:tr h="929282">
                <a:tc>
                  <a:txBody>
                    <a:bodyPr/>
                    <a:lstStyle/>
                    <a:p>
                      <a:pPr marL="0" marR="0" algn="just">
                        <a:lnSpc>
                          <a:spcPct val="150000"/>
                        </a:lnSpc>
                        <a:spcBef>
                          <a:spcPts val="0"/>
                        </a:spcBef>
                        <a:spcAft>
                          <a:spcPts val="0"/>
                        </a:spcAft>
                      </a:pPr>
                      <a:r>
                        <a:rPr lang="en-VN" sz="1300">
                          <a:effectLst/>
                        </a:rPr>
                        <a:t>TC-UI-11</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Icon quen thuộc</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Bootstrap Icons (cart, laptop, user)</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Icons trực quan, ngữ nghĩa rõ (giỏ hàng, giảm giá, giao hàng).</a:t>
                      </a:r>
                      <a:endParaRPr lang="en-VN" sz="1100">
                        <a:effectLst/>
                        <a:latin typeface="Calibri" panose="020F0502020204030204" pitchFamily="34" charset="0"/>
                        <a:ea typeface="Calibri" panose="020F0502020204030204" pitchFamily="34" charset="0"/>
                      </a:endParaRPr>
                    </a:p>
                  </a:txBody>
                  <a:tcPr marL="56744" marR="56744" marT="37829" marB="37829" anchor="ctr"/>
                </a:tc>
                <a:tc>
                  <a:txBody>
                    <a:bodyPr/>
                    <a:lstStyle/>
                    <a:p>
                      <a:pPr marL="0" marR="0" algn="just">
                        <a:lnSpc>
                          <a:spcPct val="150000"/>
                        </a:lnSpc>
                        <a:spcBef>
                          <a:spcPts val="0"/>
                        </a:spcBef>
                        <a:spcAft>
                          <a:spcPts val="0"/>
                        </a:spcAft>
                      </a:pPr>
                      <a:r>
                        <a:rPr lang="en-VN" sz="1300">
                          <a:effectLst/>
                        </a:rPr>
                        <a:t>M</a:t>
                      </a:r>
                      <a:endParaRPr lang="en-VN" sz="1100">
                        <a:effectLst/>
                        <a:latin typeface="Calibri" panose="020F0502020204030204" pitchFamily="34" charset="0"/>
                        <a:ea typeface="Calibri" panose="020F0502020204030204" pitchFamily="34" charset="0"/>
                      </a:endParaRPr>
                    </a:p>
                  </a:txBody>
                  <a:tcPr marL="56744" marR="56744" marT="37829" marB="37829" anchor="ctr"/>
                </a:tc>
                <a:extLst>
                  <a:ext uri="{0D108BD9-81ED-4DB2-BD59-A6C34878D82A}">
                    <a16:rowId xmlns:a16="http://schemas.microsoft.com/office/drawing/2014/main" val="3694817440"/>
                  </a:ext>
                </a:extLst>
              </a:tr>
            </a:tbl>
          </a:graphicData>
        </a:graphic>
      </p:graphicFrame>
    </p:spTree>
    <p:extLst>
      <p:ext uri="{BB962C8B-B14F-4D97-AF65-F5344CB8AC3E}">
        <p14:creationId xmlns:p14="http://schemas.microsoft.com/office/powerpoint/2010/main" val="114617479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39378"/>
          </a:xfrm>
          <a:prstGeom prst="rect">
            <a:avLst/>
          </a:prstGeom>
          <a:noFill/>
        </p:spPr>
        <p:txBody>
          <a:bodyPr wrap="square">
            <a:spAutoFit/>
          </a:bodyPr>
          <a:lstStyle/>
          <a:p>
            <a:pPr>
              <a:lnSpc>
                <a:spcPct val="150000"/>
              </a:lnSpc>
            </a:pPr>
            <a:r>
              <a:rPr lang="vi-VN" sz="2200" b="1">
                <a:solidFill>
                  <a:srgbClr val="7030A0"/>
                </a:solidFill>
                <a:latin typeface="Times New Roman" panose="02020603050405020304" pitchFamily="18" charset="0"/>
                <a:cs typeface="Times New Roman" panose="02020603050405020304" pitchFamily="18" charset="0"/>
              </a:rPr>
              <a:t>5</a:t>
            </a:r>
            <a:r>
              <a:rPr lang="vi-VN" sz="2200" b="1">
                <a:solidFill>
                  <a:srgbClr val="7030A0"/>
                </a:solidFill>
                <a:effectLst/>
                <a:latin typeface="Times New Roman" panose="02020603050405020304" pitchFamily="18" charset="0"/>
                <a:cs typeface="Times New Roman" panose="02020603050405020304" pitchFamily="18" charset="0"/>
              </a:rPr>
              <a:t>.3.</a:t>
            </a:r>
            <a:r>
              <a:rPr lang="en-VN" sz="22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Kiểm thử giao diện &amp; trải nghiệm người dùng (UI/UX)</a:t>
            </a:r>
            <a:r>
              <a:rPr lang="en-VN" sz="2200" b="1">
                <a:solidFill>
                  <a:srgbClr val="7030A0"/>
                </a:solidFill>
                <a:effectLst/>
                <a:latin typeface="Times New Roman" panose="02020603050405020304" pitchFamily="18" charset="0"/>
                <a:cs typeface="Times New Roman" panose="02020603050405020304" pitchFamily="18" charset="0"/>
              </a:rPr>
              <a:t> </a:t>
            </a:r>
            <a:endParaRPr lang="vi-VN" sz="22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78230936-EAD4-02A1-BA06-67F198D87E19}"/>
              </a:ext>
            </a:extLst>
          </p:cNvPr>
          <p:cNvSpPr txBox="1"/>
          <p:nvPr/>
        </p:nvSpPr>
        <p:spPr>
          <a:xfrm>
            <a:off x="983343" y="1227404"/>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 Error Prevention &amp; Recovery (Ngăn ngừa và phục hồi lỗi)</a:t>
            </a:r>
            <a:r>
              <a:rPr lang="en-VN">
                <a:effectLst/>
              </a:rPr>
              <a:t> </a:t>
            </a:r>
            <a:endParaRPr lang="en-VN"/>
          </a:p>
        </p:txBody>
      </p:sp>
      <p:graphicFrame>
        <p:nvGraphicFramePr>
          <p:cNvPr id="5" name="Table 4">
            <a:extLst>
              <a:ext uri="{FF2B5EF4-FFF2-40B4-BE49-F238E27FC236}">
                <a16:creationId xmlns:a16="http://schemas.microsoft.com/office/drawing/2014/main" id="{81AA9078-61F1-1789-D4E2-7D2B76909769}"/>
              </a:ext>
            </a:extLst>
          </p:cNvPr>
          <p:cNvGraphicFramePr>
            <a:graphicFrameLocks noGrp="1"/>
          </p:cNvGraphicFramePr>
          <p:nvPr/>
        </p:nvGraphicFramePr>
        <p:xfrm>
          <a:off x="4463879" y="1814569"/>
          <a:ext cx="3264241" cy="4378599"/>
        </p:xfrm>
        <a:graphic>
          <a:graphicData uri="http://schemas.openxmlformats.org/drawingml/2006/table">
            <a:tbl>
              <a:tblPr>
                <a:tableStyleId>{5C22544A-7EE6-4342-B048-85BDC9FD1C3A}</a:tableStyleId>
              </a:tblPr>
              <a:tblGrid>
                <a:gridCol w="340025">
                  <a:extLst>
                    <a:ext uri="{9D8B030D-6E8A-4147-A177-3AD203B41FA5}">
                      <a16:colId xmlns:a16="http://schemas.microsoft.com/office/drawing/2014/main" val="2369296199"/>
                    </a:ext>
                  </a:extLst>
                </a:gridCol>
                <a:gridCol w="646048">
                  <a:extLst>
                    <a:ext uri="{9D8B030D-6E8A-4147-A177-3AD203B41FA5}">
                      <a16:colId xmlns:a16="http://schemas.microsoft.com/office/drawing/2014/main" val="3505183450"/>
                    </a:ext>
                  </a:extLst>
                </a:gridCol>
                <a:gridCol w="1190088">
                  <a:extLst>
                    <a:ext uri="{9D8B030D-6E8A-4147-A177-3AD203B41FA5}">
                      <a16:colId xmlns:a16="http://schemas.microsoft.com/office/drawing/2014/main" val="1138931823"/>
                    </a:ext>
                  </a:extLst>
                </a:gridCol>
                <a:gridCol w="816060">
                  <a:extLst>
                    <a:ext uri="{9D8B030D-6E8A-4147-A177-3AD203B41FA5}">
                      <a16:colId xmlns:a16="http://schemas.microsoft.com/office/drawing/2014/main" val="894722510"/>
                    </a:ext>
                  </a:extLst>
                </a:gridCol>
                <a:gridCol w="272020">
                  <a:extLst>
                    <a:ext uri="{9D8B030D-6E8A-4147-A177-3AD203B41FA5}">
                      <a16:colId xmlns:a16="http://schemas.microsoft.com/office/drawing/2014/main" val="3753089234"/>
                    </a:ext>
                  </a:extLst>
                </a:gridCol>
              </a:tblGrid>
              <a:tr h="342032">
                <a:tc>
                  <a:txBody>
                    <a:bodyPr/>
                    <a:lstStyle/>
                    <a:p>
                      <a:pPr marL="0" marR="0" algn="just">
                        <a:lnSpc>
                          <a:spcPct val="150000"/>
                        </a:lnSpc>
                        <a:spcBef>
                          <a:spcPts val="0"/>
                        </a:spcBef>
                        <a:spcAft>
                          <a:spcPts val="0"/>
                        </a:spcAft>
                      </a:pPr>
                      <a:r>
                        <a:rPr lang="en-VN" sz="700">
                          <a:effectLst/>
                        </a:rPr>
                        <a:t>ID</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Tình huống</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Các bước / Dữ liệu</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Kết quả kỳ vọng</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Ưu tiên</a:t>
                      </a:r>
                      <a:endParaRPr lang="en-VN" sz="600">
                        <a:effectLst/>
                        <a:latin typeface="Calibri" panose="020F0502020204030204" pitchFamily="34" charset="0"/>
                        <a:ea typeface="Calibri" panose="020F0502020204030204" pitchFamily="34" charset="0"/>
                      </a:endParaRPr>
                    </a:p>
                  </a:txBody>
                  <a:tcPr marL="30602" marR="30602" marT="20402" marB="20402" anchor="ctr"/>
                </a:tc>
                <a:extLst>
                  <a:ext uri="{0D108BD9-81ED-4DB2-BD59-A6C34878D82A}">
                    <a16:rowId xmlns:a16="http://schemas.microsoft.com/office/drawing/2014/main" val="702363562"/>
                  </a:ext>
                </a:extLst>
              </a:tr>
              <a:tr h="501163">
                <a:tc>
                  <a:txBody>
                    <a:bodyPr/>
                    <a:lstStyle/>
                    <a:p>
                      <a:pPr marL="0" marR="0" algn="just">
                        <a:lnSpc>
                          <a:spcPct val="150000"/>
                        </a:lnSpc>
                        <a:spcBef>
                          <a:spcPts val="0"/>
                        </a:spcBef>
                        <a:spcAft>
                          <a:spcPts val="0"/>
                        </a:spcAft>
                      </a:pPr>
                      <a:r>
                        <a:rPr lang="en-VN" sz="700">
                          <a:effectLst/>
                        </a:rPr>
                        <a:t>TC-UI-12</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Confirm khi xoá SP admin</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Click nút xoá</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onclick="return confirm(...)" hỏi trước khi thực thi.</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30602" marR="30602" marT="20402" marB="20402" anchor="ctr"/>
                </a:tc>
                <a:extLst>
                  <a:ext uri="{0D108BD9-81ED-4DB2-BD59-A6C34878D82A}">
                    <a16:rowId xmlns:a16="http://schemas.microsoft.com/office/drawing/2014/main" val="4089995613"/>
                  </a:ext>
                </a:extLst>
              </a:tr>
              <a:tr h="342032">
                <a:tc>
                  <a:txBody>
                    <a:bodyPr/>
                    <a:lstStyle/>
                    <a:p>
                      <a:pPr marL="0" marR="0" algn="just">
                        <a:lnSpc>
                          <a:spcPct val="150000"/>
                        </a:lnSpc>
                        <a:spcBef>
                          <a:spcPts val="0"/>
                        </a:spcBef>
                        <a:spcAft>
                          <a:spcPts val="0"/>
                        </a:spcAft>
                      </a:pPr>
                      <a:r>
                        <a:rPr lang="en-VN" sz="700">
                          <a:effectLst/>
                        </a:rPr>
                        <a:t>TC-UI-13</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Confirm khi làm trống giỏ</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Click "Làm trống"</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confirm() dialog xuất hiện.</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30602" marR="30602" marT="20402" marB="20402" anchor="ctr"/>
                </a:tc>
                <a:extLst>
                  <a:ext uri="{0D108BD9-81ED-4DB2-BD59-A6C34878D82A}">
                    <a16:rowId xmlns:a16="http://schemas.microsoft.com/office/drawing/2014/main" val="1543094602"/>
                  </a:ext>
                </a:extLst>
              </a:tr>
              <a:tr h="501163">
                <a:tc>
                  <a:txBody>
                    <a:bodyPr/>
                    <a:lstStyle/>
                    <a:p>
                      <a:pPr marL="0" marR="0" algn="just">
                        <a:lnSpc>
                          <a:spcPct val="150000"/>
                        </a:lnSpc>
                        <a:spcBef>
                          <a:spcPts val="0"/>
                        </a:spcBef>
                        <a:spcAft>
                          <a:spcPts val="0"/>
                        </a:spcAft>
                      </a:pPr>
                      <a:r>
                        <a:rPr lang="en-VN" sz="700">
                          <a:effectLst/>
                        </a:rPr>
                        <a:t>TC-UI-14</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Validate client-side</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HTML5 required, minlength, min/max, pattern</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Trình duyệt chặn submit form khi thiếu.</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30602" marR="30602" marT="20402" marB="20402" anchor="ctr"/>
                </a:tc>
                <a:extLst>
                  <a:ext uri="{0D108BD9-81ED-4DB2-BD59-A6C34878D82A}">
                    <a16:rowId xmlns:a16="http://schemas.microsoft.com/office/drawing/2014/main" val="3960017063"/>
                  </a:ext>
                </a:extLst>
              </a:tr>
              <a:tr h="342032">
                <a:tc>
                  <a:txBody>
                    <a:bodyPr/>
                    <a:lstStyle/>
                    <a:p>
                      <a:pPr marL="0" marR="0" algn="just">
                        <a:lnSpc>
                          <a:spcPct val="150000"/>
                        </a:lnSpc>
                        <a:spcBef>
                          <a:spcPts val="0"/>
                        </a:spcBef>
                        <a:spcAft>
                          <a:spcPts val="0"/>
                        </a:spcAft>
                      </a:pPr>
                      <a:r>
                        <a:rPr lang="en-VN" sz="700">
                          <a:effectLst/>
                        </a:rPr>
                        <a:t>TC-UI-15</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Validate server-side</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Bypass JS, submit trực tiếp</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Server vẫn kiểm tra và trả lỗi (đã có).</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30602" marR="30602" marT="20402" marB="20402" anchor="ctr"/>
                </a:tc>
                <a:extLst>
                  <a:ext uri="{0D108BD9-81ED-4DB2-BD59-A6C34878D82A}">
                    <a16:rowId xmlns:a16="http://schemas.microsoft.com/office/drawing/2014/main" val="1809449519"/>
                  </a:ext>
                </a:extLst>
              </a:tr>
              <a:tr h="660295">
                <a:tc>
                  <a:txBody>
                    <a:bodyPr/>
                    <a:lstStyle/>
                    <a:p>
                      <a:pPr marL="0" marR="0" algn="just">
                        <a:lnSpc>
                          <a:spcPct val="150000"/>
                        </a:lnSpc>
                        <a:spcBef>
                          <a:spcPts val="0"/>
                        </a:spcBef>
                        <a:spcAft>
                          <a:spcPts val="0"/>
                        </a:spcAft>
                      </a:pPr>
                      <a:r>
                        <a:rPr lang="en-VN" sz="700">
                          <a:effectLst/>
                        </a:rPr>
                        <a:t>TC-UI-16</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Thông báo lỗi thân thiện khi bị die()</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Submit form thiếu ở admin</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Trang trắng chỉ có text - RẤT KÉM UX, cần render đẹp và có nút "Quay lại".</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30602" marR="30602" marT="20402" marB="20402" anchor="ctr"/>
                </a:tc>
                <a:extLst>
                  <a:ext uri="{0D108BD9-81ED-4DB2-BD59-A6C34878D82A}">
                    <a16:rowId xmlns:a16="http://schemas.microsoft.com/office/drawing/2014/main" val="3214106378"/>
                  </a:ext>
                </a:extLst>
              </a:tr>
              <a:tr h="660295">
                <a:tc>
                  <a:txBody>
                    <a:bodyPr/>
                    <a:lstStyle/>
                    <a:p>
                      <a:pPr marL="0" marR="0" algn="just">
                        <a:lnSpc>
                          <a:spcPct val="150000"/>
                        </a:lnSpc>
                        <a:spcBef>
                          <a:spcPts val="0"/>
                        </a:spcBef>
                        <a:spcAft>
                          <a:spcPts val="0"/>
                        </a:spcAft>
                      </a:pPr>
                      <a:r>
                        <a:rPr lang="en-VN" sz="700">
                          <a:effectLst/>
                        </a:rPr>
                        <a:t>TC-UI-17</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Trở lại được sau lỗi checkout</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Submit thiếu điện thoại</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Redirect /checkout nhưng dữ liệu form BỊ MẤT – user phải nhập lại từ đầu.</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30602" marR="30602" marT="20402" marB="20402" anchor="ctr"/>
                </a:tc>
                <a:extLst>
                  <a:ext uri="{0D108BD9-81ED-4DB2-BD59-A6C34878D82A}">
                    <a16:rowId xmlns:a16="http://schemas.microsoft.com/office/drawing/2014/main" val="3622424991"/>
                  </a:ext>
                </a:extLst>
              </a:tr>
              <a:tr h="501163">
                <a:tc>
                  <a:txBody>
                    <a:bodyPr/>
                    <a:lstStyle/>
                    <a:p>
                      <a:pPr marL="0" marR="0" algn="just">
                        <a:lnSpc>
                          <a:spcPct val="150000"/>
                        </a:lnSpc>
                        <a:spcBef>
                          <a:spcPts val="0"/>
                        </a:spcBef>
                        <a:spcAft>
                          <a:spcPts val="0"/>
                        </a:spcAft>
                      </a:pPr>
                      <a:r>
                        <a:rPr lang="en-VN" sz="700">
                          <a:effectLst/>
                        </a:rPr>
                        <a:t>TC-UI-18</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Empty state cho giỏ trống</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/showcart khi empty</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showcart_empty.php với icon, CTA rõ ràng.</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30602" marR="30602" marT="20402" marB="20402" anchor="ctr"/>
                </a:tc>
                <a:extLst>
                  <a:ext uri="{0D108BD9-81ED-4DB2-BD59-A6C34878D82A}">
                    <a16:rowId xmlns:a16="http://schemas.microsoft.com/office/drawing/2014/main" val="1320917008"/>
                  </a:ext>
                </a:extLst>
              </a:tr>
              <a:tr h="501163">
                <a:tc>
                  <a:txBody>
                    <a:bodyPr/>
                    <a:lstStyle/>
                    <a:p>
                      <a:pPr marL="0" marR="0" algn="just">
                        <a:lnSpc>
                          <a:spcPct val="150000"/>
                        </a:lnSpc>
                        <a:spcBef>
                          <a:spcPts val="0"/>
                        </a:spcBef>
                        <a:spcAft>
                          <a:spcPts val="0"/>
                        </a:spcAft>
                      </a:pPr>
                      <a:r>
                        <a:rPr lang="en-VN" sz="700">
                          <a:effectLst/>
                        </a:rPr>
                        <a:t>TC-UI-19</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Empty state cho tìm kiếm</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Không có kết quả</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Icon + "Chưa tìm thấy" + CTA về trang chủ.</a:t>
                      </a:r>
                      <a:endParaRPr lang="en-VN" sz="600">
                        <a:effectLst/>
                        <a:latin typeface="Calibri" panose="020F0502020204030204" pitchFamily="34" charset="0"/>
                        <a:ea typeface="Calibri" panose="020F0502020204030204" pitchFamily="34" charset="0"/>
                      </a:endParaRPr>
                    </a:p>
                  </a:txBody>
                  <a:tcPr marL="30602" marR="30602" marT="20402" marB="20402" anchor="ctr"/>
                </a:tc>
                <a:tc>
                  <a:txBody>
                    <a:bodyPr/>
                    <a:lstStyle/>
                    <a:p>
                      <a:pPr marL="0" marR="0" algn="just">
                        <a:lnSpc>
                          <a:spcPct val="150000"/>
                        </a:lnSpc>
                        <a:spcBef>
                          <a:spcPts val="0"/>
                        </a:spcBef>
                        <a:spcAft>
                          <a:spcPts val="0"/>
                        </a:spcAft>
                      </a:pPr>
                      <a:r>
                        <a:rPr lang="en-VN" sz="700">
                          <a:effectLst/>
                        </a:rPr>
                        <a:t>H</a:t>
                      </a:r>
                      <a:endParaRPr lang="en-VN" sz="600">
                        <a:effectLst/>
                        <a:latin typeface="Calibri" panose="020F0502020204030204" pitchFamily="34" charset="0"/>
                        <a:ea typeface="Calibri" panose="020F0502020204030204" pitchFamily="34" charset="0"/>
                      </a:endParaRPr>
                    </a:p>
                  </a:txBody>
                  <a:tcPr marL="30602" marR="30602" marT="20402" marB="20402" anchor="ctr"/>
                </a:tc>
                <a:extLst>
                  <a:ext uri="{0D108BD9-81ED-4DB2-BD59-A6C34878D82A}">
                    <a16:rowId xmlns:a16="http://schemas.microsoft.com/office/drawing/2014/main" val="2221202068"/>
                  </a:ext>
                </a:extLst>
              </a:tr>
            </a:tbl>
          </a:graphicData>
        </a:graphic>
      </p:graphicFrame>
    </p:spTree>
    <p:extLst>
      <p:ext uri="{BB962C8B-B14F-4D97-AF65-F5344CB8AC3E}">
        <p14:creationId xmlns:p14="http://schemas.microsoft.com/office/powerpoint/2010/main" val="27963810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39378"/>
          </a:xfrm>
          <a:prstGeom prst="rect">
            <a:avLst/>
          </a:prstGeom>
          <a:noFill/>
        </p:spPr>
        <p:txBody>
          <a:bodyPr wrap="square">
            <a:spAutoFit/>
          </a:bodyPr>
          <a:lstStyle/>
          <a:p>
            <a:pPr>
              <a:lnSpc>
                <a:spcPct val="150000"/>
              </a:lnSpc>
            </a:pPr>
            <a:r>
              <a:rPr lang="vi-VN" sz="2200" b="1">
                <a:solidFill>
                  <a:srgbClr val="7030A0"/>
                </a:solidFill>
                <a:latin typeface="Times New Roman" panose="02020603050405020304" pitchFamily="18" charset="0"/>
                <a:cs typeface="Times New Roman" panose="02020603050405020304" pitchFamily="18" charset="0"/>
              </a:rPr>
              <a:t>5</a:t>
            </a:r>
            <a:r>
              <a:rPr lang="vi-VN" sz="2200" b="1">
                <a:solidFill>
                  <a:srgbClr val="7030A0"/>
                </a:solidFill>
                <a:effectLst/>
                <a:latin typeface="Times New Roman" panose="02020603050405020304" pitchFamily="18" charset="0"/>
                <a:cs typeface="Times New Roman" panose="02020603050405020304" pitchFamily="18" charset="0"/>
              </a:rPr>
              <a:t>.3.</a:t>
            </a:r>
            <a:r>
              <a:rPr lang="en-VN" sz="22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Kiểm thử giao diện &amp; trải nghiệm người dùng (UI/UX)</a:t>
            </a:r>
            <a:r>
              <a:rPr lang="en-VN" sz="2200" b="1">
                <a:solidFill>
                  <a:srgbClr val="7030A0"/>
                </a:solidFill>
                <a:effectLst/>
                <a:latin typeface="Times New Roman" panose="02020603050405020304" pitchFamily="18" charset="0"/>
                <a:cs typeface="Times New Roman" panose="02020603050405020304" pitchFamily="18" charset="0"/>
              </a:rPr>
              <a:t> </a:t>
            </a:r>
            <a:endParaRPr lang="vi-VN" sz="22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CFD947A-736F-741B-B6D8-5EAB7834C0F1}"/>
              </a:ext>
            </a:extLst>
          </p:cNvPr>
          <p:cNvSpPr txBox="1"/>
          <p:nvPr/>
        </p:nvSpPr>
        <p:spPr>
          <a:xfrm>
            <a:off x="1019629" y="1327532"/>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Consistency &amp; Standards (Tính nhất quán)</a:t>
            </a:r>
            <a:r>
              <a:rPr lang="en-VN">
                <a:effectLst/>
              </a:rPr>
              <a:t> </a:t>
            </a:r>
            <a:endParaRPr lang="en-VN"/>
          </a:p>
        </p:txBody>
      </p:sp>
      <p:graphicFrame>
        <p:nvGraphicFramePr>
          <p:cNvPr id="8" name="Table 7">
            <a:extLst>
              <a:ext uri="{FF2B5EF4-FFF2-40B4-BE49-F238E27FC236}">
                <a16:creationId xmlns:a16="http://schemas.microsoft.com/office/drawing/2014/main" id="{870E3DBA-0121-99F7-5532-60DCB003E382}"/>
              </a:ext>
            </a:extLst>
          </p:cNvPr>
          <p:cNvGraphicFramePr>
            <a:graphicFrameLocks noGrp="1"/>
          </p:cNvGraphicFramePr>
          <p:nvPr>
            <p:extLst>
              <p:ext uri="{D42A27DB-BD31-4B8C-83A1-F6EECF244321}">
                <p14:modId xmlns:p14="http://schemas.microsoft.com/office/powerpoint/2010/main" val="143516631"/>
              </p:ext>
            </p:extLst>
          </p:nvPr>
        </p:nvGraphicFramePr>
        <p:xfrm>
          <a:off x="3442561" y="1991385"/>
          <a:ext cx="4987561" cy="4744134"/>
        </p:xfrm>
        <a:graphic>
          <a:graphicData uri="http://schemas.openxmlformats.org/drawingml/2006/table">
            <a:tbl>
              <a:tblPr>
                <a:tableStyleId>{5C22544A-7EE6-4342-B048-85BDC9FD1C3A}</a:tableStyleId>
              </a:tblPr>
              <a:tblGrid>
                <a:gridCol w="519538">
                  <a:extLst>
                    <a:ext uri="{9D8B030D-6E8A-4147-A177-3AD203B41FA5}">
                      <a16:colId xmlns:a16="http://schemas.microsoft.com/office/drawing/2014/main" val="3295357757"/>
                    </a:ext>
                  </a:extLst>
                </a:gridCol>
                <a:gridCol w="987121">
                  <a:extLst>
                    <a:ext uri="{9D8B030D-6E8A-4147-A177-3AD203B41FA5}">
                      <a16:colId xmlns:a16="http://schemas.microsoft.com/office/drawing/2014/main" val="2666129247"/>
                    </a:ext>
                  </a:extLst>
                </a:gridCol>
                <a:gridCol w="1818382">
                  <a:extLst>
                    <a:ext uri="{9D8B030D-6E8A-4147-A177-3AD203B41FA5}">
                      <a16:colId xmlns:a16="http://schemas.microsoft.com/office/drawing/2014/main" val="3697945399"/>
                    </a:ext>
                  </a:extLst>
                </a:gridCol>
                <a:gridCol w="1246890">
                  <a:extLst>
                    <a:ext uri="{9D8B030D-6E8A-4147-A177-3AD203B41FA5}">
                      <a16:colId xmlns:a16="http://schemas.microsoft.com/office/drawing/2014/main" val="2981601721"/>
                    </a:ext>
                  </a:extLst>
                </a:gridCol>
                <a:gridCol w="415630">
                  <a:extLst>
                    <a:ext uri="{9D8B030D-6E8A-4147-A177-3AD203B41FA5}">
                      <a16:colId xmlns:a16="http://schemas.microsoft.com/office/drawing/2014/main" val="452322836"/>
                    </a:ext>
                  </a:extLst>
                </a:gridCol>
              </a:tblGrid>
              <a:tr h="522603">
                <a:tc>
                  <a:txBody>
                    <a:bodyPr/>
                    <a:lstStyle/>
                    <a:p>
                      <a:pPr marL="0" marR="0" algn="just">
                        <a:lnSpc>
                          <a:spcPct val="150000"/>
                        </a:lnSpc>
                        <a:spcBef>
                          <a:spcPts val="0"/>
                        </a:spcBef>
                        <a:spcAft>
                          <a:spcPts val="0"/>
                        </a:spcAft>
                      </a:pPr>
                      <a:r>
                        <a:rPr lang="en-VN" sz="1100">
                          <a:effectLst/>
                        </a:rPr>
                        <a:t>ID</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Tình huống</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Các bước / Dữ liệu</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Kết quả kỳ vọng</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Ưu tiên</a:t>
                      </a:r>
                      <a:endParaRPr lang="en-VN" sz="900">
                        <a:effectLst/>
                        <a:latin typeface="Calibri" panose="020F0502020204030204" pitchFamily="34" charset="0"/>
                        <a:ea typeface="Calibri" panose="020F0502020204030204" pitchFamily="34" charset="0"/>
                      </a:endParaRPr>
                    </a:p>
                  </a:txBody>
                  <a:tcPr marL="46758" marR="46758" marT="31172" marB="31172" anchor="ctr"/>
                </a:tc>
                <a:extLst>
                  <a:ext uri="{0D108BD9-81ED-4DB2-BD59-A6C34878D82A}">
                    <a16:rowId xmlns:a16="http://schemas.microsoft.com/office/drawing/2014/main" val="803890201"/>
                  </a:ext>
                </a:extLst>
              </a:tr>
              <a:tr h="522603">
                <a:tc>
                  <a:txBody>
                    <a:bodyPr/>
                    <a:lstStyle/>
                    <a:p>
                      <a:pPr marL="0" marR="0" algn="just">
                        <a:lnSpc>
                          <a:spcPct val="150000"/>
                        </a:lnSpc>
                        <a:spcBef>
                          <a:spcPts val="0"/>
                        </a:spcBef>
                        <a:spcAft>
                          <a:spcPts val="0"/>
                        </a:spcAft>
                      </a:pPr>
                      <a:r>
                        <a:rPr lang="en-VN" sz="1100">
                          <a:effectLst/>
                        </a:rPr>
                        <a:t>TC-UI-20</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Bố cục header đồng nhất</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Mọi trang site frontend</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Header, nav, footer giống nhau.</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H</a:t>
                      </a:r>
                      <a:endParaRPr lang="en-VN" sz="900">
                        <a:effectLst/>
                        <a:latin typeface="Calibri" panose="020F0502020204030204" pitchFamily="34" charset="0"/>
                        <a:ea typeface="Calibri" panose="020F0502020204030204" pitchFamily="34" charset="0"/>
                      </a:endParaRPr>
                    </a:p>
                  </a:txBody>
                  <a:tcPr marL="46758" marR="46758" marT="31172" marB="31172" anchor="ctr"/>
                </a:tc>
                <a:extLst>
                  <a:ext uri="{0D108BD9-81ED-4DB2-BD59-A6C34878D82A}">
                    <a16:rowId xmlns:a16="http://schemas.microsoft.com/office/drawing/2014/main" val="1811713389"/>
                  </a:ext>
                </a:extLst>
              </a:tr>
              <a:tr h="522603">
                <a:tc>
                  <a:txBody>
                    <a:bodyPr/>
                    <a:lstStyle/>
                    <a:p>
                      <a:pPr marL="0" marR="0" algn="just">
                        <a:lnSpc>
                          <a:spcPct val="150000"/>
                        </a:lnSpc>
                        <a:spcBef>
                          <a:spcPts val="0"/>
                        </a:spcBef>
                        <a:spcAft>
                          <a:spcPts val="0"/>
                        </a:spcAft>
                      </a:pPr>
                      <a:r>
                        <a:rPr lang="en-VN" sz="1100">
                          <a:effectLst/>
                        </a:rPr>
                        <a:t>TC-UI-21</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Bố cục admin đồng nhất</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Mọi trang /admin/*</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Sidebar + Topbar + Content nhất quán.</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H</a:t>
                      </a:r>
                      <a:endParaRPr lang="en-VN" sz="900">
                        <a:effectLst/>
                        <a:latin typeface="Calibri" panose="020F0502020204030204" pitchFamily="34" charset="0"/>
                        <a:ea typeface="Calibri" panose="020F0502020204030204" pitchFamily="34" charset="0"/>
                      </a:endParaRPr>
                    </a:p>
                  </a:txBody>
                  <a:tcPr marL="46758" marR="46758" marT="31172" marB="31172" anchor="ctr"/>
                </a:tc>
                <a:extLst>
                  <a:ext uri="{0D108BD9-81ED-4DB2-BD59-A6C34878D82A}">
                    <a16:rowId xmlns:a16="http://schemas.microsoft.com/office/drawing/2014/main" val="3908169632"/>
                  </a:ext>
                </a:extLst>
              </a:tr>
              <a:tr h="1008891">
                <a:tc>
                  <a:txBody>
                    <a:bodyPr/>
                    <a:lstStyle/>
                    <a:p>
                      <a:pPr marL="0" marR="0" algn="just">
                        <a:lnSpc>
                          <a:spcPct val="150000"/>
                        </a:lnSpc>
                        <a:spcBef>
                          <a:spcPts val="0"/>
                        </a:spcBef>
                        <a:spcAft>
                          <a:spcPts val="0"/>
                        </a:spcAft>
                      </a:pPr>
                      <a:r>
                        <a:rPr lang="en-VN" sz="1100">
                          <a:effectLst/>
                        </a:rPr>
                        <a:t>TC-UI-22</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Nút primary (xanh dương) chỉ cho action chính</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Nút "Đăng nhập", "Thêm SP", "Thanh toán"</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Toàn site tuân thủ; nút phụ dùng btn-light/outline.</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M</a:t>
                      </a:r>
                      <a:endParaRPr lang="en-VN" sz="900">
                        <a:effectLst/>
                        <a:latin typeface="Calibri" panose="020F0502020204030204" pitchFamily="34" charset="0"/>
                        <a:ea typeface="Calibri" panose="020F0502020204030204" pitchFamily="34" charset="0"/>
                      </a:endParaRPr>
                    </a:p>
                  </a:txBody>
                  <a:tcPr marL="46758" marR="46758" marT="31172" marB="31172" anchor="ctr"/>
                </a:tc>
                <a:extLst>
                  <a:ext uri="{0D108BD9-81ED-4DB2-BD59-A6C34878D82A}">
                    <a16:rowId xmlns:a16="http://schemas.microsoft.com/office/drawing/2014/main" val="591902335"/>
                  </a:ext>
                </a:extLst>
              </a:tr>
              <a:tr h="1008891">
                <a:tc>
                  <a:txBody>
                    <a:bodyPr/>
                    <a:lstStyle/>
                    <a:p>
                      <a:pPr marL="0" marR="0" algn="just">
                        <a:lnSpc>
                          <a:spcPct val="150000"/>
                        </a:lnSpc>
                        <a:spcBef>
                          <a:spcPts val="0"/>
                        </a:spcBef>
                        <a:spcAft>
                          <a:spcPts val="0"/>
                        </a:spcAft>
                      </a:pPr>
                      <a:r>
                        <a:rPr lang="en-VN" sz="1100">
                          <a:effectLst/>
                        </a:rPr>
                        <a:t>TC-UI-23</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Trang lỗi 404</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Truy cập route không tồn tại</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Chỉ hiện text plain – KHÔNG có trang 404 đẹp có header/footer.</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M</a:t>
                      </a:r>
                      <a:endParaRPr lang="en-VN" sz="900">
                        <a:effectLst/>
                        <a:latin typeface="Calibri" panose="020F0502020204030204" pitchFamily="34" charset="0"/>
                        <a:ea typeface="Calibri" panose="020F0502020204030204" pitchFamily="34" charset="0"/>
                      </a:endParaRPr>
                    </a:p>
                  </a:txBody>
                  <a:tcPr marL="46758" marR="46758" marT="31172" marB="31172" anchor="ctr"/>
                </a:tc>
                <a:extLst>
                  <a:ext uri="{0D108BD9-81ED-4DB2-BD59-A6C34878D82A}">
                    <a16:rowId xmlns:a16="http://schemas.microsoft.com/office/drawing/2014/main" val="369050140"/>
                  </a:ext>
                </a:extLst>
              </a:tr>
              <a:tr h="765747">
                <a:tc>
                  <a:txBody>
                    <a:bodyPr/>
                    <a:lstStyle/>
                    <a:p>
                      <a:pPr marL="0" marR="0" algn="just">
                        <a:lnSpc>
                          <a:spcPct val="150000"/>
                        </a:lnSpc>
                        <a:spcBef>
                          <a:spcPts val="0"/>
                        </a:spcBef>
                        <a:spcAft>
                          <a:spcPts val="0"/>
                        </a:spcAft>
                      </a:pPr>
                      <a:r>
                        <a:rPr lang="en-VN" sz="1100">
                          <a:effectLst/>
                        </a:rPr>
                        <a:t>TC-UI-24</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Định dạng bảng admin đồng nhất</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Xem các bảng SP/loai/orders</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Cùng style admin-table, cùng cách hiển thị action button.</a:t>
                      </a:r>
                      <a:endParaRPr lang="en-VN" sz="900">
                        <a:effectLst/>
                        <a:latin typeface="Calibri" panose="020F0502020204030204" pitchFamily="34" charset="0"/>
                        <a:ea typeface="Calibri" panose="020F0502020204030204" pitchFamily="34" charset="0"/>
                      </a:endParaRPr>
                    </a:p>
                  </a:txBody>
                  <a:tcPr marL="46758" marR="46758" marT="31172" marB="31172" anchor="ctr"/>
                </a:tc>
                <a:tc>
                  <a:txBody>
                    <a:bodyPr/>
                    <a:lstStyle/>
                    <a:p>
                      <a:pPr marL="0" marR="0" algn="just">
                        <a:lnSpc>
                          <a:spcPct val="150000"/>
                        </a:lnSpc>
                        <a:spcBef>
                          <a:spcPts val="0"/>
                        </a:spcBef>
                        <a:spcAft>
                          <a:spcPts val="0"/>
                        </a:spcAft>
                      </a:pPr>
                      <a:r>
                        <a:rPr lang="en-VN" sz="1100">
                          <a:effectLst/>
                        </a:rPr>
                        <a:t>M</a:t>
                      </a:r>
                      <a:endParaRPr lang="en-VN" sz="900">
                        <a:effectLst/>
                        <a:latin typeface="Calibri" panose="020F0502020204030204" pitchFamily="34" charset="0"/>
                        <a:ea typeface="Calibri" panose="020F0502020204030204" pitchFamily="34" charset="0"/>
                      </a:endParaRPr>
                    </a:p>
                  </a:txBody>
                  <a:tcPr marL="46758" marR="46758" marT="31172" marB="31172" anchor="ctr"/>
                </a:tc>
                <a:extLst>
                  <a:ext uri="{0D108BD9-81ED-4DB2-BD59-A6C34878D82A}">
                    <a16:rowId xmlns:a16="http://schemas.microsoft.com/office/drawing/2014/main" val="3205193760"/>
                  </a:ext>
                </a:extLst>
              </a:tr>
            </a:tbl>
          </a:graphicData>
        </a:graphic>
      </p:graphicFrame>
    </p:spTree>
    <p:extLst>
      <p:ext uri="{BB962C8B-B14F-4D97-AF65-F5344CB8AC3E}">
        <p14:creationId xmlns:p14="http://schemas.microsoft.com/office/powerpoint/2010/main" val="7719835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39378"/>
          </a:xfrm>
          <a:prstGeom prst="rect">
            <a:avLst/>
          </a:prstGeom>
          <a:noFill/>
        </p:spPr>
        <p:txBody>
          <a:bodyPr wrap="square">
            <a:spAutoFit/>
          </a:bodyPr>
          <a:lstStyle/>
          <a:p>
            <a:pPr>
              <a:lnSpc>
                <a:spcPct val="150000"/>
              </a:lnSpc>
            </a:pPr>
            <a:r>
              <a:rPr lang="vi-VN" sz="2200" b="1">
                <a:solidFill>
                  <a:srgbClr val="7030A0"/>
                </a:solidFill>
                <a:latin typeface="Times New Roman" panose="02020603050405020304" pitchFamily="18" charset="0"/>
                <a:cs typeface="Times New Roman" panose="02020603050405020304" pitchFamily="18" charset="0"/>
              </a:rPr>
              <a:t>5</a:t>
            </a:r>
            <a:r>
              <a:rPr lang="vi-VN" sz="2200" b="1">
                <a:solidFill>
                  <a:srgbClr val="7030A0"/>
                </a:solidFill>
                <a:effectLst/>
                <a:latin typeface="Times New Roman" panose="02020603050405020304" pitchFamily="18" charset="0"/>
                <a:cs typeface="Times New Roman" panose="02020603050405020304" pitchFamily="18" charset="0"/>
              </a:rPr>
              <a:t>.3.</a:t>
            </a:r>
            <a:r>
              <a:rPr lang="en-VN" sz="22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Kiểm thử giao diện &amp; trải nghiệm người dùng (UI/UX)</a:t>
            </a:r>
            <a:r>
              <a:rPr lang="en-VN" sz="2200" b="1">
                <a:solidFill>
                  <a:srgbClr val="7030A0"/>
                </a:solidFill>
                <a:effectLst/>
                <a:latin typeface="Times New Roman" panose="02020603050405020304" pitchFamily="18" charset="0"/>
                <a:cs typeface="Times New Roman" panose="02020603050405020304" pitchFamily="18" charset="0"/>
              </a:rPr>
              <a:t> </a:t>
            </a:r>
            <a:endParaRPr lang="vi-VN" sz="22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81C67214-C846-12C0-B97D-6DC011773973}"/>
              </a:ext>
            </a:extLst>
          </p:cNvPr>
          <p:cNvSpPr txBox="1"/>
          <p:nvPr/>
        </p:nvSpPr>
        <p:spPr>
          <a:xfrm>
            <a:off x="976086" y="1362089"/>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Aesthetic &amp; Minimalist Design (Thẩm mỹ và tối giản)</a:t>
            </a:r>
            <a:r>
              <a:rPr lang="en-VN">
                <a:effectLst/>
              </a:rPr>
              <a:t> </a:t>
            </a:r>
            <a:endParaRPr lang="en-VN"/>
          </a:p>
        </p:txBody>
      </p:sp>
      <p:graphicFrame>
        <p:nvGraphicFramePr>
          <p:cNvPr id="5" name="Table 4">
            <a:extLst>
              <a:ext uri="{FF2B5EF4-FFF2-40B4-BE49-F238E27FC236}">
                <a16:creationId xmlns:a16="http://schemas.microsoft.com/office/drawing/2014/main" id="{B6209D4A-3507-18DF-B0FC-A6C07C5D5992}"/>
              </a:ext>
            </a:extLst>
          </p:cNvPr>
          <p:cNvGraphicFramePr>
            <a:graphicFrameLocks noGrp="1"/>
          </p:cNvGraphicFramePr>
          <p:nvPr/>
        </p:nvGraphicFramePr>
        <p:xfrm>
          <a:off x="3048000" y="2107246"/>
          <a:ext cx="6096000" cy="4090670"/>
        </p:xfrm>
        <a:graphic>
          <a:graphicData uri="http://schemas.openxmlformats.org/drawingml/2006/table">
            <a:tbl>
              <a:tblPr>
                <a:tableStyleId>{5C22544A-7EE6-4342-B048-85BDC9FD1C3A}</a:tableStyleId>
              </a:tblPr>
              <a:tblGrid>
                <a:gridCol w="635000">
                  <a:extLst>
                    <a:ext uri="{9D8B030D-6E8A-4147-A177-3AD203B41FA5}">
                      <a16:colId xmlns:a16="http://schemas.microsoft.com/office/drawing/2014/main" val="3654177152"/>
                    </a:ext>
                  </a:extLst>
                </a:gridCol>
                <a:gridCol w="1206500">
                  <a:extLst>
                    <a:ext uri="{9D8B030D-6E8A-4147-A177-3AD203B41FA5}">
                      <a16:colId xmlns:a16="http://schemas.microsoft.com/office/drawing/2014/main" val="3233848088"/>
                    </a:ext>
                  </a:extLst>
                </a:gridCol>
                <a:gridCol w="2222500">
                  <a:extLst>
                    <a:ext uri="{9D8B030D-6E8A-4147-A177-3AD203B41FA5}">
                      <a16:colId xmlns:a16="http://schemas.microsoft.com/office/drawing/2014/main" val="1564262651"/>
                    </a:ext>
                  </a:extLst>
                </a:gridCol>
                <a:gridCol w="1524000">
                  <a:extLst>
                    <a:ext uri="{9D8B030D-6E8A-4147-A177-3AD203B41FA5}">
                      <a16:colId xmlns:a16="http://schemas.microsoft.com/office/drawing/2014/main" val="276094839"/>
                    </a:ext>
                  </a:extLst>
                </a:gridCol>
                <a:gridCol w="508000">
                  <a:extLst>
                    <a:ext uri="{9D8B030D-6E8A-4147-A177-3AD203B41FA5}">
                      <a16:colId xmlns:a16="http://schemas.microsoft.com/office/drawing/2014/main" val="455258431"/>
                    </a:ext>
                  </a:extLst>
                </a:gridCol>
              </a:tblGrid>
              <a:tr h="0">
                <a:tc>
                  <a:txBody>
                    <a:bodyPr/>
                    <a:lstStyle/>
                    <a:p>
                      <a:pPr marL="0" marR="0" algn="just">
                        <a:lnSpc>
                          <a:spcPct val="150000"/>
                        </a:lnSpc>
                        <a:spcBef>
                          <a:spcPts val="0"/>
                        </a:spcBef>
                        <a:spcAft>
                          <a:spcPts val="0"/>
                        </a:spcAft>
                      </a:pPr>
                      <a:r>
                        <a:rPr lang="en-VN" sz="1300">
                          <a:effectLst/>
                        </a:rPr>
                        <a:t>ID</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Tình huống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Các bước / Dữ liệu</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Kết quả kỳ vọng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Ưu tiên</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1301074749"/>
                  </a:ext>
                </a:extLst>
              </a:tr>
              <a:tr h="0">
                <a:tc>
                  <a:txBody>
                    <a:bodyPr/>
                    <a:lstStyle/>
                    <a:p>
                      <a:pPr marL="0" marR="0" algn="just">
                        <a:lnSpc>
                          <a:spcPct val="150000"/>
                        </a:lnSpc>
                        <a:spcBef>
                          <a:spcPts val="0"/>
                        </a:spcBef>
                        <a:spcAft>
                          <a:spcPts val="0"/>
                        </a:spcAft>
                      </a:pPr>
                      <a:r>
                        <a:rPr lang="en-VN" sz="1300">
                          <a:effectLst/>
                        </a:rPr>
                        <a:t>TC-UI-30</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Không có quảng cáo/pop-up thừa</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Toàn site</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Không popup, không banner ép user.</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H</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737801657"/>
                  </a:ext>
                </a:extLst>
              </a:tr>
              <a:tr h="0">
                <a:tc>
                  <a:txBody>
                    <a:bodyPr/>
                    <a:lstStyle/>
                    <a:p>
                      <a:pPr marL="0" marR="0" algn="just">
                        <a:lnSpc>
                          <a:spcPct val="150000"/>
                        </a:lnSpc>
                        <a:spcBef>
                          <a:spcPts val="0"/>
                        </a:spcBef>
                        <a:spcAft>
                          <a:spcPts val="0"/>
                        </a:spcAft>
                      </a:pPr>
                      <a:r>
                        <a:rPr lang="en-VN" sz="1300">
                          <a:effectLst/>
                        </a:rPr>
                        <a:t>TC-UI-31</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Product card gọn gàng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Xem home</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Chỉ hiển thị ảnh, tên, giá, badge KM/HOT.</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M</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71349279"/>
                  </a:ext>
                </a:extLst>
              </a:tr>
              <a:tr h="0">
                <a:tc>
                  <a:txBody>
                    <a:bodyPr/>
                    <a:lstStyle/>
                    <a:p>
                      <a:pPr marL="0" marR="0" algn="just">
                        <a:lnSpc>
                          <a:spcPct val="150000"/>
                        </a:lnSpc>
                        <a:spcBef>
                          <a:spcPts val="0"/>
                        </a:spcBef>
                        <a:spcAft>
                          <a:spcPts val="0"/>
                        </a:spcAft>
                      </a:pPr>
                      <a:r>
                        <a:rPr lang="en-VN" sz="1300">
                          <a:effectLst/>
                        </a:rPr>
                        <a:t>TC-UI-32</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Hero rõ ràng, ngắn gọn</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Trang chủ</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Slogan 2 dòng + 1 câu mô tả + 2 CTA. Không rối mắt.</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M</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408361081"/>
                  </a:ext>
                </a:extLst>
              </a:tr>
              <a:tr h="0">
                <a:tc>
                  <a:txBody>
                    <a:bodyPr/>
                    <a:lstStyle/>
                    <a:p>
                      <a:pPr marL="0" marR="0" algn="just">
                        <a:lnSpc>
                          <a:spcPct val="150000"/>
                        </a:lnSpc>
                        <a:spcBef>
                          <a:spcPts val="0"/>
                        </a:spcBef>
                        <a:spcAft>
                          <a:spcPts val="0"/>
                        </a:spcAft>
                      </a:pPr>
                      <a:r>
                        <a:rPr lang="en-VN" sz="1300">
                          <a:effectLst/>
                        </a:rPr>
                        <a:t>TC-UI-33</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Sidebar sản phẩm xem nhiều</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Aside khi vào detail</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Chỉ 5 SP, thumbnail + tên + giá. Không quá tải.</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0"/>
                        </a:spcAft>
                      </a:pPr>
                      <a:r>
                        <a:rPr lang="en-VN" sz="1300">
                          <a:effectLst/>
                        </a:rPr>
                        <a:t>L</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483348984"/>
                  </a:ext>
                </a:extLst>
              </a:tr>
            </a:tbl>
          </a:graphicData>
        </a:graphic>
      </p:graphicFrame>
    </p:spTree>
    <p:extLst>
      <p:ext uri="{BB962C8B-B14F-4D97-AF65-F5344CB8AC3E}">
        <p14:creationId xmlns:p14="http://schemas.microsoft.com/office/powerpoint/2010/main" val="29805247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39378"/>
          </a:xfrm>
          <a:prstGeom prst="rect">
            <a:avLst/>
          </a:prstGeom>
          <a:noFill/>
        </p:spPr>
        <p:txBody>
          <a:bodyPr wrap="square">
            <a:spAutoFit/>
          </a:bodyPr>
          <a:lstStyle/>
          <a:p>
            <a:pPr>
              <a:lnSpc>
                <a:spcPct val="150000"/>
              </a:lnSpc>
            </a:pPr>
            <a:r>
              <a:rPr lang="vi-VN" sz="2200" b="1">
                <a:solidFill>
                  <a:srgbClr val="7030A0"/>
                </a:solidFill>
                <a:latin typeface="Times New Roman" panose="02020603050405020304" pitchFamily="18" charset="0"/>
                <a:cs typeface="Times New Roman" panose="02020603050405020304" pitchFamily="18" charset="0"/>
              </a:rPr>
              <a:t>5</a:t>
            </a:r>
            <a:r>
              <a:rPr lang="vi-VN" sz="2200" b="1">
                <a:solidFill>
                  <a:srgbClr val="7030A0"/>
                </a:solidFill>
                <a:effectLst/>
                <a:latin typeface="Times New Roman" panose="02020603050405020304" pitchFamily="18" charset="0"/>
                <a:cs typeface="Times New Roman" panose="02020603050405020304" pitchFamily="18" charset="0"/>
              </a:rPr>
              <a:t>.3.</a:t>
            </a:r>
            <a:r>
              <a:rPr lang="en-VN" sz="22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Kiểm thử giao diện &amp; trải nghiệm người dùng (UI/UX)</a:t>
            </a:r>
            <a:r>
              <a:rPr lang="en-VN" sz="2200" b="1">
                <a:solidFill>
                  <a:srgbClr val="7030A0"/>
                </a:solidFill>
                <a:effectLst/>
                <a:latin typeface="Times New Roman" panose="02020603050405020304" pitchFamily="18" charset="0"/>
                <a:cs typeface="Times New Roman" panose="02020603050405020304" pitchFamily="18" charset="0"/>
              </a:rPr>
              <a:t> </a:t>
            </a:r>
            <a:endParaRPr lang="vi-VN" sz="22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7B100288-85E3-955D-9666-C6B759AE74D9}"/>
              </a:ext>
            </a:extLst>
          </p:cNvPr>
          <p:cNvSpPr txBox="1"/>
          <p:nvPr/>
        </p:nvSpPr>
        <p:spPr>
          <a:xfrm>
            <a:off x="1164771" y="1261429"/>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Responsive &amp; Mobile-first</a:t>
            </a:r>
            <a:r>
              <a:rPr lang="en-VN">
                <a:effectLst/>
              </a:rPr>
              <a:t> </a:t>
            </a:r>
            <a:endParaRPr lang="en-VN"/>
          </a:p>
        </p:txBody>
      </p:sp>
      <p:graphicFrame>
        <p:nvGraphicFramePr>
          <p:cNvPr id="8" name="Table 7">
            <a:extLst>
              <a:ext uri="{FF2B5EF4-FFF2-40B4-BE49-F238E27FC236}">
                <a16:creationId xmlns:a16="http://schemas.microsoft.com/office/drawing/2014/main" id="{5E32E710-F8B4-08DB-4C9F-5B6A645BEB02}"/>
              </a:ext>
            </a:extLst>
          </p:cNvPr>
          <p:cNvGraphicFramePr>
            <a:graphicFrameLocks noGrp="1"/>
          </p:cNvGraphicFramePr>
          <p:nvPr/>
        </p:nvGraphicFramePr>
        <p:xfrm>
          <a:off x="4159437" y="1825625"/>
          <a:ext cx="3873125" cy="4351337"/>
        </p:xfrm>
        <a:graphic>
          <a:graphicData uri="http://schemas.openxmlformats.org/drawingml/2006/table">
            <a:tbl>
              <a:tblPr>
                <a:tableStyleId>{5C22544A-7EE6-4342-B048-85BDC9FD1C3A}</a:tableStyleId>
              </a:tblPr>
              <a:tblGrid>
                <a:gridCol w="403451">
                  <a:extLst>
                    <a:ext uri="{9D8B030D-6E8A-4147-A177-3AD203B41FA5}">
                      <a16:colId xmlns:a16="http://schemas.microsoft.com/office/drawing/2014/main" val="754085226"/>
                    </a:ext>
                  </a:extLst>
                </a:gridCol>
                <a:gridCol w="766556">
                  <a:extLst>
                    <a:ext uri="{9D8B030D-6E8A-4147-A177-3AD203B41FA5}">
                      <a16:colId xmlns:a16="http://schemas.microsoft.com/office/drawing/2014/main" val="2104207875"/>
                    </a:ext>
                  </a:extLst>
                </a:gridCol>
                <a:gridCol w="1412077">
                  <a:extLst>
                    <a:ext uri="{9D8B030D-6E8A-4147-A177-3AD203B41FA5}">
                      <a16:colId xmlns:a16="http://schemas.microsoft.com/office/drawing/2014/main" val="98556419"/>
                    </a:ext>
                  </a:extLst>
                </a:gridCol>
                <a:gridCol w="968281">
                  <a:extLst>
                    <a:ext uri="{9D8B030D-6E8A-4147-A177-3AD203B41FA5}">
                      <a16:colId xmlns:a16="http://schemas.microsoft.com/office/drawing/2014/main" val="757687677"/>
                    </a:ext>
                  </a:extLst>
                </a:gridCol>
                <a:gridCol w="322760">
                  <a:extLst>
                    <a:ext uri="{9D8B030D-6E8A-4147-A177-3AD203B41FA5}">
                      <a16:colId xmlns:a16="http://schemas.microsoft.com/office/drawing/2014/main" val="846276676"/>
                    </a:ext>
                  </a:extLst>
                </a:gridCol>
              </a:tblGrid>
              <a:tr h="405831">
                <a:tc>
                  <a:txBody>
                    <a:bodyPr/>
                    <a:lstStyle/>
                    <a:p>
                      <a:pPr marL="0" marR="0" algn="just">
                        <a:lnSpc>
                          <a:spcPct val="150000"/>
                        </a:lnSpc>
                        <a:spcBef>
                          <a:spcPts val="0"/>
                        </a:spcBef>
                        <a:spcAft>
                          <a:spcPts val="0"/>
                        </a:spcAft>
                      </a:pPr>
                      <a:r>
                        <a:rPr lang="en-VN" sz="800">
                          <a:effectLst/>
                        </a:rPr>
                        <a:t>ID</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Tình huống</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Các bước / Dữ liệu</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Kết quả kỳ vọng</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Ưu tiên</a:t>
                      </a:r>
                      <a:endParaRPr lang="en-VN" sz="700">
                        <a:effectLst/>
                        <a:latin typeface="Calibri" panose="020F0502020204030204" pitchFamily="34" charset="0"/>
                        <a:ea typeface="Calibri" panose="020F0502020204030204" pitchFamily="34" charset="0"/>
                      </a:endParaRPr>
                    </a:p>
                  </a:txBody>
                  <a:tcPr marL="36311" marR="36311" marT="24207" marB="24207" anchor="ctr"/>
                </a:tc>
                <a:extLst>
                  <a:ext uri="{0D108BD9-81ED-4DB2-BD59-A6C34878D82A}">
                    <a16:rowId xmlns:a16="http://schemas.microsoft.com/office/drawing/2014/main" val="3616613675"/>
                  </a:ext>
                </a:extLst>
              </a:tr>
              <a:tr h="783461">
                <a:tc>
                  <a:txBody>
                    <a:bodyPr/>
                    <a:lstStyle/>
                    <a:p>
                      <a:pPr marL="0" marR="0" algn="just">
                        <a:lnSpc>
                          <a:spcPct val="150000"/>
                        </a:lnSpc>
                        <a:spcBef>
                          <a:spcPts val="0"/>
                        </a:spcBef>
                        <a:spcAft>
                          <a:spcPts val="0"/>
                        </a:spcAft>
                      </a:pPr>
                      <a:r>
                        <a:rPr lang="en-VN" sz="800">
                          <a:effectLst/>
                        </a:rPr>
                        <a:t>TC-UI-34</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Trang chủ trên &lt; 576px</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Emulator iPhone</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Header-benefits ẩn, menu collapse; product-grid 1 cột; hero co lại.</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H</a:t>
                      </a:r>
                      <a:endParaRPr lang="en-VN" sz="700">
                        <a:effectLst/>
                        <a:latin typeface="Calibri" panose="020F0502020204030204" pitchFamily="34" charset="0"/>
                        <a:ea typeface="Calibri" panose="020F0502020204030204" pitchFamily="34" charset="0"/>
                      </a:endParaRPr>
                    </a:p>
                  </a:txBody>
                  <a:tcPr marL="36311" marR="36311" marT="24207" marB="24207" anchor="ctr"/>
                </a:tc>
                <a:extLst>
                  <a:ext uri="{0D108BD9-81ED-4DB2-BD59-A6C34878D82A}">
                    <a16:rowId xmlns:a16="http://schemas.microsoft.com/office/drawing/2014/main" val="2407081564"/>
                  </a:ext>
                </a:extLst>
              </a:tr>
              <a:tr h="405831">
                <a:tc>
                  <a:txBody>
                    <a:bodyPr/>
                    <a:lstStyle/>
                    <a:p>
                      <a:pPr marL="0" marR="0" algn="just">
                        <a:lnSpc>
                          <a:spcPct val="150000"/>
                        </a:lnSpc>
                        <a:spcBef>
                          <a:spcPts val="0"/>
                        </a:spcBef>
                        <a:spcAft>
                          <a:spcPts val="0"/>
                        </a:spcAft>
                      </a:pPr>
                      <a:r>
                        <a:rPr lang="en-VN" sz="800">
                          <a:effectLst/>
                        </a:rPr>
                        <a:t>TC-UI-35</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Trang chi tiết trên mobile</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Emulator</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Ảnh + info stack thành 1 cột dọc.</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H</a:t>
                      </a:r>
                      <a:endParaRPr lang="en-VN" sz="700">
                        <a:effectLst/>
                        <a:latin typeface="Calibri" panose="020F0502020204030204" pitchFamily="34" charset="0"/>
                        <a:ea typeface="Calibri" panose="020F0502020204030204" pitchFamily="34" charset="0"/>
                      </a:endParaRPr>
                    </a:p>
                  </a:txBody>
                  <a:tcPr marL="36311" marR="36311" marT="24207" marB="24207" anchor="ctr"/>
                </a:tc>
                <a:extLst>
                  <a:ext uri="{0D108BD9-81ED-4DB2-BD59-A6C34878D82A}">
                    <a16:rowId xmlns:a16="http://schemas.microsoft.com/office/drawing/2014/main" val="260016166"/>
                  </a:ext>
                </a:extLst>
              </a:tr>
              <a:tr h="594646">
                <a:tc>
                  <a:txBody>
                    <a:bodyPr/>
                    <a:lstStyle/>
                    <a:p>
                      <a:pPr marL="0" marR="0" algn="just">
                        <a:lnSpc>
                          <a:spcPct val="150000"/>
                        </a:lnSpc>
                        <a:spcBef>
                          <a:spcPts val="0"/>
                        </a:spcBef>
                        <a:spcAft>
                          <a:spcPts val="0"/>
                        </a:spcAft>
                      </a:pPr>
                      <a:r>
                        <a:rPr lang="en-VN" sz="800">
                          <a:effectLst/>
                        </a:rPr>
                        <a:t>TC-UI-36</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Giỏ hàng trên mobile</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Emulator</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cart-item hiển thị dạng card dọc, không tràn ngang.</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H</a:t>
                      </a:r>
                      <a:endParaRPr lang="en-VN" sz="700">
                        <a:effectLst/>
                        <a:latin typeface="Calibri" panose="020F0502020204030204" pitchFamily="34" charset="0"/>
                        <a:ea typeface="Calibri" panose="020F0502020204030204" pitchFamily="34" charset="0"/>
                      </a:endParaRPr>
                    </a:p>
                  </a:txBody>
                  <a:tcPr marL="36311" marR="36311" marT="24207" marB="24207" anchor="ctr"/>
                </a:tc>
                <a:extLst>
                  <a:ext uri="{0D108BD9-81ED-4DB2-BD59-A6C34878D82A}">
                    <a16:rowId xmlns:a16="http://schemas.microsoft.com/office/drawing/2014/main" val="1054897642"/>
                  </a:ext>
                </a:extLst>
              </a:tr>
              <a:tr h="783461">
                <a:tc>
                  <a:txBody>
                    <a:bodyPr/>
                    <a:lstStyle/>
                    <a:p>
                      <a:pPr marL="0" marR="0" algn="just">
                        <a:lnSpc>
                          <a:spcPct val="150000"/>
                        </a:lnSpc>
                        <a:spcBef>
                          <a:spcPts val="0"/>
                        </a:spcBef>
                        <a:spcAft>
                          <a:spcPts val="0"/>
                        </a:spcAft>
                      </a:pPr>
                      <a:r>
                        <a:rPr lang="en-VN" sz="800">
                          <a:effectLst/>
                        </a:rPr>
                        <a:t>TC-UI-37</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Admin sidebar trên mobile</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width &lt; 992px</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Sidebar ẩn, hiện bằng nút toggle (sidebar-toggle + backdrop).</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H</a:t>
                      </a:r>
                      <a:endParaRPr lang="en-VN" sz="700">
                        <a:effectLst/>
                        <a:latin typeface="Calibri" panose="020F0502020204030204" pitchFamily="34" charset="0"/>
                        <a:ea typeface="Calibri" panose="020F0502020204030204" pitchFamily="34" charset="0"/>
                      </a:endParaRPr>
                    </a:p>
                  </a:txBody>
                  <a:tcPr marL="36311" marR="36311" marT="24207" marB="24207" anchor="ctr"/>
                </a:tc>
                <a:extLst>
                  <a:ext uri="{0D108BD9-81ED-4DB2-BD59-A6C34878D82A}">
                    <a16:rowId xmlns:a16="http://schemas.microsoft.com/office/drawing/2014/main" val="2863918428"/>
                  </a:ext>
                </a:extLst>
              </a:tr>
              <a:tr h="783461">
                <a:tc>
                  <a:txBody>
                    <a:bodyPr/>
                    <a:lstStyle/>
                    <a:p>
                      <a:pPr marL="0" marR="0" algn="just">
                        <a:lnSpc>
                          <a:spcPct val="150000"/>
                        </a:lnSpc>
                        <a:spcBef>
                          <a:spcPts val="0"/>
                        </a:spcBef>
                        <a:spcAft>
                          <a:spcPts val="0"/>
                        </a:spcAft>
                      </a:pPr>
                      <a:r>
                        <a:rPr lang="en-VN" sz="800">
                          <a:effectLst/>
                        </a:rPr>
                        <a:t>TC-UI-38</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Bảng admin responsive</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Mobile</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admin-table dùng data-label để hiển thị dạng card khi small screen.</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M</a:t>
                      </a:r>
                      <a:endParaRPr lang="en-VN" sz="700">
                        <a:effectLst/>
                        <a:latin typeface="Calibri" panose="020F0502020204030204" pitchFamily="34" charset="0"/>
                        <a:ea typeface="Calibri" panose="020F0502020204030204" pitchFamily="34" charset="0"/>
                      </a:endParaRPr>
                    </a:p>
                  </a:txBody>
                  <a:tcPr marL="36311" marR="36311" marT="24207" marB="24207" anchor="ctr"/>
                </a:tc>
                <a:extLst>
                  <a:ext uri="{0D108BD9-81ED-4DB2-BD59-A6C34878D82A}">
                    <a16:rowId xmlns:a16="http://schemas.microsoft.com/office/drawing/2014/main" val="1633707701"/>
                  </a:ext>
                </a:extLst>
              </a:tr>
              <a:tr h="594646">
                <a:tc>
                  <a:txBody>
                    <a:bodyPr/>
                    <a:lstStyle/>
                    <a:p>
                      <a:pPr marL="0" marR="0" algn="just">
                        <a:lnSpc>
                          <a:spcPct val="150000"/>
                        </a:lnSpc>
                        <a:spcBef>
                          <a:spcPts val="0"/>
                        </a:spcBef>
                        <a:spcAft>
                          <a:spcPts val="0"/>
                        </a:spcAft>
                      </a:pPr>
                      <a:r>
                        <a:rPr lang="en-VN" sz="800">
                          <a:effectLst/>
                        </a:rPr>
                        <a:t>TC-UI-39</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Form input phím ảo phù hợp</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Điện thoại: type="tel", email: type="email"</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Bàn phím ảo hiển thị số/email tương ứng.</a:t>
                      </a:r>
                      <a:endParaRPr lang="en-VN" sz="700">
                        <a:effectLst/>
                        <a:latin typeface="Calibri" panose="020F0502020204030204" pitchFamily="34" charset="0"/>
                        <a:ea typeface="Calibri" panose="020F0502020204030204" pitchFamily="34" charset="0"/>
                      </a:endParaRPr>
                    </a:p>
                  </a:txBody>
                  <a:tcPr marL="36311" marR="36311" marT="24207" marB="24207" anchor="ctr"/>
                </a:tc>
                <a:tc>
                  <a:txBody>
                    <a:bodyPr/>
                    <a:lstStyle/>
                    <a:p>
                      <a:pPr marL="0" marR="0" algn="just">
                        <a:lnSpc>
                          <a:spcPct val="150000"/>
                        </a:lnSpc>
                        <a:spcBef>
                          <a:spcPts val="0"/>
                        </a:spcBef>
                        <a:spcAft>
                          <a:spcPts val="0"/>
                        </a:spcAft>
                      </a:pPr>
                      <a:r>
                        <a:rPr lang="en-VN" sz="800">
                          <a:effectLst/>
                        </a:rPr>
                        <a:t>M</a:t>
                      </a:r>
                      <a:endParaRPr lang="en-VN" sz="700">
                        <a:effectLst/>
                        <a:latin typeface="Calibri" panose="020F0502020204030204" pitchFamily="34" charset="0"/>
                        <a:ea typeface="Calibri" panose="020F0502020204030204" pitchFamily="34" charset="0"/>
                      </a:endParaRPr>
                    </a:p>
                  </a:txBody>
                  <a:tcPr marL="36311" marR="36311" marT="24207" marB="24207" anchor="ctr"/>
                </a:tc>
                <a:extLst>
                  <a:ext uri="{0D108BD9-81ED-4DB2-BD59-A6C34878D82A}">
                    <a16:rowId xmlns:a16="http://schemas.microsoft.com/office/drawing/2014/main" val="1696456894"/>
                  </a:ext>
                </a:extLst>
              </a:tr>
            </a:tbl>
          </a:graphicData>
        </a:graphic>
      </p:graphicFrame>
    </p:spTree>
    <p:extLst>
      <p:ext uri="{BB962C8B-B14F-4D97-AF65-F5344CB8AC3E}">
        <p14:creationId xmlns:p14="http://schemas.microsoft.com/office/powerpoint/2010/main" val="41227620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95884" y="614899"/>
            <a:ext cx="11000232" cy="539378"/>
          </a:xfrm>
          <a:prstGeom prst="rect">
            <a:avLst/>
          </a:prstGeom>
          <a:noFill/>
        </p:spPr>
        <p:txBody>
          <a:bodyPr wrap="square">
            <a:spAutoFit/>
          </a:bodyPr>
          <a:lstStyle/>
          <a:p>
            <a:pPr>
              <a:lnSpc>
                <a:spcPct val="150000"/>
              </a:lnSpc>
            </a:pPr>
            <a:r>
              <a:rPr lang="vi-VN" sz="2200" b="1">
                <a:solidFill>
                  <a:srgbClr val="7030A0"/>
                </a:solidFill>
                <a:latin typeface="Times New Roman" panose="02020603050405020304" pitchFamily="18" charset="0"/>
                <a:cs typeface="Times New Roman" panose="02020603050405020304" pitchFamily="18" charset="0"/>
              </a:rPr>
              <a:t>5</a:t>
            </a:r>
            <a:r>
              <a:rPr lang="vi-VN" sz="2200" b="1">
                <a:solidFill>
                  <a:srgbClr val="7030A0"/>
                </a:solidFill>
                <a:effectLst/>
                <a:latin typeface="Times New Roman" panose="02020603050405020304" pitchFamily="18" charset="0"/>
                <a:cs typeface="Times New Roman" panose="02020603050405020304" pitchFamily="18" charset="0"/>
              </a:rPr>
              <a:t>.3.</a:t>
            </a:r>
            <a:r>
              <a:rPr lang="en-VN" sz="22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Kiểm thử giao diện &amp; trải nghiệm người dùng (UI/UX)</a:t>
            </a:r>
            <a:r>
              <a:rPr lang="en-VN" sz="2200" b="1">
                <a:solidFill>
                  <a:srgbClr val="7030A0"/>
                </a:solidFill>
                <a:effectLst/>
                <a:latin typeface="Times New Roman" panose="02020603050405020304" pitchFamily="18" charset="0"/>
                <a:cs typeface="Times New Roman" panose="02020603050405020304" pitchFamily="18" charset="0"/>
              </a:rPr>
              <a:t> </a:t>
            </a:r>
            <a:endParaRPr lang="vi-VN" sz="22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8F34E2AE-1F26-0CED-B5EA-A93E58580D7C}"/>
              </a:ext>
            </a:extLst>
          </p:cNvPr>
          <p:cNvSpPr txBox="1"/>
          <p:nvPr/>
        </p:nvSpPr>
        <p:spPr>
          <a:xfrm>
            <a:off x="1179286" y="1201518"/>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 Accessibility (A11y)</a:t>
            </a:r>
            <a:r>
              <a:rPr lang="en-VN">
                <a:effectLst/>
              </a:rPr>
              <a:t> </a:t>
            </a:r>
            <a:endParaRPr lang="en-VN"/>
          </a:p>
        </p:txBody>
      </p:sp>
      <p:graphicFrame>
        <p:nvGraphicFramePr>
          <p:cNvPr id="5" name="Table 4">
            <a:extLst>
              <a:ext uri="{FF2B5EF4-FFF2-40B4-BE49-F238E27FC236}">
                <a16:creationId xmlns:a16="http://schemas.microsoft.com/office/drawing/2014/main" id="{12DA9432-5280-C7D0-D3D6-223796F76D14}"/>
              </a:ext>
            </a:extLst>
          </p:cNvPr>
          <p:cNvGraphicFramePr>
            <a:graphicFrameLocks noGrp="1"/>
          </p:cNvGraphicFramePr>
          <p:nvPr/>
        </p:nvGraphicFramePr>
        <p:xfrm>
          <a:off x="3801197" y="1825626"/>
          <a:ext cx="4589606" cy="4351335"/>
        </p:xfrm>
        <a:graphic>
          <a:graphicData uri="http://schemas.openxmlformats.org/drawingml/2006/table">
            <a:tbl>
              <a:tblPr>
                <a:tableStyleId>{5C22544A-7EE6-4342-B048-85BDC9FD1C3A}</a:tableStyleId>
              </a:tblPr>
              <a:tblGrid>
                <a:gridCol w="463831">
                  <a:extLst>
                    <a:ext uri="{9D8B030D-6E8A-4147-A177-3AD203B41FA5}">
                      <a16:colId xmlns:a16="http://schemas.microsoft.com/office/drawing/2014/main" val="1988434176"/>
                    </a:ext>
                  </a:extLst>
                </a:gridCol>
                <a:gridCol w="881278">
                  <a:extLst>
                    <a:ext uri="{9D8B030D-6E8A-4147-A177-3AD203B41FA5}">
                      <a16:colId xmlns:a16="http://schemas.microsoft.com/office/drawing/2014/main" val="2494245600"/>
                    </a:ext>
                  </a:extLst>
                </a:gridCol>
                <a:gridCol w="1623408">
                  <a:extLst>
                    <a:ext uri="{9D8B030D-6E8A-4147-A177-3AD203B41FA5}">
                      <a16:colId xmlns:a16="http://schemas.microsoft.com/office/drawing/2014/main" val="897539232"/>
                    </a:ext>
                  </a:extLst>
                </a:gridCol>
                <a:gridCol w="1113194">
                  <a:extLst>
                    <a:ext uri="{9D8B030D-6E8A-4147-A177-3AD203B41FA5}">
                      <a16:colId xmlns:a16="http://schemas.microsoft.com/office/drawing/2014/main" val="4096948643"/>
                    </a:ext>
                  </a:extLst>
                </a:gridCol>
                <a:gridCol w="507895">
                  <a:extLst>
                    <a:ext uri="{9D8B030D-6E8A-4147-A177-3AD203B41FA5}">
                      <a16:colId xmlns:a16="http://schemas.microsoft.com/office/drawing/2014/main" val="2583645952"/>
                    </a:ext>
                  </a:extLst>
                </a:gridCol>
              </a:tblGrid>
              <a:tr h="249495">
                <a:tc>
                  <a:txBody>
                    <a:bodyPr/>
                    <a:lstStyle/>
                    <a:p>
                      <a:pPr marL="0" marR="0" algn="just">
                        <a:lnSpc>
                          <a:spcPct val="150000"/>
                        </a:lnSpc>
                        <a:spcBef>
                          <a:spcPts val="0"/>
                        </a:spcBef>
                        <a:spcAft>
                          <a:spcPts val="0"/>
                        </a:spcAft>
                      </a:pPr>
                      <a:r>
                        <a:rPr lang="en-VN" sz="900">
                          <a:effectLst/>
                        </a:rPr>
                        <a:t>ID</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Tình huống</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Các bước / Dữ liệu</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Kết quả kỳ vọng</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Ưu tiên</a:t>
                      </a:r>
                      <a:endParaRPr lang="en-VN" sz="800">
                        <a:effectLst/>
                        <a:latin typeface="Calibri" panose="020F0502020204030204" pitchFamily="34" charset="0"/>
                        <a:ea typeface="Calibri" panose="020F0502020204030204" pitchFamily="34" charset="0"/>
                      </a:endParaRPr>
                    </a:p>
                  </a:txBody>
                  <a:tcPr marL="41745" marR="41745" marT="27830" marB="27830" anchor="ctr"/>
                </a:tc>
                <a:extLst>
                  <a:ext uri="{0D108BD9-81ED-4DB2-BD59-A6C34878D82A}">
                    <a16:rowId xmlns:a16="http://schemas.microsoft.com/office/drawing/2014/main" val="364889795"/>
                  </a:ext>
                </a:extLst>
              </a:tr>
              <a:tr h="683640">
                <a:tc>
                  <a:txBody>
                    <a:bodyPr/>
                    <a:lstStyle/>
                    <a:p>
                      <a:pPr marL="0" marR="0" algn="just">
                        <a:lnSpc>
                          <a:spcPct val="150000"/>
                        </a:lnSpc>
                        <a:spcBef>
                          <a:spcPts val="0"/>
                        </a:spcBef>
                        <a:spcAft>
                          <a:spcPts val="0"/>
                        </a:spcAft>
                      </a:pPr>
                      <a:r>
                        <a:rPr lang="en-VN" sz="900">
                          <a:effectLst/>
                        </a:rPr>
                        <a:t>TC-UI-40</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Alt text cho ảnh sản phẩm</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Ảnh SP</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alt="&lt;tên sản phẩm&gt;" (đã có htmlspecialchars).</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H</a:t>
                      </a:r>
                      <a:endParaRPr lang="en-VN" sz="800">
                        <a:effectLst/>
                        <a:latin typeface="Calibri" panose="020F0502020204030204" pitchFamily="34" charset="0"/>
                        <a:ea typeface="Calibri" panose="020F0502020204030204" pitchFamily="34" charset="0"/>
                      </a:endParaRPr>
                    </a:p>
                  </a:txBody>
                  <a:tcPr marL="41745" marR="41745" marT="27830" marB="27830" anchor="ctr"/>
                </a:tc>
                <a:extLst>
                  <a:ext uri="{0D108BD9-81ED-4DB2-BD59-A6C34878D82A}">
                    <a16:rowId xmlns:a16="http://schemas.microsoft.com/office/drawing/2014/main" val="1091168463"/>
                  </a:ext>
                </a:extLst>
              </a:tr>
              <a:tr h="683640">
                <a:tc>
                  <a:txBody>
                    <a:bodyPr/>
                    <a:lstStyle/>
                    <a:p>
                      <a:pPr marL="0" marR="0" algn="just">
                        <a:lnSpc>
                          <a:spcPct val="150000"/>
                        </a:lnSpc>
                        <a:spcBef>
                          <a:spcPts val="0"/>
                        </a:spcBef>
                        <a:spcAft>
                          <a:spcPts val="0"/>
                        </a:spcAft>
                      </a:pPr>
                      <a:r>
                        <a:rPr lang="en-VN" sz="900">
                          <a:effectLst/>
                        </a:rPr>
                        <a:t>TC-UI-41</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Alt cho ảnh trang admin</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Bảng SP admin</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alt="" rỗng cho ảnh decoration – ok theo WCAG.</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M</a:t>
                      </a:r>
                      <a:endParaRPr lang="en-VN" sz="800">
                        <a:effectLst/>
                        <a:latin typeface="Calibri" panose="020F0502020204030204" pitchFamily="34" charset="0"/>
                        <a:ea typeface="Calibri" panose="020F0502020204030204" pitchFamily="34" charset="0"/>
                      </a:endParaRPr>
                    </a:p>
                  </a:txBody>
                  <a:tcPr marL="41745" marR="41745" marT="27830" marB="27830" anchor="ctr"/>
                </a:tc>
                <a:extLst>
                  <a:ext uri="{0D108BD9-81ED-4DB2-BD59-A6C34878D82A}">
                    <a16:rowId xmlns:a16="http://schemas.microsoft.com/office/drawing/2014/main" val="3754635882"/>
                  </a:ext>
                </a:extLst>
              </a:tr>
              <a:tr h="683640">
                <a:tc>
                  <a:txBody>
                    <a:bodyPr/>
                    <a:lstStyle/>
                    <a:p>
                      <a:pPr marL="0" marR="0" algn="just">
                        <a:lnSpc>
                          <a:spcPct val="150000"/>
                        </a:lnSpc>
                        <a:spcBef>
                          <a:spcPts val="0"/>
                        </a:spcBef>
                        <a:spcAft>
                          <a:spcPts val="0"/>
                        </a:spcAft>
                      </a:pPr>
                      <a:r>
                        <a:rPr lang="en-VN" sz="900">
                          <a:effectLst/>
                        </a:rPr>
                        <a:t>TC-UI-42</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aria-label cho icon buttons</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Cart link, nav toggle</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Đã có aria-label="Giỏ hàng", "Mở menu".</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H</a:t>
                      </a:r>
                      <a:endParaRPr lang="en-VN" sz="800">
                        <a:effectLst/>
                        <a:latin typeface="Calibri" panose="020F0502020204030204" pitchFamily="34" charset="0"/>
                        <a:ea typeface="Calibri" panose="020F0502020204030204" pitchFamily="34" charset="0"/>
                      </a:endParaRPr>
                    </a:p>
                  </a:txBody>
                  <a:tcPr marL="41745" marR="41745" marT="27830" marB="27830" anchor="ctr"/>
                </a:tc>
                <a:extLst>
                  <a:ext uri="{0D108BD9-81ED-4DB2-BD59-A6C34878D82A}">
                    <a16:rowId xmlns:a16="http://schemas.microsoft.com/office/drawing/2014/main" val="3822824344"/>
                  </a:ext>
                </a:extLst>
              </a:tr>
              <a:tr h="683640">
                <a:tc>
                  <a:txBody>
                    <a:bodyPr/>
                    <a:lstStyle/>
                    <a:p>
                      <a:pPr marL="0" marR="0" algn="just">
                        <a:lnSpc>
                          <a:spcPct val="150000"/>
                        </a:lnSpc>
                        <a:spcBef>
                          <a:spcPts val="0"/>
                        </a:spcBef>
                        <a:spcAft>
                          <a:spcPts val="0"/>
                        </a:spcAft>
                      </a:pPr>
                      <a:r>
                        <a:rPr lang="en-VN" sz="900">
                          <a:effectLst/>
                        </a:rPr>
                        <a:t>TC-UI-43</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Tab navigation</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Chỉ dùng Tab</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Tab qua các control theo đúng thứ tự đọc.</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M</a:t>
                      </a:r>
                      <a:endParaRPr lang="en-VN" sz="800">
                        <a:effectLst/>
                        <a:latin typeface="Calibri" panose="020F0502020204030204" pitchFamily="34" charset="0"/>
                        <a:ea typeface="Calibri" panose="020F0502020204030204" pitchFamily="34" charset="0"/>
                      </a:endParaRPr>
                    </a:p>
                  </a:txBody>
                  <a:tcPr marL="41745" marR="41745" marT="27830" marB="27830" anchor="ctr"/>
                </a:tc>
                <a:extLst>
                  <a:ext uri="{0D108BD9-81ED-4DB2-BD59-A6C34878D82A}">
                    <a16:rowId xmlns:a16="http://schemas.microsoft.com/office/drawing/2014/main" val="1354473199"/>
                  </a:ext>
                </a:extLst>
              </a:tr>
              <a:tr h="683640">
                <a:tc>
                  <a:txBody>
                    <a:bodyPr/>
                    <a:lstStyle/>
                    <a:p>
                      <a:pPr marL="0" marR="0" algn="just">
                        <a:lnSpc>
                          <a:spcPct val="150000"/>
                        </a:lnSpc>
                        <a:spcBef>
                          <a:spcPts val="0"/>
                        </a:spcBef>
                        <a:spcAft>
                          <a:spcPts val="0"/>
                        </a:spcAft>
                      </a:pPr>
                      <a:r>
                        <a:rPr lang="en-VN" sz="900">
                          <a:effectLst/>
                        </a:rPr>
                        <a:t>TC-UI-44</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Contrast màu</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Text trên hero tối</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Text sáng trên nền tối; hover contrast đủ.</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M</a:t>
                      </a:r>
                      <a:endParaRPr lang="en-VN" sz="800">
                        <a:effectLst/>
                        <a:latin typeface="Calibri" panose="020F0502020204030204" pitchFamily="34" charset="0"/>
                        <a:ea typeface="Calibri" panose="020F0502020204030204" pitchFamily="34" charset="0"/>
                      </a:endParaRPr>
                    </a:p>
                  </a:txBody>
                  <a:tcPr marL="41745" marR="41745" marT="27830" marB="27830" anchor="ctr"/>
                </a:tc>
                <a:extLst>
                  <a:ext uri="{0D108BD9-81ED-4DB2-BD59-A6C34878D82A}">
                    <a16:rowId xmlns:a16="http://schemas.microsoft.com/office/drawing/2014/main" val="2471441539"/>
                  </a:ext>
                </a:extLst>
              </a:tr>
              <a:tr h="683640">
                <a:tc>
                  <a:txBody>
                    <a:bodyPr/>
                    <a:lstStyle/>
                    <a:p>
                      <a:pPr marL="0" marR="0" algn="just">
                        <a:lnSpc>
                          <a:spcPct val="150000"/>
                        </a:lnSpc>
                        <a:spcBef>
                          <a:spcPts val="0"/>
                        </a:spcBef>
                        <a:spcAft>
                          <a:spcPts val="0"/>
                        </a:spcAft>
                      </a:pPr>
                      <a:r>
                        <a:rPr lang="en-VN" sz="900">
                          <a:effectLst/>
                        </a:rPr>
                        <a:t>TC-UI-45</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Screen reader kiểm tra</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NVDA/VoiceOver</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Đọc được đầy đủ label, không có "clickable" mù.</a:t>
                      </a:r>
                      <a:endParaRPr lang="en-VN" sz="800">
                        <a:effectLst/>
                        <a:latin typeface="Calibri" panose="020F0502020204030204" pitchFamily="34" charset="0"/>
                        <a:ea typeface="Calibri" panose="020F0502020204030204" pitchFamily="34" charset="0"/>
                      </a:endParaRPr>
                    </a:p>
                  </a:txBody>
                  <a:tcPr marL="41745" marR="41745" marT="27830" marB="27830" anchor="ctr"/>
                </a:tc>
                <a:tc>
                  <a:txBody>
                    <a:bodyPr/>
                    <a:lstStyle/>
                    <a:p>
                      <a:pPr marL="0" marR="0" algn="just">
                        <a:lnSpc>
                          <a:spcPct val="150000"/>
                        </a:lnSpc>
                        <a:spcBef>
                          <a:spcPts val="0"/>
                        </a:spcBef>
                        <a:spcAft>
                          <a:spcPts val="0"/>
                        </a:spcAft>
                      </a:pPr>
                      <a:r>
                        <a:rPr lang="en-VN" sz="900">
                          <a:effectLst/>
                        </a:rPr>
                        <a:t>M</a:t>
                      </a:r>
                      <a:endParaRPr lang="en-VN" sz="800">
                        <a:effectLst/>
                        <a:latin typeface="Calibri" panose="020F0502020204030204" pitchFamily="34" charset="0"/>
                        <a:ea typeface="Calibri" panose="020F0502020204030204" pitchFamily="34" charset="0"/>
                      </a:endParaRPr>
                    </a:p>
                  </a:txBody>
                  <a:tcPr marL="41745" marR="41745" marT="27830" marB="27830" anchor="ctr"/>
                </a:tc>
                <a:extLst>
                  <a:ext uri="{0D108BD9-81ED-4DB2-BD59-A6C34878D82A}">
                    <a16:rowId xmlns:a16="http://schemas.microsoft.com/office/drawing/2014/main" val="1488503660"/>
                  </a:ext>
                </a:extLst>
              </a:tr>
            </a:tbl>
          </a:graphicData>
        </a:graphic>
      </p:graphicFrame>
    </p:spTree>
    <p:extLst>
      <p:ext uri="{BB962C8B-B14F-4D97-AF65-F5344CB8AC3E}">
        <p14:creationId xmlns:p14="http://schemas.microsoft.com/office/powerpoint/2010/main" val="14544300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77080" y="6423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.4.</a:t>
            </a:r>
            <a:r>
              <a:rPr lang="en-VN" sz="24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VN" sz="2400" b="1">
                <a:solidFill>
                  <a:srgbClr val="7030A0"/>
                </a:solidFill>
                <a:effectLst/>
                <a:latin typeface="Times New Roman" panose="02020603050405020304" pitchFamily="18" charset="0"/>
                <a:ea typeface="Calibri" panose="020F0502020204030204" pitchFamily="34" charset="0"/>
              </a:rPr>
              <a:t>Lỗ hổng phát hiện qua kiểm thử</a:t>
            </a:r>
            <a:r>
              <a:rPr lang="en-VN" sz="2400" b="1">
                <a:solidFill>
                  <a:srgbClr val="7030A0"/>
                </a:solidFill>
                <a:effectLst/>
              </a:rPr>
              <a:t> </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C43CF548-E159-1516-5766-8BE8702A4B31}"/>
              </a:ext>
            </a:extLst>
          </p:cNvPr>
          <p:cNvSpPr txBox="1"/>
          <p:nvPr/>
        </p:nvSpPr>
        <p:spPr>
          <a:xfrm>
            <a:off x="461811" y="1150673"/>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Lỗ hổng bảo mật</a:t>
            </a:r>
            <a:r>
              <a:rPr lang="en-VN">
                <a:effectLst/>
              </a:rPr>
              <a:t> </a:t>
            </a:r>
            <a:endParaRPr lang="en-VN"/>
          </a:p>
        </p:txBody>
      </p:sp>
      <p:graphicFrame>
        <p:nvGraphicFramePr>
          <p:cNvPr id="8" name="Table 7">
            <a:extLst>
              <a:ext uri="{FF2B5EF4-FFF2-40B4-BE49-F238E27FC236}">
                <a16:creationId xmlns:a16="http://schemas.microsoft.com/office/drawing/2014/main" id="{BB7A3DD8-FE9F-CCB3-B6A4-8B88566EEBEC}"/>
              </a:ext>
            </a:extLst>
          </p:cNvPr>
          <p:cNvGraphicFramePr>
            <a:graphicFrameLocks noGrp="1"/>
          </p:cNvGraphicFramePr>
          <p:nvPr>
            <p:extLst>
              <p:ext uri="{D42A27DB-BD31-4B8C-83A1-F6EECF244321}">
                <p14:modId xmlns:p14="http://schemas.microsoft.com/office/powerpoint/2010/main" val="3850151701"/>
              </p:ext>
            </p:extLst>
          </p:nvPr>
        </p:nvGraphicFramePr>
        <p:xfrm>
          <a:off x="5275441" y="916719"/>
          <a:ext cx="2925129" cy="5260246"/>
        </p:xfrm>
        <a:graphic>
          <a:graphicData uri="http://schemas.openxmlformats.org/drawingml/2006/table">
            <a:tbl>
              <a:tblPr>
                <a:tableStyleId>{5C22544A-7EE6-4342-B048-85BDC9FD1C3A}</a:tableStyleId>
              </a:tblPr>
              <a:tblGrid>
                <a:gridCol w="153661">
                  <a:extLst>
                    <a:ext uri="{9D8B030D-6E8A-4147-A177-3AD203B41FA5}">
                      <a16:colId xmlns:a16="http://schemas.microsoft.com/office/drawing/2014/main" val="2543386840"/>
                    </a:ext>
                  </a:extLst>
                </a:gridCol>
                <a:gridCol w="305670">
                  <a:extLst>
                    <a:ext uri="{9D8B030D-6E8A-4147-A177-3AD203B41FA5}">
                      <a16:colId xmlns:a16="http://schemas.microsoft.com/office/drawing/2014/main" val="1169346042"/>
                    </a:ext>
                  </a:extLst>
                </a:gridCol>
                <a:gridCol w="712952">
                  <a:extLst>
                    <a:ext uri="{9D8B030D-6E8A-4147-A177-3AD203B41FA5}">
                      <a16:colId xmlns:a16="http://schemas.microsoft.com/office/drawing/2014/main" val="67688918"/>
                    </a:ext>
                  </a:extLst>
                </a:gridCol>
                <a:gridCol w="685483">
                  <a:extLst>
                    <a:ext uri="{9D8B030D-6E8A-4147-A177-3AD203B41FA5}">
                      <a16:colId xmlns:a16="http://schemas.microsoft.com/office/drawing/2014/main" val="2856997840"/>
                    </a:ext>
                  </a:extLst>
                </a:gridCol>
                <a:gridCol w="317029">
                  <a:extLst>
                    <a:ext uri="{9D8B030D-6E8A-4147-A177-3AD203B41FA5}">
                      <a16:colId xmlns:a16="http://schemas.microsoft.com/office/drawing/2014/main" val="3519940776"/>
                    </a:ext>
                  </a:extLst>
                </a:gridCol>
                <a:gridCol w="750334">
                  <a:extLst>
                    <a:ext uri="{9D8B030D-6E8A-4147-A177-3AD203B41FA5}">
                      <a16:colId xmlns:a16="http://schemas.microsoft.com/office/drawing/2014/main" val="995585451"/>
                    </a:ext>
                  </a:extLst>
                </a:gridCol>
              </a:tblGrid>
              <a:tr h="75347">
                <a:tc>
                  <a:txBody>
                    <a:bodyPr/>
                    <a:lstStyle/>
                    <a:p>
                      <a:pPr marL="0" marR="0" algn="ctr">
                        <a:lnSpc>
                          <a:spcPct val="150000"/>
                        </a:lnSpc>
                        <a:spcBef>
                          <a:spcPts val="0"/>
                        </a:spcBef>
                        <a:spcAft>
                          <a:spcPts val="0"/>
                        </a:spcAft>
                      </a:pPr>
                      <a:r>
                        <a:rPr lang="en-VN" sz="200">
                          <a:effectLst/>
                        </a:rPr>
                        <a:t>ID</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ctr">
                        <a:lnSpc>
                          <a:spcPct val="150000"/>
                        </a:lnSpc>
                        <a:spcBef>
                          <a:spcPts val="0"/>
                        </a:spcBef>
                        <a:spcAft>
                          <a:spcPts val="0"/>
                        </a:spcAft>
                      </a:pPr>
                      <a:r>
                        <a:rPr lang="en-VN" sz="200">
                          <a:effectLst/>
                        </a:rPr>
                        <a:t>Loại</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ctr">
                        <a:lnSpc>
                          <a:spcPct val="150000"/>
                        </a:lnSpc>
                        <a:spcBef>
                          <a:spcPts val="0"/>
                        </a:spcBef>
                        <a:spcAft>
                          <a:spcPts val="0"/>
                        </a:spcAft>
                      </a:pPr>
                      <a:r>
                        <a:rPr lang="en-VN" sz="200">
                          <a:effectLst/>
                        </a:rPr>
                        <a:t>Mô tả</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ctr">
                        <a:lnSpc>
                          <a:spcPct val="150000"/>
                        </a:lnSpc>
                        <a:spcBef>
                          <a:spcPts val="0"/>
                        </a:spcBef>
                        <a:spcAft>
                          <a:spcPts val="0"/>
                        </a:spcAft>
                      </a:pPr>
                      <a:r>
                        <a:rPr lang="en-VN" sz="200">
                          <a:effectLst/>
                        </a:rPr>
                        <a:t>Vị trí trong code</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ctr">
                        <a:lnSpc>
                          <a:spcPct val="150000"/>
                        </a:lnSpc>
                        <a:spcBef>
                          <a:spcPts val="0"/>
                        </a:spcBef>
                        <a:spcAft>
                          <a:spcPts val="0"/>
                        </a:spcAft>
                      </a:pPr>
                      <a:r>
                        <a:rPr lang="en-VN" sz="200">
                          <a:effectLst/>
                        </a:rPr>
                        <a:t>Mức độ</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ctr">
                        <a:lnSpc>
                          <a:spcPct val="150000"/>
                        </a:lnSpc>
                        <a:spcBef>
                          <a:spcPts val="0"/>
                        </a:spcBef>
                        <a:spcAft>
                          <a:spcPts val="0"/>
                        </a:spcAft>
                      </a:pPr>
                      <a:r>
                        <a:rPr lang="en-VN" sz="200">
                          <a:effectLst/>
                        </a:rPr>
                        <a:t>Khuyến nghị</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2007376894"/>
                  </a:ext>
                </a:extLst>
              </a:tr>
              <a:tr h="534240">
                <a:tc>
                  <a:txBody>
                    <a:bodyPr/>
                    <a:lstStyle/>
                    <a:p>
                      <a:pPr marL="0" marR="0" algn="just">
                        <a:lnSpc>
                          <a:spcPct val="150000"/>
                        </a:lnSpc>
                        <a:spcBef>
                          <a:spcPts val="0"/>
                        </a:spcBef>
                        <a:spcAft>
                          <a:spcPts val="0"/>
                        </a:spcAft>
                      </a:pPr>
                      <a:r>
                        <a:rPr lang="en-VN" sz="200">
                          <a:effectLst/>
                        </a:rPr>
                        <a:t>V-SEC-01</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CSRF</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Toàn bộ form và các endpoint làm thay đổi trạng thái (login, register, addtocart, updatecart, checkout, admin/*) đều không có CSRF token. Kẻ tấn công có thể lừa admin đang đăng nhập truy cập một liên kết xoá sản phẩm.</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Tất cả views có &lt;form&gt;, đặc biệt AdminSPController::delete (dùng GET).</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Cao</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Sinh token trong $_SESSION['csrf'], nhúng &lt;input type="hidden" name="csrf" value=""&gt; ở mọi form; kiểm tra so khớp trước khi xử lý; chuyển các thao tác xóa sang POST.</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3783946019"/>
                  </a:ext>
                </a:extLst>
              </a:tr>
              <a:tr h="468684">
                <a:tc>
                  <a:txBody>
                    <a:bodyPr/>
                    <a:lstStyle/>
                    <a:p>
                      <a:pPr marL="0" marR="0" algn="just">
                        <a:lnSpc>
                          <a:spcPct val="150000"/>
                        </a:lnSpc>
                        <a:spcBef>
                          <a:spcPts val="0"/>
                        </a:spcBef>
                        <a:spcAft>
                          <a:spcPts val="0"/>
                        </a:spcAft>
                      </a:pPr>
                      <a:r>
                        <a:rPr lang="en-VN" sz="200">
                          <a:effectLst/>
                        </a:rPr>
                        <a:t>V-SEC-02</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Destructive GET</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Các URL xoá và thay đổi trạng thái được xử lý qua GET: /admin/deletesp?id=, /admin/deleteloai?id=, /removefromcart?id=, /clearcart. Chỉ cần load ảnh có src trỏ tới URL này là đủ.</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controllers/AdminSPController.php, AdminLoaiController.php, SanphamController.php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Cao</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Chuyển sang POST với CSRF token; xoá GET route tương ứng khỏi $router.</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3135934976"/>
                  </a:ext>
                </a:extLst>
              </a:tr>
              <a:tr h="468684">
                <a:tc>
                  <a:txBody>
                    <a:bodyPr/>
                    <a:lstStyle/>
                    <a:p>
                      <a:pPr marL="0" marR="0" algn="just">
                        <a:lnSpc>
                          <a:spcPct val="150000"/>
                        </a:lnSpc>
                        <a:spcBef>
                          <a:spcPts val="0"/>
                        </a:spcBef>
                        <a:spcAft>
                          <a:spcPts val="0"/>
                        </a:spcAft>
                      </a:pPr>
                      <a:r>
                        <a:rPr lang="en-VN" sz="200">
                          <a:effectLst/>
                        </a:rPr>
                        <a:t>V-SEC-03</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Session fixation</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Sau khi login, hệ thống không gọi session_regenerate_id(true) để đổi ID phiên. Kẻ tấn công có thể cấy sẵn PHPSESSID cho nạn nhân trước khi đăng nhập, sau đó dùng ID đó truy cập với quyền của nạn nhân.</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UserController::login_(), AdminController::login_()</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Cao</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Gọi session_regenerate_id(true) ngay sau khi xác thực thành công.</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487242986"/>
                  </a:ext>
                </a:extLst>
              </a:tr>
              <a:tr h="272016">
                <a:tc>
                  <a:txBody>
                    <a:bodyPr/>
                    <a:lstStyle/>
                    <a:p>
                      <a:pPr marL="0" marR="0" algn="just">
                        <a:lnSpc>
                          <a:spcPct val="150000"/>
                        </a:lnSpc>
                        <a:spcBef>
                          <a:spcPts val="0"/>
                        </a:spcBef>
                        <a:spcAft>
                          <a:spcPts val="0"/>
                        </a:spcAft>
                      </a:pPr>
                      <a:r>
                        <a:rPr lang="en-VN" sz="200">
                          <a:effectLst/>
                        </a:rPr>
                        <a:t>V-SEC-04</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Không rate-limit</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Endpoint /login_, /register_, /admin/login_ chấp nhận số lần thử không giới hạn, có thể brute-force mật khẩu.</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UserController.php, AdminController.php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Cao</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Đếm số lần fail theo IP + email trong session/cache; sau N lần thì thêm delay hoặc CAPTCHA.</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3022525443"/>
                  </a:ext>
                </a:extLst>
              </a:tr>
              <a:tr h="272016">
                <a:tc>
                  <a:txBody>
                    <a:bodyPr/>
                    <a:lstStyle/>
                    <a:p>
                      <a:pPr marL="0" marR="0" algn="just">
                        <a:lnSpc>
                          <a:spcPct val="150000"/>
                        </a:lnSpc>
                        <a:spcBef>
                          <a:spcPts val="0"/>
                        </a:spcBef>
                        <a:spcAft>
                          <a:spcPts val="0"/>
                        </a:spcAft>
                      </a:pPr>
                      <a:r>
                        <a:rPr lang="en-VN" sz="200">
                          <a:effectLst/>
                        </a:rPr>
                        <a:t>V-SEC-05</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User enumeration</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Đăng nhập trả về 2 thông báo riêng ("Email không tồn tại." vs "Mật khẩu không đúng.") – tiết lộ email nào đã đăng ký.</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user.php::checkuser()</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Trả về cùng một thông báo chung như "Email hoặc mật khẩu không đúng." cho cả 2 trường hợp.</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1988295889"/>
                  </a:ext>
                </a:extLst>
              </a:tr>
              <a:tr h="272016">
                <a:tc>
                  <a:txBody>
                    <a:bodyPr/>
                    <a:lstStyle/>
                    <a:p>
                      <a:pPr marL="0" marR="0" algn="just">
                        <a:lnSpc>
                          <a:spcPct val="150000"/>
                        </a:lnSpc>
                        <a:spcBef>
                          <a:spcPts val="0"/>
                        </a:spcBef>
                        <a:spcAft>
                          <a:spcPts val="0"/>
                        </a:spcAft>
                      </a:pPr>
                      <a:r>
                        <a:rPr lang="en-VN" sz="200">
                          <a:effectLst/>
                        </a:rPr>
                        <a:t>V-SEC-06</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Mật khẩu yếu</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Chấp nhận mật khẩu 6 ký tự bất kỳ (kể cả "000000", "111111"). Không có yêu cầu chữ hoa, số, ký tự đặc biệt.</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UserController::register_()</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Nâng min lên 8+ ký tự; kiểm tra không nằm trong danh sách 10.000 mật khẩu phổ biến; ưu tiên gợi ý theo NIST.</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757763750"/>
                  </a:ext>
                </a:extLst>
              </a:tr>
              <a:tr h="403128">
                <a:tc>
                  <a:txBody>
                    <a:bodyPr/>
                    <a:lstStyle/>
                    <a:p>
                      <a:pPr marL="0" marR="0" algn="just">
                        <a:lnSpc>
                          <a:spcPct val="150000"/>
                        </a:lnSpc>
                        <a:spcBef>
                          <a:spcPts val="0"/>
                        </a:spcBef>
                        <a:spcAft>
                          <a:spcPts val="0"/>
                        </a:spcAft>
                      </a:pPr>
                      <a:r>
                        <a:rPr lang="en-VN" sz="200">
                          <a:effectLst/>
                        </a:rPr>
                        <a:t>V-SEC-07</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Không xử lý session cookies bảo mật</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session_start() không cấu hình cookie_secure, cookie_httponly, samesite. Ở HTTPS thì cookie có thể bị đánh cắp qua HTTP fallback hoặc XSS.</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index.php dòng session_start()</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session_set_cookie_params([ 'httponly'=&gt;true, 'secure'=&gt;true, 'samesite'=&gt;'Lax' ]) trước session_start.</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196414869"/>
                  </a:ext>
                </a:extLst>
              </a:tr>
              <a:tr h="468684">
                <a:tc>
                  <a:txBody>
                    <a:bodyPr/>
                    <a:lstStyle/>
                    <a:p>
                      <a:pPr marL="0" marR="0" algn="just">
                        <a:lnSpc>
                          <a:spcPct val="150000"/>
                        </a:lnSpc>
                        <a:spcBef>
                          <a:spcPts val="0"/>
                        </a:spcBef>
                        <a:spcAft>
                          <a:spcPts val="0"/>
                        </a:spcAft>
                      </a:pPr>
                      <a:r>
                        <a:rPr lang="en-VN" sz="200">
                          <a:effectLst/>
                        </a:rPr>
                        <a:t>V-SEC-08</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Path traversal khi xoá ảnh</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AdminSPController::delete unlink theo BASE_DIR . "/" . $sp['hinh']. Nếu trước đó admin đặt được giá trị hinh chứa "../.." (khả thi nếu có code sửa DB thủ công), file quan trọng có thể bị xoá.</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AdminSPController::delete()</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Thấp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Realpath rồi kiểm tra vẫn nằm trong thư mục upload trước khi unlink.</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1202515544"/>
                  </a:ext>
                </a:extLst>
              </a:tr>
              <a:tr h="403128">
                <a:tc>
                  <a:txBody>
                    <a:bodyPr/>
                    <a:lstStyle/>
                    <a:p>
                      <a:pPr marL="0" marR="0" algn="just">
                        <a:lnSpc>
                          <a:spcPct val="150000"/>
                        </a:lnSpc>
                        <a:spcBef>
                          <a:spcPts val="0"/>
                        </a:spcBef>
                        <a:spcAft>
                          <a:spcPts val="0"/>
                        </a:spcAft>
                      </a:pPr>
                      <a:r>
                        <a:rPr lang="en-VN" sz="200">
                          <a:effectLst/>
                        </a:rPr>
                        <a:t>V-SEC-09</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Reflected XSS trong search title</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Title của trang searchresult được nhúng qua htmlspecialchars nên hiện tại an toàn – tuy nhiên nếu có developer sửa lại bỏ escape thì rủi ro cao.</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SanphamController::searchResult(), views/searchresult.php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Thấp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Giữ nguyên htmlspecialchars; thêm CSP header default-src 'self'.</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892466408"/>
                  </a:ext>
                </a:extLst>
              </a:tr>
              <a:tr h="272016">
                <a:tc>
                  <a:txBody>
                    <a:bodyPr/>
                    <a:lstStyle/>
                    <a:p>
                      <a:pPr marL="0" marR="0" algn="just">
                        <a:lnSpc>
                          <a:spcPct val="150000"/>
                        </a:lnSpc>
                        <a:spcBef>
                          <a:spcPts val="0"/>
                        </a:spcBef>
                        <a:spcAft>
                          <a:spcPts val="0"/>
                        </a:spcAft>
                      </a:pPr>
                      <a:r>
                        <a:rPr lang="en-VN" sz="200">
                          <a:effectLst/>
                        </a:rPr>
                        <a:t>V-SEC-10</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Thiếu HTTP security headers</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Không set Content-Security-Policy, X-Frame-Options, X-Content-Type-Options, Referrer-Policy.</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Toàn site</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Cấu hình các header trên qua .htaccess hoặc trong index.php.</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3294547414"/>
                  </a:ext>
                </a:extLst>
              </a:tr>
              <a:tr h="337571">
                <a:tc>
                  <a:txBody>
                    <a:bodyPr/>
                    <a:lstStyle/>
                    <a:p>
                      <a:pPr marL="0" marR="0" algn="just">
                        <a:lnSpc>
                          <a:spcPct val="150000"/>
                        </a:lnSpc>
                        <a:spcBef>
                          <a:spcPts val="0"/>
                        </a:spcBef>
                        <a:spcAft>
                          <a:spcPts val="0"/>
                        </a:spcAft>
                      </a:pPr>
                      <a:r>
                        <a:rPr lang="en-VN" sz="200">
                          <a:effectLst/>
                        </a:rPr>
                        <a:t>V-SEC-11</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DB error rò rỉ</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database.php: catch die("Lỗi kết nối cơ sở dữ liệu: " . $e-&gt;getMessage()) – lộ đường dẫn/thông tin nội bộ ở production.</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models/database.php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Log lỗi nội bộ, hiển thị ra người dùng chỉ thông báo chung chung.</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2683862956"/>
                  </a:ext>
                </a:extLst>
              </a:tr>
              <a:tr h="468684">
                <a:tc>
                  <a:txBody>
                    <a:bodyPr/>
                    <a:lstStyle/>
                    <a:p>
                      <a:pPr marL="0" marR="0" algn="just">
                        <a:lnSpc>
                          <a:spcPct val="150000"/>
                        </a:lnSpc>
                        <a:spcBef>
                          <a:spcPts val="0"/>
                        </a:spcBef>
                        <a:spcAft>
                          <a:spcPts val="0"/>
                        </a:spcAft>
                      </a:pPr>
                      <a:r>
                        <a:rPr lang="en-VN" sz="200">
                          <a:effectLst/>
                        </a:rPr>
                        <a:t>V-SEC-12</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Open redirect tiềm ẩn</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AdminController::login_ redirect về $_SESSION['back'] – hiện chỉ set từ $_SERVER['REQUEST_URI'] nên an toàn nội bộ, nhưng nếu tương lai lấy back từ query string là mở lỗ hổng.</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AdminController::login_()</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Thấp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0"/>
                        </a:spcAft>
                      </a:pPr>
                      <a:r>
                        <a:rPr lang="en-VN" sz="200">
                          <a:effectLst/>
                        </a:rPr>
                        <a:t>Whitelist các đường dẫn cho phép quay lại (chỉ /admin/*).</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3015266366"/>
                  </a:ext>
                </a:extLst>
              </a:tr>
              <a:tr h="272016">
                <a:tc>
                  <a:txBody>
                    <a:bodyPr/>
                    <a:lstStyle/>
                    <a:p>
                      <a:pPr marL="0" marR="0" algn="just">
                        <a:lnSpc>
                          <a:spcPct val="150000"/>
                        </a:lnSpc>
                        <a:spcBef>
                          <a:spcPts val="0"/>
                        </a:spcBef>
                        <a:spcAft>
                          <a:spcPts val="100"/>
                        </a:spcAft>
                      </a:pPr>
                      <a:r>
                        <a:rPr lang="en-VN" sz="200">
                          <a:effectLst/>
                        </a:rPr>
                        <a:t>V-SEC-13</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Không mã hoá kết nối MySQL</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Config mặc định "localhost" không bắt SSL. Nếu deploy sang server khác cùng LAN thì lộ traffic.</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config.php + models/database.php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Thấp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Thêm PDO::MYSQL_ATTR_SSL_CA khi triển khai production.</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1565194124"/>
                  </a:ext>
                </a:extLst>
              </a:tr>
              <a:tr h="272016">
                <a:tc>
                  <a:txBody>
                    <a:bodyPr/>
                    <a:lstStyle/>
                    <a:p>
                      <a:pPr marL="0" marR="0" algn="just">
                        <a:lnSpc>
                          <a:spcPct val="150000"/>
                        </a:lnSpc>
                        <a:spcBef>
                          <a:spcPts val="0"/>
                        </a:spcBef>
                        <a:spcAft>
                          <a:spcPts val="100"/>
                        </a:spcAft>
                      </a:pPr>
                      <a:r>
                        <a:rPr lang="en-VN" sz="200">
                          <a:effectLst/>
                        </a:rPr>
                        <a:t>V-SEC-14</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File upload không kiểm tra kích thước ảnh</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Chỉ giới hạn 5MB nhưng không kiểm tra chiều rộng/cao – kẻ tấn công có thể upload bomb JPEG.</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AdminSPController::uploadImage()</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Thấp</a:t>
                      </a:r>
                      <a:endParaRPr lang="en-VN" sz="200">
                        <a:effectLst/>
                        <a:latin typeface="Calibri" panose="020F0502020204030204" pitchFamily="34" charset="0"/>
                        <a:ea typeface="Calibri" panose="020F0502020204030204" pitchFamily="34" charset="0"/>
                      </a:endParaRPr>
                    </a:p>
                  </a:txBody>
                  <a:tcPr marL="10429" marR="10429" marT="6952" marB="6952" anchor="ctr"/>
                </a:tc>
                <a:tc>
                  <a:txBody>
                    <a:bodyPr/>
                    <a:lstStyle/>
                    <a:p>
                      <a:pPr marL="0" marR="0" algn="just">
                        <a:lnSpc>
                          <a:spcPct val="150000"/>
                        </a:lnSpc>
                        <a:spcBef>
                          <a:spcPts val="0"/>
                        </a:spcBef>
                        <a:spcAft>
                          <a:spcPts val="100"/>
                        </a:spcAft>
                      </a:pPr>
                      <a:r>
                        <a:rPr lang="en-VN" sz="200">
                          <a:effectLst/>
                        </a:rPr>
                        <a:t>Dùng getimagesize() để chặn ảnh có dimensions quá lớn (VD &gt; 8000px).</a:t>
                      </a:r>
                      <a:endParaRPr lang="en-VN" sz="200">
                        <a:effectLst/>
                        <a:latin typeface="Calibri" panose="020F0502020204030204" pitchFamily="34" charset="0"/>
                        <a:ea typeface="Calibri" panose="020F0502020204030204" pitchFamily="34" charset="0"/>
                      </a:endParaRPr>
                    </a:p>
                  </a:txBody>
                  <a:tcPr marL="10429" marR="10429" marT="6952" marB="6952" anchor="ctr"/>
                </a:tc>
                <a:extLst>
                  <a:ext uri="{0D108BD9-81ED-4DB2-BD59-A6C34878D82A}">
                    <a16:rowId xmlns:a16="http://schemas.microsoft.com/office/drawing/2014/main" val="170776314"/>
                  </a:ext>
                </a:extLst>
              </a:tr>
            </a:tbl>
          </a:graphicData>
        </a:graphic>
      </p:graphicFrame>
    </p:spTree>
    <p:extLst>
      <p:ext uri="{BB962C8B-B14F-4D97-AF65-F5344CB8AC3E}">
        <p14:creationId xmlns:p14="http://schemas.microsoft.com/office/powerpoint/2010/main" val="40313487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77080" y="6423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.4.</a:t>
            </a:r>
            <a:r>
              <a:rPr lang="en-VN" sz="24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VN" sz="2400" b="1">
                <a:solidFill>
                  <a:srgbClr val="7030A0"/>
                </a:solidFill>
                <a:effectLst/>
                <a:latin typeface="Times New Roman" panose="02020603050405020304" pitchFamily="18" charset="0"/>
                <a:ea typeface="Calibri" panose="020F0502020204030204" pitchFamily="34" charset="0"/>
              </a:rPr>
              <a:t>Lỗ hổng phát hiện qua kiểm thử</a:t>
            </a:r>
            <a:r>
              <a:rPr lang="en-VN" sz="2400" b="1">
                <a:solidFill>
                  <a:srgbClr val="7030A0"/>
                </a:solidFill>
                <a:effectLst/>
              </a:rPr>
              <a:t> </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FB1A7B41-CEAA-E17F-949D-8CCEE6A45237}"/>
              </a:ext>
            </a:extLst>
          </p:cNvPr>
          <p:cNvSpPr txBox="1"/>
          <p:nvPr/>
        </p:nvSpPr>
        <p:spPr>
          <a:xfrm>
            <a:off x="772886" y="1596736"/>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Vấn đề chức năng</a:t>
            </a:r>
            <a:r>
              <a:rPr lang="en-VN">
                <a:effectLst/>
              </a:rPr>
              <a:t> </a:t>
            </a:r>
            <a:endParaRPr lang="en-VN"/>
          </a:p>
        </p:txBody>
      </p:sp>
      <p:graphicFrame>
        <p:nvGraphicFramePr>
          <p:cNvPr id="5" name="Table 4">
            <a:extLst>
              <a:ext uri="{FF2B5EF4-FFF2-40B4-BE49-F238E27FC236}">
                <a16:creationId xmlns:a16="http://schemas.microsoft.com/office/drawing/2014/main" id="{0FDF50DB-8D58-8C6A-2AAF-38A73C2CF449}"/>
              </a:ext>
            </a:extLst>
          </p:cNvPr>
          <p:cNvGraphicFramePr>
            <a:graphicFrameLocks noGrp="1"/>
          </p:cNvGraphicFramePr>
          <p:nvPr>
            <p:extLst>
              <p:ext uri="{D42A27DB-BD31-4B8C-83A1-F6EECF244321}">
                <p14:modId xmlns:p14="http://schemas.microsoft.com/office/powerpoint/2010/main" val="899005099"/>
              </p:ext>
            </p:extLst>
          </p:nvPr>
        </p:nvGraphicFramePr>
        <p:xfrm>
          <a:off x="5266224" y="916719"/>
          <a:ext cx="2963375" cy="5260245"/>
        </p:xfrm>
        <a:graphic>
          <a:graphicData uri="http://schemas.openxmlformats.org/drawingml/2006/table">
            <a:tbl>
              <a:tblPr>
                <a:tableStyleId>{5C22544A-7EE6-4342-B048-85BDC9FD1C3A}</a:tableStyleId>
              </a:tblPr>
              <a:tblGrid>
                <a:gridCol w="169242">
                  <a:extLst>
                    <a:ext uri="{9D8B030D-6E8A-4147-A177-3AD203B41FA5}">
                      <a16:colId xmlns:a16="http://schemas.microsoft.com/office/drawing/2014/main" val="62440248"/>
                    </a:ext>
                  </a:extLst>
                </a:gridCol>
                <a:gridCol w="240320">
                  <a:extLst>
                    <a:ext uri="{9D8B030D-6E8A-4147-A177-3AD203B41FA5}">
                      <a16:colId xmlns:a16="http://schemas.microsoft.com/office/drawing/2014/main" val="4133066315"/>
                    </a:ext>
                  </a:extLst>
                </a:gridCol>
                <a:gridCol w="913608">
                  <a:extLst>
                    <a:ext uri="{9D8B030D-6E8A-4147-A177-3AD203B41FA5}">
                      <a16:colId xmlns:a16="http://schemas.microsoft.com/office/drawing/2014/main" val="2708750179"/>
                    </a:ext>
                  </a:extLst>
                </a:gridCol>
                <a:gridCol w="1048396">
                  <a:extLst>
                    <a:ext uri="{9D8B030D-6E8A-4147-A177-3AD203B41FA5}">
                      <a16:colId xmlns:a16="http://schemas.microsoft.com/office/drawing/2014/main" val="3781819952"/>
                    </a:ext>
                  </a:extLst>
                </a:gridCol>
                <a:gridCol w="190913">
                  <a:extLst>
                    <a:ext uri="{9D8B030D-6E8A-4147-A177-3AD203B41FA5}">
                      <a16:colId xmlns:a16="http://schemas.microsoft.com/office/drawing/2014/main" val="1923511509"/>
                    </a:ext>
                  </a:extLst>
                </a:gridCol>
                <a:gridCol w="400896">
                  <a:extLst>
                    <a:ext uri="{9D8B030D-6E8A-4147-A177-3AD203B41FA5}">
                      <a16:colId xmlns:a16="http://schemas.microsoft.com/office/drawing/2014/main" val="1328320312"/>
                    </a:ext>
                  </a:extLst>
                </a:gridCol>
              </a:tblGrid>
              <a:tr h="147517">
                <a:tc>
                  <a:txBody>
                    <a:bodyPr/>
                    <a:lstStyle/>
                    <a:p>
                      <a:pPr marL="0" marR="0" algn="ctr">
                        <a:lnSpc>
                          <a:spcPct val="150000"/>
                        </a:lnSpc>
                        <a:spcBef>
                          <a:spcPts val="0"/>
                        </a:spcBef>
                        <a:spcAft>
                          <a:spcPts val="100"/>
                        </a:spcAft>
                      </a:pPr>
                      <a:r>
                        <a:rPr lang="en-VN" sz="200">
                          <a:effectLst/>
                        </a:rPr>
                        <a:t>ID</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ctr">
                        <a:lnSpc>
                          <a:spcPct val="150000"/>
                        </a:lnSpc>
                        <a:spcBef>
                          <a:spcPts val="0"/>
                        </a:spcBef>
                        <a:spcAft>
                          <a:spcPts val="100"/>
                        </a:spcAft>
                      </a:pPr>
                      <a:r>
                        <a:rPr lang="en-VN" sz="200">
                          <a:effectLst/>
                        </a:rPr>
                        <a:t>Loại</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ctr">
                        <a:lnSpc>
                          <a:spcPct val="150000"/>
                        </a:lnSpc>
                        <a:spcBef>
                          <a:spcPts val="0"/>
                        </a:spcBef>
                        <a:spcAft>
                          <a:spcPts val="100"/>
                        </a:spcAft>
                      </a:pPr>
                      <a:r>
                        <a:rPr lang="en-VN" sz="200">
                          <a:effectLst/>
                        </a:rPr>
                        <a:t>Mô tả</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ctr">
                        <a:lnSpc>
                          <a:spcPct val="150000"/>
                        </a:lnSpc>
                        <a:spcBef>
                          <a:spcPts val="0"/>
                        </a:spcBef>
                        <a:spcAft>
                          <a:spcPts val="100"/>
                        </a:spcAft>
                      </a:pPr>
                      <a:r>
                        <a:rPr lang="en-VN" sz="200">
                          <a:effectLst/>
                        </a:rPr>
                        <a:t>Vị trí trong code</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ctr">
                        <a:lnSpc>
                          <a:spcPct val="150000"/>
                        </a:lnSpc>
                        <a:spcBef>
                          <a:spcPts val="0"/>
                        </a:spcBef>
                        <a:spcAft>
                          <a:spcPts val="100"/>
                        </a:spcAft>
                      </a:pPr>
                      <a:r>
                        <a:rPr lang="en-VN" sz="200">
                          <a:effectLst/>
                        </a:rPr>
                        <a:t>Mức độ</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ctr">
                        <a:lnSpc>
                          <a:spcPct val="150000"/>
                        </a:lnSpc>
                        <a:spcBef>
                          <a:spcPts val="0"/>
                        </a:spcBef>
                        <a:spcAft>
                          <a:spcPts val="100"/>
                        </a:spcAft>
                      </a:pPr>
                      <a:r>
                        <a:rPr lang="en-VN" sz="200">
                          <a:effectLst/>
                        </a:rPr>
                        <a:t>Khuyến nghị</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1895591022"/>
                  </a:ext>
                </a:extLst>
              </a:tr>
              <a:tr h="490683">
                <a:tc>
                  <a:txBody>
                    <a:bodyPr/>
                    <a:lstStyle/>
                    <a:p>
                      <a:pPr marL="0" marR="0" algn="just">
                        <a:lnSpc>
                          <a:spcPct val="150000"/>
                        </a:lnSpc>
                        <a:spcBef>
                          <a:spcPts val="0"/>
                        </a:spcBef>
                        <a:spcAft>
                          <a:spcPts val="100"/>
                        </a:spcAft>
                      </a:pPr>
                      <a:r>
                        <a:rPr lang="en-VN" sz="200">
                          <a:effectLst/>
                        </a:rPr>
                        <a:t>V-FUN-01</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No stock tracking</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Không có cột tồn kho. User có thể thêm 99 chiếc laptop mà không cảnh báo. Shop không có thông tin để cắt bán khi hết hàng.</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schema sanpham, SanphamController::addtocart</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Thêm cột soluong_ton; kiểm tra khi thêm giỏ và checkout; giảm số sau khi tạo đơn.</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4043827497"/>
                  </a:ext>
                </a:extLst>
              </a:tr>
              <a:tr h="559316">
                <a:tc>
                  <a:txBody>
                    <a:bodyPr/>
                    <a:lstStyle/>
                    <a:p>
                      <a:pPr marL="0" marR="0" algn="just">
                        <a:lnSpc>
                          <a:spcPct val="150000"/>
                        </a:lnSpc>
                        <a:spcBef>
                          <a:spcPts val="0"/>
                        </a:spcBef>
                        <a:spcAft>
                          <a:spcPts val="100"/>
                        </a:spcAft>
                      </a:pPr>
                      <a:r>
                        <a:rPr lang="en-VN" sz="200">
                          <a:effectLst/>
                        </a:rPr>
                        <a:t>V-FUN-02</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SP trong giỏ bị xoá/ẩn</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Nếu admin xoá hoặc ẩn SP mà user đã bỏ vào giỏ, view "continue" bỏ qua dòng đó nhưng KHÔNG hiển thị thông báo. User có thể nghĩ giỏ mình bị mất.</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views/showcart.php</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Nhặt danh sách SP bị bỏ qua và hiển thị thông báo dạng "1 sản phẩm không còn hiệu lực đã bị xoá khỏi giỏ".</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1164351534"/>
                  </a:ext>
                </a:extLst>
              </a:tr>
              <a:tr h="422050">
                <a:tc>
                  <a:txBody>
                    <a:bodyPr/>
                    <a:lstStyle/>
                    <a:p>
                      <a:pPr marL="0" marR="0" algn="just">
                        <a:lnSpc>
                          <a:spcPct val="150000"/>
                        </a:lnSpc>
                        <a:spcBef>
                          <a:spcPts val="0"/>
                        </a:spcBef>
                        <a:spcAft>
                          <a:spcPts val="100"/>
                        </a:spcAft>
                      </a:pPr>
                      <a:r>
                        <a:rPr lang="en-VN" sz="200">
                          <a:effectLst/>
                        </a:rPr>
                        <a:t>V-FUN-03</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Giá thay đổi không thông báo</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Cart tính tiền theo giá HIỆN TẠI khi hiển thị; nếu admin đổi giá sau khi user thêm vào giỏ, tổng tiền tự nhiên đổi mà user không biết.</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views/showcart.php</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Lưu giá tại thời điểm thêm vào giỏ; khi giá đổi hiện thông báo và hỏi user có xác nhận.</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3397600363"/>
                  </a:ext>
                </a:extLst>
              </a:tr>
              <a:tr h="559316">
                <a:tc>
                  <a:txBody>
                    <a:bodyPr/>
                    <a:lstStyle/>
                    <a:p>
                      <a:pPr marL="0" marR="0" algn="just">
                        <a:lnSpc>
                          <a:spcPct val="150000"/>
                        </a:lnSpc>
                        <a:spcBef>
                          <a:spcPts val="0"/>
                        </a:spcBef>
                        <a:spcAft>
                          <a:spcPts val="100"/>
                        </a:spcAft>
                      </a:pPr>
                      <a:r>
                        <a:rPr lang="en-VN" sz="200">
                          <a:effectLst/>
                        </a:rPr>
                        <a:t>V-FUN-04</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Double-submit checkout</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Sau khi bấm "Xác nhận đặt hàng", không có disable button hay xác nhận – bấm nhanh 2 lần tạo 2 đơn hàng.</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views/checkout.php</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Cao</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Thêm JS disable button khi submit; hoặc dùng token idempotency (nonce trong session).</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492403646"/>
                  </a:ext>
                </a:extLst>
              </a:tr>
              <a:tr h="490683">
                <a:tc>
                  <a:txBody>
                    <a:bodyPr/>
                    <a:lstStyle/>
                    <a:p>
                      <a:pPr marL="0" marR="0" algn="just">
                        <a:lnSpc>
                          <a:spcPct val="150000"/>
                        </a:lnSpc>
                        <a:spcBef>
                          <a:spcPts val="0"/>
                        </a:spcBef>
                        <a:spcAft>
                          <a:spcPts val="100"/>
                        </a:spcAft>
                      </a:pPr>
                      <a:r>
                        <a:rPr lang="en-VN" sz="200">
                          <a:effectLst/>
                        </a:rPr>
                        <a:t>V-FUN-05</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Không giữ dữ liệu form khi validate fail</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Người dùng nhập 4 trường checkout, sai điện thoại → server redirect về checkout → mất hết dữ liệu, phải nhập lại.</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SanphamController::checkout_()</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Cao</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Lưu $_SESSION['form_data'] tạm thời khi validate fail và prefill lại vào form.</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2555602593"/>
                  </a:ext>
                </a:extLst>
              </a:tr>
              <a:tr h="490683">
                <a:tc>
                  <a:txBody>
                    <a:bodyPr/>
                    <a:lstStyle/>
                    <a:p>
                      <a:pPr marL="0" marR="0" algn="just">
                        <a:lnSpc>
                          <a:spcPct val="150000"/>
                        </a:lnSpc>
                        <a:spcBef>
                          <a:spcPts val="0"/>
                        </a:spcBef>
                        <a:spcAft>
                          <a:spcPts val="100"/>
                        </a:spcAft>
                      </a:pPr>
                      <a:r>
                        <a:rPr lang="en-VN" sz="200">
                          <a:effectLst/>
                        </a:rPr>
                        <a:t>V-FUN-06</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Xóa SP còn dùng trong đơn hàng</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DELETE sanpham cascade không có, tạo mồ côi id_sp trong donhangchitiet.</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AdminSPController::delete()</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Chỉ đánh dấu deleted (soft delete) thay vì xoá cứng, hoặc kiểm tra FK trước khi cho xoá.</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1266853156"/>
                  </a:ext>
                </a:extLst>
              </a:tr>
              <a:tr h="627949">
                <a:tc>
                  <a:txBody>
                    <a:bodyPr/>
                    <a:lstStyle/>
                    <a:p>
                      <a:pPr marL="0" marR="0" algn="just">
                        <a:lnSpc>
                          <a:spcPct val="150000"/>
                        </a:lnSpc>
                        <a:spcBef>
                          <a:spcPts val="0"/>
                        </a:spcBef>
                        <a:spcAft>
                          <a:spcPts val="100"/>
                        </a:spcAft>
                      </a:pPr>
                      <a:r>
                        <a:rPr lang="en-VN" sz="200">
                          <a:effectLst/>
                        </a:rPr>
                        <a:t>V-FUN-07</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Xóa danh mục vô hình khỏi menu nhưng SP vẫn tồn tại</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Chỉ chặn xoá danh mục nếu có SP – nhưng nếu admin đổi anhien=0 thì danh mục biến mất khỏi menu, các SP thuộc danh mục đó vẫn hiển thị trên trang chủ nhưng KHÔNG có đường dẫn danh mục.</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schema loai, layListLoai()</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Thấp</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Khi ẩn danh mục cũng chuyển các SP con sang trạng thái ẩn kèm cảnh báo cho admin.</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3935930328"/>
                  </a:ext>
                </a:extLst>
              </a:tr>
              <a:tr h="490683">
                <a:tc>
                  <a:txBody>
                    <a:bodyPr/>
                    <a:lstStyle/>
                    <a:p>
                      <a:pPr marL="0" marR="0" algn="just">
                        <a:lnSpc>
                          <a:spcPct val="150000"/>
                        </a:lnSpc>
                        <a:spcBef>
                          <a:spcPts val="0"/>
                        </a:spcBef>
                        <a:spcAft>
                          <a:spcPts val="100"/>
                        </a:spcAft>
                      </a:pPr>
                      <a:r>
                        <a:rPr lang="en-VN" sz="200">
                          <a:effectLst/>
                        </a:rPr>
                        <a:t>V-FUN-08</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Guest checkout không lưu lịch sử</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Không có bảng "orders_user" hoặc trang "đơn hàng của tôi" cho user đã đăng nhập.</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schema donhang</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Trung bình</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Thêm cột id_user (nullable) trong donhang; tạo trang /my-orders để user xem lại.</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1227512509"/>
                  </a:ext>
                </a:extLst>
              </a:tr>
              <a:tr h="353416">
                <a:tc>
                  <a:txBody>
                    <a:bodyPr/>
                    <a:lstStyle/>
                    <a:p>
                      <a:pPr marL="0" marR="0" algn="just">
                        <a:lnSpc>
                          <a:spcPct val="150000"/>
                        </a:lnSpc>
                        <a:spcBef>
                          <a:spcPts val="0"/>
                        </a:spcBef>
                        <a:spcAft>
                          <a:spcPts val="100"/>
                        </a:spcAft>
                      </a:pPr>
                      <a:r>
                        <a:rPr lang="en-VN" sz="200">
                          <a:effectLst/>
                        </a:rPr>
                        <a:t>V-FUN-09</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die() cho validate admin</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Khi thêm SP thiếu thông tin, hệ thống die() → trang trắng có duy nhất text. UX xấu.</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AdminSPController::validatedProductInput()</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Cao</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Redirect về form với error_message và giữ dữ liệu đã nhập.</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4239879727"/>
                  </a:ext>
                </a:extLst>
              </a:tr>
              <a:tr h="627949">
                <a:tc>
                  <a:txBody>
                    <a:bodyPr/>
                    <a:lstStyle/>
                    <a:p>
                      <a:pPr marL="0" marR="0" algn="just">
                        <a:lnSpc>
                          <a:spcPct val="150000"/>
                        </a:lnSpc>
                        <a:spcBef>
                          <a:spcPts val="0"/>
                        </a:spcBef>
                        <a:spcAft>
                          <a:spcPts val="100"/>
                        </a:spcAft>
                      </a:pPr>
                      <a:r>
                        <a:rPr lang="en-VN" sz="200">
                          <a:effectLst/>
                        </a:rPr>
                        <a:t>V-FUN-10</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Mobile app API lỗi</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mobile_app/src/screens/LoginScreen.js gọi POST /login (trả JSON) nhưng backend chỉ có /login_ trả HTTP redirect – có nghĩa mobile chưa hoạt động thực sự.</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App.js + LoginScreen.js vs UserController.php</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Cao</a:t>
                      </a:r>
                      <a:endParaRPr lang="en-VN" sz="200">
                        <a:effectLst/>
                        <a:latin typeface="Calibri" panose="020F0502020204030204" pitchFamily="34" charset="0"/>
                        <a:ea typeface="Calibri" panose="020F0502020204030204" pitchFamily="34" charset="0"/>
                      </a:endParaRPr>
                    </a:p>
                  </a:txBody>
                  <a:tcPr marL="10918" marR="10918" marT="7279" marB="7279" anchor="ctr"/>
                </a:tc>
                <a:tc>
                  <a:txBody>
                    <a:bodyPr/>
                    <a:lstStyle/>
                    <a:p>
                      <a:pPr marL="0" marR="0" algn="just">
                        <a:lnSpc>
                          <a:spcPct val="150000"/>
                        </a:lnSpc>
                        <a:spcBef>
                          <a:spcPts val="0"/>
                        </a:spcBef>
                        <a:spcAft>
                          <a:spcPts val="100"/>
                        </a:spcAft>
                      </a:pPr>
                      <a:r>
                        <a:rPr lang="en-VN" sz="200">
                          <a:effectLst/>
                        </a:rPr>
                        <a:t>Bổ sung endpoint API /api/login trả JSON status=success|error; refactor Controller để trả về format khớp.</a:t>
                      </a:r>
                      <a:endParaRPr lang="en-VN" sz="200">
                        <a:effectLst/>
                        <a:latin typeface="Calibri" panose="020F0502020204030204" pitchFamily="34" charset="0"/>
                        <a:ea typeface="Calibri" panose="020F0502020204030204" pitchFamily="34" charset="0"/>
                      </a:endParaRPr>
                    </a:p>
                  </a:txBody>
                  <a:tcPr marL="10918" marR="10918" marT="7279" marB="7279" anchor="ctr"/>
                </a:tc>
                <a:extLst>
                  <a:ext uri="{0D108BD9-81ED-4DB2-BD59-A6C34878D82A}">
                    <a16:rowId xmlns:a16="http://schemas.microsoft.com/office/drawing/2014/main" val="2626883392"/>
                  </a:ext>
                </a:extLst>
              </a:tr>
            </a:tbl>
          </a:graphicData>
        </a:graphic>
      </p:graphicFrame>
    </p:spTree>
    <p:extLst>
      <p:ext uri="{BB962C8B-B14F-4D97-AF65-F5344CB8AC3E}">
        <p14:creationId xmlns:p14="http://schemas.microsoft.com/office/powerpoint/2010/main" val="25440229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77080" y="6423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.4.</a:t>
            </a:r>
            <a:r>
              <a:rPr lang="en-VN" sz="24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VN" sz="2400" b="1">
                <a:solidFill>
                  <a:srgbClr val="7030A0"/>
                </a:solidFill>
                <a:effectLst/>
                <a:latin typeface="Times New Roman" panose="02020603050405020304" pitchFamily="18" charset="0"/>
                <a:ea typeface="Calibri" panose="020F0502020204030204" pitchFamily="34" charset="0"/>
              </a:rPr>
              <a:t>Lỗ hổng phát hiện qua kiểm thử</a:t>
            </a:r>
            <a:r>
              <a:rPr lang="en-VN" sz="2400" b="1">
                <a:solidFill>
                  <a:srgbClr val="7030A0"/>
                </a:solidFill>
                <a:effectLst/>
              </a:rPr>
              <a:t> </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3C2CD212-C368-2796-984A-1D5CDD7856EB}"/>
              </a:ext>
            </a:extLst>
          </p:cNvPr>
          <p:cNvSpPr txBox="1"/>
          <p:nvPr/>
        </p:nvSpPr>
        <p:spPr>
          <a:xfrm>
            <a:off x="503914" y="1412070"/>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Vấn đề trải nghiệm (UX)</a:t>
            </a:r>
            <a:r>
              <a:rPr lang="en-VN">
                <a:effectLst/>
              </a:rPr>
              <a:t> </a:t>
            </a:r>
            <a:endParaRPr lang="en-VN"/>
          </a:p>
        </p:txBody>
      </p:sp>
      <p:graphicFrame>
        <p:nvGraphicFramePr>
          <p:cNvPr id="5" name="Table 4">
            <a:extLst>
              <a:ext uri="{FF2B5EF4-FFF2-40B4-BE49-F238E27FC236}">
                <a16:creationId xmlns:a16="http://schemas.microsoft.com/office/drawing/2014/main" id="{8F085376-D4A5-9E57-E5A4-885AB6EACAFA}"/>
              </a:ext>
            </a:extLst>
          </p:cNvPr>
          <p:cNvGraphicFramePr>
            <a:graphicFrameLocks noGrp="1"/>
          </p:cNvGraphicFramePr>
          <p:nvPr>
            <p:extLst>
              <p:ext uri="{D42A27DB-BD31-4B8C-83A1-F6EECF244321}">
                <p14:modId xmlns:p14="http://schemas.microsoft.com/office/powerpoint/2010/main" val="3551205776"/>
              </p:ext>
            </p:extLst>
          </p:nvPr>
        </p:nvGraphicFramePr>
        <p:xfrm>
          <a:off x="6096000" y="821797"/>
          <a:ext cx="3930719" cy="5410637"/>
        </p:xfrm>
        <a:graphic>
          <a:graphicData uri="http://schemas.openxmlformats.org/drawingml/2006/table">
            <a:tbl>
              <a:tblPr>
                <a:tableStyleId>{5C22544A-7EE6-4342-B048-85BDC9FD1C3A}</a:tableStyleId>
              </a:tblPr>
              <a:tblGrid>
                <a:gridCol w="191111">
                  <a:extLst>
                    <a:ext uri="{9D8B030D-6E8A-4147-A177-3AD203B41FA5}">
                      <a16:colId xmlns:a16="http://schemas.microsoft.com/office/drawing/2014/main" val="3892457678"/>
                    </a:ext>
                  </a:extLst>
                </a:gridCol>
                <a:gridCol w="469904">
                  <a:extLst>
                    <a:ext uri="{9D8B030D-6E8A-4147-A177-3AD203B41FA5}">
                      <a16:colId xmlns:a16="http://schemas.microsoft.com/office/drawing/2014/main" val="1842218432"/>
                    </a:ext>
                  </a:extLst>
                </a:gridCol>
                <a:gridCol w="856288">
                  <a:extLst>
                    <a:ext uri="{9D8B030D-6E8A-4147-A177-3AD203B41FA5}">
                      <a16:colId xmlns:a16="http://schemas.microsoft.com/office/drawing/2014/main" val="2124789961"/>
                    </a:ext>
                  </a:extLst>
                </a:gridCol>
                <a:gridCol w="968041">
                  <a:extLst>
                    <a:ext uri="{9D8B030D-6E8A-4147-A177-3AD203B41FA5}">
                      <a16:colId xmlns:a16="http://schemas.microsoft.com/office/drawing/2014/main" val="3442624566"/>
                    </a:ext>
                  </a:extLst>
                </a:gridCol>
                <a:gridCol w="264228">
                  <a:extLst>
                    <a:ext uri="{9D8B030D-6E8A-4147-A177-3AD203B41FA5}">
                      <a16:colId xmlns:a16="http://schemas.microsoft.com/office/drawing/2014/main" val="4063269035"/>
                    </a:ext>
                  </a:extLst>
                </a:gridCol>
                <a:gridCol w="1181147">
                  <a:extLst>
                    <a:ext uri="{9D8B030D-6E8A-4147-A177-3AD203B41FA5}">
                      <a16:colId xmlns:a16="http://schemas.microsoft.com/office/drawing/2014/main" val="3133190070"/>
                    </a:ext>
                  </a:extLst>
                </a:gridCol>
              </a:tblGrid>
              <a:tr h="227879">
                <a:tc>
                  <a:txBody>
                    <a:bodyPr/>
                    <a:lstStyle/>
                    <a:p>
                      <a:pPr marL="0" marR="0" algn="ctr">
                        <a:lnSpc>
                          <a:spcPct val="150000"/>
                        </a:lnSpc>
                        <a:spcBef>
                          <a:spcPts val="0"/>
                        </a:spcBef>
                        <a:spcAft>
                          <a:spcPts val="100"/>
                        </a:spcAft>
                      </a:pPr>
                      <a:r>
                        <a:rPr lang="en-VN" sz="400">
                          <a:effectLst/>
                        </a:rPr>
                        <a:t>ID</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ctr">
                        <a:lnSpc>
                          <a:spcPct val="150000"/>
                        </a:lnSpc>
                        <a:spcBef>
                          <a:spcPts val="0"/>
                        </a:spcBef>
                        <a:spcAft>
                          <a:spcPts val="100"/>
                        </a:spcAft>
                      </a:pPr>
                      <a:r>
                        <a:rPr lang="en-VN" sz="400">
                          <a:effectLst/>
                        </a:rPr>
                        <a:t>Loại</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ctr">
                        <a:lnSpc>
                          <a:spcPct val="150000"/>
                        </a:lnSpc>
                        <a:spcBef>
                          <a:spcPts val="0"/>
                        </a:spcBef>
                        <a:spcAft>
                          <a:spcPts val="100"/>
                        </a:spcAft>
                      </a:pPr>
                      <a:r>
                        <a:rPr lang="en-VN" sz="400">
                          <a:effectLst/>
                        </a:rPr>
                        <a:t>Mô tả</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ctr">
                        <a:lnSpc>
                          <a:spcPct val="150000"/>
                        </a:lnSpc>
                        <a:spcBef>
                          <a:spcPts val="0"/>
                        </a:spcBef>
                        <a:spcAft>
                          <a:spcPts val="100"/>
                        </a:spcAft>
                      </a:pPr>
                      <a:r>
                        <a:rPr lang="en-VN" sz="400">
                          <a:effectLst/>
                        </a:rPr>
                        <a:t>Vị trí trong code</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ctr">
                        <a:lnSpc>
                          <a:spcPct val="150000"/>
                        </a:lnSpc>
                        <a:spcBef>
                          <a:spcPts val="0"/>
                        </a:spcBef>
                        <a:spcAft>
                          <a:spcPts val="100"/>
                        </a:spcAft>
                      </a:pPr>
                      <a:r>
                        <a:rPr lang="en-VN" sz="400">
                          <a:effectLst/>
                        </a:rPr>
                        <a:t>Mức độ</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ctr">
                        <a:lnSpc>
                          <a:spcPct val="150000"/>
                        </a:lnSpc>
                        <a:spcBef>
                          <a:spcPts val="0"/>
                        </a:spcBef>
                        <a:spcAft>
                          <a:spcPts val="100"/>
                        </a:spcAft>
                      </a:pPr>
                      <a:r>
                        <a:rPr lang="en-VN" sz="400">
                          <a:effectLst/>
                        </a:rPr>
                        <a:t>Khuyến nghị</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4217005232"/>
                  </a:ext>
                </a:extLst>
              </a:tr>
              <a:tr h="653654">
                <a:tc>
                  <a:txBody>
                    <a:bodyPr/>
                    <a:lstStyle/>
                    <a:p>
                      <a:pPr marL="0" marR="0" algn="just">
                        <a:lnSpc>
                          <a:spcPct val="150000"/>
                        </a:lnSpc>
                        <a:spcBef>
                          <a:spcPts val="0"/>
                        </a:spcBef>
                        <a:spcAft>
                          <a:spcPts val="100"/>
                        </a:spcAft>
                      </a:pPr>
                      <a:r>
                        <a:rPr lang="en-VN" sz="400">
                          <a:effectLst/>
                        </a:rPr>
                        <a:t>V-UX-01</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Không có trang 404 đẹp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http_response_code(404); die("Không tìm thấy..."); – hiện text plain không có header/footer/link về home.</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controllers/*Controller.php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Trung bình</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Tạo views/errors/404.php với layout đầy đủ + gợi ý về trang chủ, tìm kiếm.</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3188039833"/>
                  </a:ext>
                </a:extLst>
              </a:tr>
              <a:tr h="440767">
                <a:tc>
                  <a:txBody>
                    <a:bodyPr/>
                    <a:lstStyle/>
                    <a:p>
                      <a:pPr marL="0" marR="0" algn="just">
                        <a:lnSpc>
                          <a:spcPct val="150000"/>
                        </a:lnSpc>
                        <a:spcBef>
                          <a:spcPts val="0"/>
                        </a:spcBef>
                        <a:spcAft>
                          <a:spcPts val="100"/>
                        </a:spcAft>
                      </a:pPr>
                      <a:r>
                        <a:rPr lang="en-VN" sz="400">
                          <a:effectLst/>
                        </a:rPr>
                        <a:t>V-UX-02</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Không có tìm kiếm autocomplete</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Form search chỉ POST rồi load lại trang. Với site nhỏ vẫn OK nhưng không có gợi ý tức thì.</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views/menu.php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Thấp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Bổ sung endpoint /api/suggest?keyword= và JS gọi để hiện dropdown gợi ý.</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2035932376"/>
                  </a:ext>
                </a:extLst>
              </a:tr>
              <a:tr h="440767">
                <a:tc>
                  <a:txBody>
                    <a:bodyPr/>
                    <a:lstStyle/>
                    <a:p>
                      <a:pPr marL="0" marR="0" algn="just">
                        <a:lnSpc>
                          <a:spcPct val="150000"/>
                        </a:lnSpc>
                        <a:spcBef>
                          <a:spcPts val="0"/>
                        </a:spcBef>
                        <a:spcAft>
                          <a:spcPts val="100"/>
                        </a:spcAft>
                      </a:pPr>
                      <a:r>
                        <a:rPr lang="en-VN" sz="400">
                          <a:effectLst/>
                        </a:rPr>
                        <a:t>V-UX-03</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Số lượng trong giỏ không cập nhật tức thì</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Đổi số bằng input rồi phải click "Cập nhật giỏ" mới apply.</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views/showcart.php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Thấp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JS gửi AJAX khi blur input để cập nhật ngay.</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410140761"/>
                  </a:ext>
                </a:extLst>
              </a:tr>
              <a:tr h="440767">
                <a:tc>
                  <a:txBody>
                    <a:bodyPr/>
                    <a:lstStyle/>
                    <a:p>
                      <a:pPr marL="0" marR="0" algn="just">
                        <a:lnSpc>
                          <a:spcPct val="150000"/>
                        </a:lnSpc>
                        <a:spcBef>
                          <a:spcPts val="0"/>
                        </a:spcBef>
                        <a:spcAft>
                          <a:spcPts val="100"/>
                        </a:spcAft>
                      </a:pPr>
                      <a:r>
                        <a:rPr lang="en-VN" sz="400">
                          <a:effectLst/>
                        </a:rPr>
                        <a:t>V-UX-04</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Không có bước xác nhận trước khi tạo đơn</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Bấm "Xác nhận" là tạo đơn, không có màn hình review.</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checkout.php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Trung bình</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Thêm bước 2 hiển thị đầy đủ thông tin + nút "Xác nhận cuối cùng".</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1636637404"/>
                  </a:ext>
                </a:extLst>
              </a:tr>
              <a:tr h="440767">
                <a:tc>
                  <a:txBody>
                    <a:bodyPr/>
                    <a:lstStyle/>
                    <a:p>
                      <a:pPr marL="0" marR="0" algn="just">
                        <a:lnSpc>
                          <a:spcPct val="150000"/>
                        </a:lnSpc>
                        <a:spcBef>
                          <a:spcPts val="0"/>
                        </a:spcBef>
                        <a:spcAft>
                          <a:spcPts val="100"/>
                        </a:spcAft>
                      </a:pPr>
                      <a:r>
                        <a:rPr lang="en-VN" sz="400">
                          <a:effectLst/>
                        </a:rPr>
                        <a:t>V-UX-05</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Password không có toggle show/hide</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Input password chỉ có kiểu password, không hỗ trợ hiện.</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login.php, register.php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Thấp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Thêm button eye toggle bằng JS.</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3195052536"/>
                  </a:ext>
                </a:extLst>
              </a:tr>
              <a:tr h="334323">
                <a:tc>
                  <a:txBody>
                    <a:bodyPr/>
                    <a:lstStyle/>
                    <a:p>
                      <a:pPr marL="0" marR="0" algn="just">
                        <a:lnSpc>
                          <a:spcPct val="150000"/>
                        </a:lnSpc>
                        <a:spcBef>
                          <a:spcPts val="0"/>
                        </a:spcBef>
                        <a:spcAft>
                          <a:spcPts val="100"/>
                        </a:spcAft>
                      </a:pPr>
                      <a:r>
                        <a:rPr lang="en-VN" sz="400">
                          <a:effectLst/>
                        </a:rPr>
                        <a:t>V-UX-06</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Không có forgot password</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Không có luồng khôi phục mật khẩu.</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UserController</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Trung bình</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Bổ sung endpoint /forgot với mailer.</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3521114243"/>
                  </a:ext>
                </a:extLst>
              </a:tr>
              <a:tr h="334323">
                <a:tc>
                  <a:txBody>
                    <a:bodyPr/>
                    <a:lstStyle/>
                    <a:p>
                      <a:pPr marL="0" marR="0" algn="just">
                        <a:lnSpc>
                          <a:spcPct val="150000"/>
                        </a:lnSpc>
                        <a:spcBef>
                          <a:spcPts val="0"/>
                        </a:spcBef>
                        <a:spcAft>
                          <a:spcPts val="100"/>
                        </a:spcAft>
                      </a:pPr>
                      <a:r>
                        <a:rPr lang="en-VN" sz="400">
                          <a:effectLst/>
                        </a:rPr>
                        <a:t>V-UX-07</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Không có xác nhận email</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Đăng ký → dùng ngay được, không verify.</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UserController::register_()</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Trung bình</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Gửi email verify với token, chỉ active user sau khi click link.</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808200586"/>
                  </a:ext>
                </a:extLst>
              </a:tr>
              <a:tr h="440767">
                <a:tc>
                  <a:txBody>
                    <a:bodyPr/>
                    <a:lstStyle/>
                    <a:p>
                      <a:pPr marL="0" marR="0" algn="just">
                        <a:lnSpc>
                          <a:spcPct val="150000"/>
                        </a:lnSpc>
                        <a:spcBef>
                          <a:spcPts val="0"/>
                        </a:spcBef>
                        <a:spcAft>
                          <a:spcPts val="100"/>
                        </a:spcAft>
                      </a:pPr>
                      <a:r>
                        <a:rPr lang="en-VN" sz="400">
                          <a:effectLst/>
                        </a:rPr>
                        <a:t>V-UX-08</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Breadcrumb thiếu tên danh mục ở trang detail</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Chỉ có "Trang chủ › Sản phẩm" nhưng thiếu danh mục cụ thể.</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views/detail.php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Thấp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Bổ sung tên danh mục vào breadcrumb.</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1698229157"/>
                  </a:ext>
                </a:extLst>
              </a:tr>
              <a:tr h="547210">
                <a:tc>
                  <a:txBody>
                    <a:bodyPr/>
                    <a:lstStyle/>
                    <a:p>
                      <a:pPr marL="0" marR="0" algn="just">
                        <a:lnSpc>
                          <a:spcPct val="150000"/>
                        </a:lnSpc>
                        <a:spcBef>
                          <a:spcPts val="0"/>
                        </a:spcBef>
                        <a:spcAft>
                          <a:spcPts val="100"/>
                        </a:spcAft>
                      </a:pPr>
                      <a:r>
                        <a:rPr lang="en-VN" sz="400">
                          <a:effectLst/>
                        </a:rPr>
                        <a:t>V-UX-09</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Sort admin/sp thiếu chỉ báo hướng hiện tại</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Nút sort chỉ có icon "arrow-down-up" - không phân biệt đang ASC hay DESC.</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views/admin/sanphamds.php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Thấp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Đổi icon động (arrow-up/down) theo $order.</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1094584849"/>
                  </a:ext>
                </a:extLst>
              </a:tr>
              <a:tr h="334323">
                <a:tc>
                  <a:txBody>
                    <a:bodyPr/>
                    <a:lstStyle/>
                    <a:p>
                      <a:pPr marL="0" marR="0" algn="just">
                        <a:lnSpc>
                          <a:spcPct val="150000"/>
                        </a:lnSpc>
                        <a:spcBef>
                          <a:spcPts val="0"/>
                        </a:spcBef>
                        <a:spcAft>
                          <a:spcPts val="100"/>
                        </a:spcAft>
                      </a:pPr>
                      <a:r>
                        <a:rPr lang="en-VN" sz="400">
                          <a:effectLst/>
                        </a:rPr>
                        <a:t>V-UX-10</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Pagination không có First/Last</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Chỉ hiển thị các số 1..N mà không có nhảy đầu/cuối.</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views/admin/sanphamds.php, sptrongloai.php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Thấp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Bổ sung First/Last khi số trang &gt; 10.</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547592920"/>
                  </a:ext>
                </a:extLst>
              </a:tr>
              <a:tr h="334323">
                <a:tc>
                  <a:txBody>
                    <a:bodyPr/>
                    <a:lstStyle/>
                    <a:p>
                      <a:pPr marL="0" marR="0" algn="just">
                        <a:lnSpc>
                          <a:spcPct val="150000"/>
                        </a:lnSpc>
                        <a:spcBef>
                          <a:spcPts val="0"/>
                        </a:spcBef>
                        <a:spcAft>
                          <a:spcPts val="100"/>
                        </a:spcAft>
                      </a:pPr>
                      <a:r>
                        <a:rPr lang="en-VN" sz="400">
                          <a:effectLst/>
                        </a:rPr>
                        <a:t>V-UX-11</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Ảnh SP có thể vỡ layout</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Không giới hạn tỉ lệ – nếu upload ảnh dọc rất dài sẽ vỡ card.</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CSS + upload</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Thấp</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Đặt object-fit: cover cho .product-card img.</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2911780528"/>
                  </a:ext>
                </a:extLst>
              </a:tr>
              <a:tr h="440767">
                <a:tc>
                  <a:txBody>
                    <a:bodyPr/>
                    <a:lstStyle/>
                    <a:p>
                      <a:pPr marL="0" marR="0" algn="just">
                        <a:lnSpc>
                          <a:spcPct val="150000"/>
                        </a:lnSpc>
                        <a:spcBef>
                          <a:spcPts val="0"/>
                        </a:spcBef>
                        <a:spcAft>
                          <a:spcPts val="100"/>
                        </a:spcAft>
                      </a:pPr>
                      <a:r>
                        <a:rPr lang="en-VN" sz="400">
                          <a:effectLst/>
                        </a:rPr>
                        <a:t>V-UX-12</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Không nhớ giỏ cross-device</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Giỏ chỉ nằm trong PHP session, đăng nhập cùng account ở device khác không thấy.</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SanphamController + schema</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Trung bình</a:t>
                      </a:r>
                      <a:endParaRPr lang="en-VN" sz="300">
                        <a:effectLst/>
                        <a:latin typeface="Calibri" panose="020F0502020204030204" pitchFamily="34" charset="0"/>
                        <a:ea typeface="Calibri" panose="020F0502020204030204" pitchFamily="34" charset="0"/>
                      </a:endParaRPr>
                    </a:p>
                  </a:txBody>
                  <a:tcPr marL="16755" marR="16755" marT="11170" marB="11170" anchor="ctr"/>
                </a:tc>
                <a:tc>
                  <a:txBody>
                    <a:bodyPr/>
                    <a:lstStyle/>
                    <a:p>
                      <a:pPr marL="0" marR="0" algn="just">
                        <a:lnSpc>
                          <a:spcPct val="150000"/>
                        </a:lnSpc>
                        <a:spcBef>
                          <a:spcPts val="0"/>
                        </a:spcBef>
                        <a:spcAft>
                          <a:spcPts val="100"/>
                        </a:spcAft>
                      </a:pPr>
                      <a:r>
                        <a:rPr lang="en-VN" sz="400">
                          <a:effectLst/>
                        </a:rPr>
                        <a:t>Bảng cart_user (id_user, id_sp, soluong) sync khi đăng nhập.</a:t>
                      </a:r>
                      <a:endParaRPr lang="en-VN" sz="300">
                        <a:effectLst/>
                        <a:latin typeface="Calibri" panose="020F0502020204030204" pitchFamily="34" charset="0"/>
                        <a:ea typeface="Calibri" panose="020F0502020204030204" pitchFamily="34" charset="0"/>
                      </a:endParaRPr>
                    </a:p>
                  </a:txBody>
                  <a:tcPr marL="16755" marR="16755" marT="11170" marB="11170" anchor="ctr"/>
                </a:tc>
                <a:extLst>
                  <a:ext uri="{0D108BD9-81ED-4DB2-BD59-A6C34878D82A}">
                    <a16:rowId xmlns:a16="http://schemas.microsoft.com/office/drawing/2014/main" val="513146055"/>
                  </a:ext>
                </a:extLst>
              </a:tr>
            </a:tbl>
          </a:graphicData>
        </a:graphic>
      </p:graphicFrame>
    </p:spTree>
    <p:extLst>
      <p:ext uri="{BB962C8B-B14F-4D97-AF65-F5344CB8AC3E}">
        <p14:creationId xmlns:p14="http://schemas.microsoft.com/office/powerpoint/2010/main" val="10944150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77080" y="6423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.5.</a:t>
            </a:r>
            <a:r>
              <a:rPr lang="en-VN" sz="24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VN" sz="2400" b="1">
                <a:solidFill>
                  <a:srgbClr val="7030A0"/>
                </a:solidFill>
                <a:latin typeface="Times New Roman" panose="02020603050405020304" pitchFamily="18" charset="0"/>
                <a:ea typeface="Calibri" panose="020F0502020204030204" pitchFamily="34" charset="0"/>
                <a:cs typeface="Times New Roman" panose="02020603050405020304" pitchFamily="18" charset="0"/>
              </a:rPr>
              <a:t>Khuyến Nghị Cải Tiến</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F51A98F-E6EF-8CFF-5D5F-1547AA60020C}"/>
              </a:ext>
            </a:extLst>
          </p:cNvPr>
          <p:cNvSpPr txBox="1"/>
          <p:nvPr/>
        </p:nvSpPr>
        <p:spPr>
          <a:xfrm>
            <a:off x="563921" y="1000434"/>
            <a:ext cx="19659600" cy="5857566"/>
          </a:xfrm>
          <a:prstGeom prst="rect">
            <a:avLst/>
          </a:prstGeom>
          <a:noFill/>
        </p:spPr>
        <p:txBody>
          <a:bodyPr wrap="square">
            <a:spAutoFit/>
          </a:bodyPr>
          <a:lstStyle/>
          <a:p>
            <a:pPr marL="0" marR="0" algn="just">
              <a:lnSpc>
                <a:spcPct val="150000"/>
              </a:lnSpc>
              <a:spcBef>
                <a:spcPts val="1000"/>
              </a:spcBef>
              <a:spcAft>
                <a:spcPts val="400"/>
              </a:spcAft>
            </a:pPr>
            <a:r>
              <a:rPr lang="en-VN" sz="1200" b="1">
                <a:solidFill>
                  <a:srgbClr val="0F172A"/>
                </a:solidFill>
                <a:effectLst/>
                <a:latin typeface="Times New Roman" panose="02020603050405020304" pitchFamily="18" charset="0"/>
              </a:rPr>
              <a:t>Khuyến nghị ưu tiên cao (nên làm ngay)</a:t>
            </a:r>
            <a:endParaRPr lang="en-VN" sz="1200" b="1">
              <a:solidFill>
                <a:srgbClr val="334155"/>
              </a:solidFill>
              <a:effectLst/>
              <a:latin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Bổ sung CSRF token cho toàn bộ form và loại bỏ các thao tác thay đổi trạng thái bằng GET.</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Gọi session_regenerate_id(true) sau đăng nhập; cấu hình cookie httponly, secure, samesite.</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Thêm rate-limit + CAPTCHA cho login/register.</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Sửa toàn bộ die() ở admin thành redirect kèm error_message + preserve form data.</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Thêm bước xác nhận trước khi tạo đơn hàng; disable button submit khi đang gửi để tránh double-submit.</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Bổ sung stock tracking (soluong_ton) và kiểm tra khi thêm giỏ / checkout.</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Tạo trang 404 và 500 đẹp có header/footer.</a:t>
            </a:r>
            <a:endParaRPr lang="en-VN" sz="1200">
              <a:effectLst/>
              <a:latin typeface="Calibri" panose="020F0502020204030204" pitchFamily="34" charset="0"/>
              <a:ea typeface="Calibri" panose="020F0502020204030204" pitchFamily="34" charset="0"/>
            </a:endParaRPr>
          </a:p>
          <a:p>
            <a:pPr marL="0" marR="0" algn="just">
              <a:lnSpc>
                <a:spcPct val="150000"/>
              </a:lnSpc>
              <a:spcBef>
                <a:spcPts val="1000"/>
              </a:spcBef>
              <a:spcAft>
                <a:spcPts val="400"/>
              </a:spcAft>
            </a:pPr>
            <a:r>
              <a:rPr lang="en-VN" sz="1200" b="1">
                <a:solidFill>
                  <a:srgbClr val="0F172A"/>
                </a:solidFill>
                <a:effectLst/>
                <a:latin typeface="Times New Roman" panose="02020603050405020304" pitchFamily="18" charset="0"/>
              </a:rPr>
              <a:t>Khuyến nghị ưu tiên trung bình</a:t>
            </a:r>
            <a:endParaRPr lang="en-VN" sz="1200" b="1">
              <a:solidFill>
                <a:srgbClr val="334155"/>
              </a:solidFill>
              <a:effectLst/>
              <a:latin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Chuẩn hoá thông báo lỗi login về một câu chung để tránh user enumeration.</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Thêm cột id_user vào donhang để user đã đăng nhập có thể xem lại lịch sử đơn.</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Bổ sung luồng quên mật khẩu (forgot password) và xác thực email.</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Đồng bộ giỏ hàng qua tài khoản (persistent cart) thay vì chỉ trong session.</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Nâng min password lên 8+ ký tự và kiểm tra chống common password.</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Set các security headers CSP, X-Frame-Options, X-Content-Type-Options.</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Log lỗi vào file thay vì hiển thị thông báo chi tiết cho người dùng.</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200">
                <a:effectLst/>
                <a:latin typeface="Times New Roman" panose="02020603050405020304" pitchFamily="18" charset="0"/>
                <a:ea typeface="Calibri" panose="020F0502020204030204" pitchFamily="34" charset="0"/>
              </a:rPr>
              <a:t>Bổ sung endpoint API JSON /api/* để mobile app hoạt động thực sự.</a:t>
            </a:r>
            <a:endParaRPr lang="en-VN"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endParaRPr lang="en-VN" sz="12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36134438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77080" y="6423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.5.</a:t>
            </a:r>
            <a:r>
              <a:rPr lang="en-VN" sz="24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VN" sz="2400" b="1">
                <a:solidFill>
                  <a:srgbClr val="7030A0"/>
                </a:solidFill>
                <a:latin typeface="Times New Roman" panose="02020603050405020304" pitchFamily="18" charset="0"/>
                <a:ea typeface="Calibri" panose="020F0502020204030204" pitchFamily="34" charset="0"/>
                <a:cs typeface="Times New Roman" panose="02020603050405020304" pitchFamily="18" charset="0"/>
              </a:rPr>
              <a:t>Khuyến Nghị Cải Tiến</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F51A98F-E6EF-8CFF-5D5F-1547AA60020C}"/>
              </a:ext>
            </a:extLst>
          </p:cNvPr>
          <p:cNvSpPr txBox="1"/>
          <p:nvPr/>
        </p:nvSpPr>
        <p:spPr>
          <a:xfrm>
            <a:off x="563921" y="1000434"/>
            <a:ext cx="19659600" cy="3654014"/>
          </a:xfrm>
          <a:prstGeom prst="rect">
            <a:avLst/>
          </a:prstGeom>
          <a:noFill/>
        </p:spPr>
        <p:txBody>
          <a:bodyPr wrap="square">
            <a:spAutoFit/>
          </a:bodyPr>
          <a:lstStyle/>
          <a:p>
            <a:pPr marL="0" marR="0" algn="just">
              <a:lnSpc>
                <a:spcPct val="150000"/>
              </a:lnSpc>
              <a:spcBef>
                <a:spcPts val="1000"/>
              </a:spcBef>
              <a:spcAft>
                <a:spcPts val="400"/>
              </a:spcAft>
            </a:pPr>
            <a:r>
              <a:rPr lang="en-VN" sz="1800" b="1">
                <a:solidFill>
                  <a:srgbClr val="0F172A"/>
                </a:solidFill>
                <a:effectLst/>
                <a:latin typeface="Times New Roman" panose="02020603050405020304" pitchFamily="18" charset="0"/>
              </a:rPr>
              <a:t>Khuyến nghị ưu tiên thấp (nice-to-have)</a:t>
            </a:r>
            <a:endParaRPr lang="en-VN" sz="1800" b="1">
              <a:solidFill>
                <a:srgbClr val="334155"/>
              </a:solidFill>
              <a:effectLst/>
              <a:latin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Autocomplete tìm kiếm SP.</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Cập nhật số lượng giỏ hàng qua AJAX.</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Nút toggle hiện/ẩn password.</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Breadcrumb chi tiết hơn ở trang detail.</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Cải thiện chỉ báo hướng sort ở bảng admin.</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Pagination có First/Last button khi số trang lớn.</a:t>
            </a:r>
            <a:endParaRPr lang="en-VN"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300"/>
              </a:spcAft>
              <a:buFont typeface="Symbol" pitchFamily="2" charset="2"/>
              <a:buChar char=""/>
            </a:pPr>
            <a:r>
              <a:rPr lang="en-VN" sz="1800">
                <a:effectLst/>
                <a:latin typeface="Times New Roman" panose="02020603050405020304" pitchFamily="18" charset="0"/>
                <a:ea typeface="Calibri" panose="020F0502020204030204" pitchFamily="34" charset="0"/>
              </a:rPr>
              <a:t>Chuẩn hoá object-fit cho ảnh SP.</a:t>
            </a:r>
            <a:endParaRPr lang="en-VN" sz="180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98217405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77080" y="6423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.5.</a:t>
            </a:r>
            <a:r>
              <a:rPr lang="en-VN" sz="24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VN" sz="2400" b="1">
                <a:solidFill>
                  <a:srgbClr val="7030A0"/>
                </a:solidFill>
                <a:latin typeface="Times New Roman" panose="02020603050405020304" pitchFamily="18" charset="0"/>
                <a:ea typeface="Calibri" panose="020F0502020204030204" pitchFamily="34" charset="0"/>
                <a:cs typeface="Times New Roman" panose="02020603050405020304" pitchFamily="18" charset="0"/>
              </a:rPr>
              <a:t>Khuyến Nghị Cải Tiến</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0F51A98F-E6EF-8CFF-5D5F-1547AA60020C}"/>
              </a:ext>
            </a:extLst>
          </p:cNvPr>
          <p:cNvSpPr txBox="1"/>
          <p:nvPr/>
        </p:nvSpPr>
        <p:spPr>
          <a:xfrm>
            <a:off x="461811" y="1180371"/>
            <a:ext cx="19659600" cy="463397"/>
          </a:xfrm>
          <a:prstGeom prst="rect">
            <a:avLst/>
          </a:prstGeom>
          <a:noFill/>
        </p:spPr>
        <p:txBody>
          <a:bodyPr wrap="square">
            <a:spAutoFit/>
          </a:bodyPr>
          <a:lstStyle/>
          <a:p>
            <a:pPr marL="0" marR="0" algn="just">
              <a:lnSpc>
                <a:spcPct val="150000"/>
              </a:lnSpc>
              <a:spcBef>
                <a:spcPts val="1000"/>
              </a:spcBef>
              <a:spcAft>
                <a:spcPts val="400"/>
              </a:spcAft>
            </a:pPr>
            <a:r>
              <a:rPr lang="en-VN" sz="1800">
                <a:solidFill>
                  <a:srgbClr val="0F172A"/>
                </a:solidFill>
                <a:effectLst/>
                <a:latin typeface="Times New Roman" panose="02020603050405020304" pitchFamily="18" charset="0"/>
                <a:ea typeface="Calibri" panose="020F0502020204030204" pitchFamily="34" charset="0"/>
              </a:rPr>
              <a:t>Phân bố test case đã thiết kế theo mức ưu tiên</a:t>
            </a:r>
            <a:r>
              <a:rPr lang="en-VN">
                <a:effectLst/>
              </a:rPr>
              <a:t> </a:t>
            </a:r>
            <a:endParaRPr lang="en-VN" sz="1800">
              <a:effectLst/>
              <a:latin typeface="Calibri" panose="020F0502020204030204" pitchFamily="34" charset="0"/>
              <a:ea typeface="Calibri" panose="020F0502020204030204" pitchFamily="34" charset="0"/>
            </a:endParaRPr>
          </a:p>
        </p:txBody>
      </p:sp>
      <p:graphicFrame>
        <p:nvGraphicFramePr>
          <p:cNvPr id="3" name="Table 2">
            <a:extLst>
              <a:ext uri="{FF2B5EF4-FFF2-40B4-BE49-F238E27FC236}">
                <a16:creationId xmlns:a16="http://schemas.microsoft.com/office/drawing/2014/main" id="{05B43F29-28A4-EAB6-8D86-92A836045828}"/>
              </a:ext>
            </a:extLst>
          </p:cNvPr>
          <p:cNvGraphicFramePr>
            <a:graphicFrameLocks noGrp="1"/>
          </p:cNvGraphicFramePr>
          <p:nvPr>
            <p:extLst>
              <p:ext uri="{D42A27DB-BD31-4B8C-83A1-F6EECF244321}">
                <p14:modId xmlns:p14="http://schemas.microsoft.com/office/powerpoint/2010/main" val="2324118870"/>
              </p:ext>
            </p:extLst>
          </p:nvPr>
        </p:nvGraphicFramePr>
        <p:xfrm>
          <a:off x="1564822" y="1934854"/>
          <a:ext cx="6159500" cy="4111752"/>
        </p:xfrm>
        <a:graphic>
          <a:graphicData uri="http://schemas.openxmlformats.org/drawingml/2006/table">
            <a:tbl>
              <a:tblPr>
                <a:tableStyleId>{5C22544A-7EE6-4342-B048-85BDC9FD1C3A}</a:tableStyleId>
              </a:tblPr>
              <a:tblGrid>
                <a:gridCol w="2159000">
                  <a:extLst>
                    <a:ext uri="{9D8B030D-6E8A-4147-A177-3AD203B41FA5}">
                      <a16:colId xmlns:a16="http://schemas.microsoft.com/office/drawing/2014/main" val="2037064101"/>
                    </a:ext>
                  </a:extLst>
                </a:gridCol>
                <a:gridCol w="1016000">
                  <a:extLst>
                    <a:ext uri="{9D8B030D-6E8A-4147-A177-3AD203B41FA5}">
                      <a16:colId xmlns:a16="http://schemas.microsoft.com/office/drawing/2014/main" val="3160701742"/>
                    </a:ext>
                  </a:extLst>
                </a:gridCol>
                <a:gridCol w="889000">
                  <a:extLst>
                    <a:ext uri="{9D8B030D-6E8A-4147-A177-3AD203B41FA5}">
                      <a16:colId xmlns:a16="http://schemas.microsoft.com/office/drawing/2014/main" val="2191689540"/>
                    </a:ext>
                  </a:extLst>
                </a:gridCol>
                <a:gridCol w="1079500">
                  <a:extLst>
                    <a:ext uri="{9D8B030D-6E8A-4147-A177-3AD203B41FA5}">
                      <a16:colId xmlns:a16="http://schemas.microsoft.com/office/drawing/2014/main" val="551336981"/>
                    </a:ext>
                  </a:extLst>
                </a:gridCol>
                <a:gridCol w="1016000">
                  <a:extLst>
                    <a:ext uri="{9D8B030D-6E8A-4147-A177-3AD203B41FA5}">
                      <a16:colId xmlns:a16="http://schemas.microsoft.com/office/drawing/2014/main" val="844737254"/>
                    </a:ext>
                  </a:extLst>
                </a:gridCol>
              </a:tblGrid>
              <a:tr h="0">
                <a:tc>
                  <a:txBody>
                    <a:bodyPr/>
                    <a:lstStyle/>
                    <a:p>
                      <a:pPr marL="0" marR="0" algn="just">
                        <a:lnSpc>
                          <a:spcPct val="150000"/>
                        </a:lnSpc>
                        <a:spcBef>
                          <a:spcPts val="0"/>
                        </a:spcBef>
                        <a:spcAft>
                          <a:spcPts val="100"/>
                        </a:spcAft>
                      </a:pPr>
                      <a:r>
                        <a:rPr lang="en-VN" sz="1300">
                          <a:effectLst/>
                        </a:rPr>
                        <a:t>Nhóm</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Số test case</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High</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Medium</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Low</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1715734757"/>
                  </a:ext>
                </a:extLst>
              </a:tr>
              <a:tr h="0">
                <a:tc>
                  <a:txBody>
                    <a:bodyPr/>
                    <a:lstStyle/>
                    <a:p>
                      <a:pPr marL="0" marR="0" algn="just">
                        <a:lnSpc>
                          <a:spcPct val="150000"/>
                        </a:lnSpc>
                        <a:spcBef>
                          <a:spcPts val="0"/>
                        </a:spcBef>
                        <a:spcAft>
                          <a:spcPts val="100"/>
                        </a:spcAft>
                      </a:pPr>
                      <a:r>
                        <a:rPr lang="en-VN" sz="1300">
                          <a:effectLst/>
                        </a:rPr>
                        <a:t>Trang chủ &amp; Điều hướng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10</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6</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3</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020461009"/>
                  </a:ext>
                </a:extLst>
              </a:tr>
              <a:tr h="0">
                <a:tc>
                  <a:txBody>
                    <a:bodyPr/>
                    <a:lstStyle/>
                    <a:p>
                      <a:pPr marL="0" marR="0" algn="just">
                        <a:lnSpc>
                          <a:spcPct val="150000"/>
                        </a:lnSpc>
                        <a:spcBef>
                          <a:spcPts val="0"/>
                        </a:spcBef>
                        <a:spcAft>
                          <a:spcPts val="100"/>
                        </a:spcAft>
                      </a:pPr>
                      <a:r>
                        <a:rPr lang="en-VN" sz="1300">
                          <a:effectLst/>
                        </a:rPr>
                        <a:t>Chi tiết SP &amp; Danh mục</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13</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7</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6</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0</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479192232"/>
                  </a:ext>
                </a:extLst>
              </a:tr>
              <a:tr h="0">
                <a:tc>
                  <a:txBody>
                    <a:bodyPr/>
                    <a:lstStyle/>
                    <a:p>
                      <a:pPr marL="0" marR="0" algn="just">
                        <a:lnSpc>
                          <a:spcPct val="150000"/>
                        </a:lnSpc>
                        <a:spcBef>
                          <a:spcPts val="0"/>
                        </a:spcBef>
                        <a:spcAft>
                          <a:spcPts val="100"/>
                        </a:spcAft>
                      </a:pPr>
                      <a:r>
                        <a:rPr lang="en-VN" sz="1300">
                          <a:effectLst/>
                        </a:rPr>
                        <a:t>Tìm kiếm</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8</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4</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3</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659754290"/>
                  </a:ext>
                </a:extLst>
              </a:tr>
              <a:tr h="0">
                <a:tc>
                  <a:txBody>
                    <a:bodyPr/>
                    <a:lstStyle/>
                    <a:p>
                      <a:pPr marL="0" marR="0" algn="just">
                        <a:lnSpc>
                          <a:spcPct val="150000"/>
                        </a:lnSpc>
                        <a:spcBef>
                          <a:spcPts val="0"/>
                        </a:spcBef>
                        <a:spcAft>
                          <a:spcPts val="100"/>
                        </a:spcAft>
                      </a:pPr>
                      <a:r>
                        <a:rPr lang="en-VN" sz="1300">
                          <a:effectLst/>
                        </a:rPr>
                        <a:t>Giỏ hàng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17</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13</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4</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0</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792295474"/>
                  </a:ext>
                </a:extLst>
              </a:tr>
              <a:tr h="0">
                <a:tc>
                  <a:txBody>
                    <a:bodyPr/>
                    <a:lstStyle/>
                    <a:p>
                      <a:pPr marL="0" marR="0" algn="just">
                        <a:lnSpc>
                          <a:spcPct val="150000"/>
                        </a:lnSpc>
                        <a:spcBef>
                          <a:spcPts val="0"/>
                        </a:spcBef>
                        <a:spcAft>
                          <a:spcPts val="100"/>
                        </a:spcAft>
                      </a:pPr>
                      <a:r>
                        <a:rPr lang="en-VN" sz="1300">
                          <a:effectLst/>
                        </a:rPr>
                        <a:t>Thanh toán</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16</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12</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4</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0</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1321984470"/>
                  </a:ext>
                </a:extLst>
              </a:tr>
              <a:tr h="0">
                <a:tc>
                  <a:txBody>
                    <a:bodyPr/>
                    <a:lstStyle/>
                    <a:p>
                      <a:pPr marL="0" marR="0" algn="just">
                        <a:lnSpc>
                          <a:spcPct val="150000"/>
                        </a:lnSpc>
                        <a:spcBef>
                          <a:spcPts val="0"/>
                        </a:spcBef>
                        <a:spcAft>
                          <a:spcPts val="100"/>
                        </a:spcAft>
                      </a:pPr>
                      <a:r>
                        <a:rPr lang="en-VN" sz="1300">
                          <a:effectLst/>
                        </a:rPr>
                        <a:t>Đăng ký/Đăng nhập</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21</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15</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6</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0</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2820509901"/>
                  </a:ext>
                </a:extLst>
              </a:tr>
              <a:tr h="0">
                <a:tc>
                  <a:txBody>
                    <a:bodyPr/>
                    <a:lstStyle/>
                    <a:p>
                      <a:pPr marL="0" marR="0" algn="just">
                        <a:lnSpc>
                          <a:spcPct val="150000"/>
                        </a:lnSpc>
                        <a:spcBef>
                          <a:spcPts val="0"/>
                        </a:spcBef>
                        <a:spcAft>
                          <a:spcPts val="100"/>
                        </a:spcAft>
                      </a:pPr>
                      <a:r>
                        <a:rPr lang="en-VN" sz="1300">
                          <a:effectLst/>
                        </a:rPr>
                        <a:t>Admin - Sản phẩm</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23</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16</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6</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060156578"/>
                  </a:ext>
                </a:extLst>
              </a:tr>
              <a:tr h="0">
                <a:tc>
                  <a:txBody>
                    <a:bodyPr/>
                    <a:lstStyle/>
                    <a:p>
                      <a:pPr marL="0" marR="0" algn="just">
                        <a:lnSpc>
                          <a:spcPct val="150000"/>
                        </a:lnSpc>
                        <a:spcBef>
                          <a:spcPts val="0"/>
                        </a:spcBef>
                        <a:spcAft>
                          <a:spcPts val="100"/>
                        </a:spcAft>
                      </a:pPr>
                      <a:r>
                        <a:rPr lang="en-VN" sz="1300">
                          <a:effectLst/>
                        </a:rPr>
                        <a:t>Admin - Danh mục</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10</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8</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2782929204"/>
                  </a:ext>
                </a:extLst>
              </a:tr>
              <a:tr h="0">
                <a:tc>
                  <a:txBody>
                    <a:bodyPr/>
                    <a:lstStyle/>
                    <a:p>
                      <a:pPr marL="0" marR="0" algn="just">
                        <a:lnSpc>
                          <a:spcPct val="150000"/>
                        </a:lnSpc>
                        <a:spcBef>
                          <a:spcPts val="0"/>
                        </a:spcBef>
                        <a:spcAft>
                          <a:spcPts val="100"/>
                        </a:spcAft>
                      </a:pPr>
                      <a:r>
                        <a:rPr lang="en-VN" sz="1300">
                          <a:effectLst/>
                        </a:rPr>
                        <a:t>Admin - Đơn hàng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6</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4</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2</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0</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701648403"/>
                  </a:ext>
                </a:extLst>
              </a:tr>
              <a:tr h="0">
                <a:tc>
                  <a:txBody>
                    <a:bodyPr/>
                    <a:lstStyle/>
                    <a:p>
                      <a:pPr marL="0" marR="0" algn="just">
                        <a:lnSpc>
                          <a:spcPct val="150000"/>
                        </a:lnSpc>
                        <a:spcBef>
                          <a:spcPts val="0"/>
                        </a:spcBef>
                        <a:spcAft>
                          <a:spcPts val="100"/>
                        </a:spcAft>
                      </a:pPr>
                      <a:r>
                        <a:rPr lang="en-VN" sz="1300">
                          <a:effectLst/>
                        </a:rPr>
                        <a:t>UI/UX</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45</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24</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18</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3</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2878317529"/>
                  </a:ext>
                </a:extLst>
              </a:tr>
              <a:tr h="0">
                <a:tc>
                  <a:txBody>
                    <a:bodyPr/>
                    <a:lstStyle/>
                    <a:p>
                      <a:pPr marL="0" marR="0" algn="just">
                        <a:lnSpc>
                          <a:spcPct val="150000"/>
                        </a:lnSpc>
                        <a:spcBef>
                          <a:spcPts val="0"/>
                        </a:spcBef>
                        <a:spcAft>
                          <a:spcPts val="100"/>
                        </a:spcAft>
                      </a:pPr>
                      <a:r>
                        <a:rPr lang="en-VN" sz="1300">
                          <a:effectLst/>
                        </a:rPr>
                        <a:t>TỔNG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169</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109</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53</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7</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2980847255"/>
                  </a:ext>
                </a:extLst>
              </a:tr>
            </a:tbl>
          </a:graphicData>
        </a:graphic>
      </p:graphicFrame>
    </p:spTree>
    <p:extLst>
      <p:ext uri="{BB962C8B-B14F-4D97-AF65-F5344CB8AC3E}">
        <p14:creationId xmlns:p14="http://schemas.microsoft.com/office/powerpoint/2010/main" val="20130536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5. TƯƠNG TÁC VÀ ĐÁNH GIÁ</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277080" y="642399"/>
            <a:ext cx="11000232" cy="587148"/>
          </a:xfrm>
          <a:prstGeom prst="rect">
            <a:avLst/>
          </a:prstGeom>
          <a:noFill/>
        </p:spPr>
        <p:txBody>
          <a:bodyPr wrap="square">
            <a:spAutoFit/>
          </a:bodyPr>
          <a:lstStyle/>
          <a:p>
            <a:pPr>
              <a:lnSpc>
                <a:spcPct val="150000"/>
              </a:lnSpc>
            </a:pPr>
            <a:r>
              <a:rPr lang="vi-VN" sz="2400" b="1">
                <a:solidFill>
                  <a:srgbClr val="7030A0"/>
                </a:solidFill>
                <a:latin typeface="Times New Roman" panose="02020603050405020304" pitchFamily="18" charset="0"/>
                <a:cs typeface="Times New Roman" panose="02020603050405020304" pitchFamily="18" charset="0"/>
              </a:rPr>
              <a:t>5</a:t>
            </a:r>
            <a:r>
              <a:rPr lang="vi-VN" sz="2400" b="1">
                <a:solidFill>
                  <a:srgbClr val="7030A0"/>
                </a:solidFill>
                <a:effectLst/>
                <a:latin typeface="Times New Roman" panose="02020603050405020304" pitchFamily="18" charset="0"/>
                <a:cs typeface="Times New Roman" panose="02020603050405020304" pitchFamily="18" charset="0"/>
              </a:rPr>
              <a:t>.5.</a:t>
            </a:r>
            <a:r>
              <a:rPr lang="en-VN" sz="24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VN" sz="2400" b="1">
                <a:solidFill>
                  <a:srgbClr val="7030A0"/>
                </a:solidFill>
                <a:latin typeface="Times New Roman" panose="02020603050405020304" pitchFamily="18" charset="0"/>
                <a:ea typeface="Calibri" panose="020F0502020204030204" pitchFamily="34" charset="0"/>
                <a:cs typeface="Times New Roman" panose="02020603050405020304" pitchFamily="18" charset="0"/>
              </a:rPr>
              <a:t>Khuyến Nghị Cải Tiến</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5" name="TextBox 4">
            <a:extLst>
              <a:ext uri="{FF2B5EF4-FFF2-40B4-BE49-F238E27FC236}">
                <a16:creationId xmlns:a16="http://schemas.microsoft.com/office/drawing/2014/main" id="{83BBF2A0-AA4C-45B2-B8BA-AE6A2A04DDF9}"/>
              </a:ext>
            </a:extLst>
          </p:cNvPr>
          <p:cNvSpPr txBox="1"/>
          <p:nvPr/>
        </p:nvSpPr>
        <p:spPr>
          <a:xfrm>
            <a:off x="1019629" y="1397534"/>
            <a:ext cx="19659600" cy="369332"/>
          </a:xfrm>
          <a:prstGeom prst="rect">
            <a:avLst/>
          </a:prstGeom>
          <a:noFill/>
        </p:spPr>
        <p:txBody>
          <a:bodyPr wrap="square">
            <a:spAutoFit/>
          </a:bodyPr>
          <a:lstStyle/>
          <a:p>
            <a:r>
              <a:rPr lang="en-VN" sz="1800">
                <a:solidFill>
                  <a:srgbClr val="0F172A"/>
                </a:solidFill>
                <a:effectLst/>
                <a:latin typeface="Times New Roman" panose="02020603050405020304" pitchFamily="18" charset="0"/>
                <a:ea typeface="Calibri" panose="020F0502020204030204" pitchFamily="34" charset="0"/>
              </a:rPr>
              <a:t>Lỗ hổng phát hiện</a:t>
            </a:r>
            <a:r>
              <a:rPr lang="en-VN">
                <a:effectLst/>
              </a:rPr>
              <a:t> </a:t>
            </a:r>
            <a:endParaRPr lang="en-VN"/>
          </a:p>
        </p:txBody>
      </p:sp>
      <p:graphicFrame>
        <p:nvGraphicFramePr>
          <p:cNvPr id="8" name="Table 7">
            <a:extLst>
              <a:ext uri="{FF2B5EF4-FFF2-40B4-BE49-F238E27FC236}">
                <a16:creationId xmlns:a16="http://schemas.microsoft.com/office/drawing/2014/main" id="{1B187AFA-2075-8582-0E56-39D3ACBEDF36}"/>
              </a:ext>
            </a:extLst>
          </p:cNvPr>
          <p:cNvGraphicFramePr>
            <a:graphicFrameLocks noGrp="1"/>
          </p:cNvGraphicFramePr>
          <p:nvPr>
            <p:extLst>
              <p:ext uri="{D42A27DB-BD31-4B8C-83A1-F6EECF244321}">
                <p14:modId xmlns:p14="http://schemas.microsoft.com/office/powerpoint/2010/main" val="4027817740"/>
              </p:ext>
            </p:extLst>
          </p:nvPr>
        </p:nvGraphicFramePr>
        <p:xfrm>
          <a:off x="1469798" y="2225510"/>
          <a:ext cx="5768975" cy="1713230"/>
        </p:xfrm>
        <a:graphic>
          <a:graphicData uri="http://schemas.openxmlformats.org/drawingml/2006/table">
            <a:tbl>
              <a:tblPr>
                <a:tableStyleId>{5C22544A-7EE6-4342-B048-85BDC9FD1C3A}</a:tableStyleId>
              </a:tblPr>
              <a:tblGrid>
                <a:gridCol w="1539875">
                  <a:extLst>
                    <a:ext uri="{9D8B030D-6E8A-4147-A177-3AD203B41FA5}">
                      <a16:colId xmlns:a16="http://schemas.microsoft.com/office/drawing/2014/main" val="3463696018"/>
                    </a:ext>
                  </a:extLst>
                </a:gridCol>
                <a:gridCol w="1257300">
                  <a:extLst>
                    <a:ext uri="{9D8B030D-6E8A-4147-A177-3AD203B41FA5}">
                      <a16:colId xmlns:a16="http://schemas.microsoft.com/office/drawing/2014/main" val="306354061"/>
                    </a:ext>
                  </a:extLst>
                </a:gridCol>
                <a:gridCol w="971550">
                  <a:extLst>
                    <a:ext uri="{9D8B030D-6E8A-4147-A177-3AD203B41FA5}">
                      <a16:colId xmlns:a16="http://schemas.microsoft.com/office/drawing/2014/main" val="3938630490"/>
                    </a:ext>
                  </a:extLst>
                </a:gridCol>
                <a:gridCol w="1028700">
                  <a:extLst>
                    <a:ext uri="{9D8B030D-6E8A-4147-A177-3AD203B41FA5}">
                      <a16:colId xmlns:a16="http://schemas.microsoft.com/office/drawing/2014/main" val="3163558113"/>
                    </a:ext>
                  </a:extLst>
                </a:gridCol>
                <a:gridCol w="971550">
                  <a:extLst>
                    <a:ext uri="{9D8B030D-6E8A-4147-A177-3AD203B41FA5}">
                      <a16:colId xmlns:a16="http://schemas.microsoft.com/office/drawing/2014/main" val="1444026227"/>
                    </a:ext>
                  </a:extLst>
                </a:gridCol>
              </a:tblGrid>
              <a:tr h="0">
                <a:tc>
                  <a:txBody>
                    <a:bodyPr/>
                    <a:lstStyle/>
                    <a:p>
                      <a:pPr marL="0" marR="0" algn="ctr">
                        <a:lnSpc>
                          <a:spcPct val="150000"/>
                        </a:lnSpc>
                        <a:spcBef>
                          <a:spcPts val="0"/>
                        </a:spcBef>
                        <a:spcAft>
                          <a:spcPts val="100"/>
                        </a:spcAft>
                      </a:pPr>
                      <a:r>
                        <a:rPr lang="en-VN" sz="1300">
                          <a:effectLst/>
                        </a:rPr>
                        <a:t>Nhóm</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ctr">
                        <a:lnSpc>
                          <a:spcPct val="150000"/>
                        </a:lnSpc>
                        <a:spcBef>
                          <a:spcPts val="0"/>
                        </a:spcBef>
                        <a:spcAft>
                          <a:spcPts val="100"/>
                        </a:spcAft>
                      </a:pPr>
                      <a:r>
                        <a:rPr lang="en-VN" sz="1300">
                          <a:effectLst/>
                        </a:rPr>
                        <a:t>Số lỗ hổng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ctr">
                        <a:lnSpc>
                          <a:spcPct val="150000"/>
                        </a:lnSpc>
                        <a:spcBef>
                          <a:spcPts val="0"/>
                        </a:spcBef>
                        <a:spcAft>
                          <a:spcPts val="100"/>
                        </a:spcAft>
                      </a:pPr>
                      <a:r>
                        <a:rPr lang="en-VN" sz="1300">
                          <a:effectLst/>
                        </a:rPr>
                        <a:t>Cao</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ctr">
                        <a:lnSpc>
                          <a:spcPct val="150000"/>
                        </a:lnSpc>
                        <a:spcBef>
                          <a:spcPts val="0"/>
                        </a:spcBef>
                        <a:spcAft>
                          <a:spcPts val="100"/>
                        </a:spcAft>
                      </a:pPr>
                      <a:r>
                        <a:rPr lang="en-VN" sz="1300">
                          <a:effectLst/>
                        </a:rPr>
                        <a:t>Trung bình</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ctr">
                        <a:lnSpc>
                          <a:spcPct val="150000"/>
                        </a:lnSpc>
                        <a:spcBef>
                          <a:spcPts val="0"/>
                        </a:spcBef>
                        <a:spcAft>
                          <a:spcPts val="100"/>
                        </a:spcAft>
                      </a:pPr>
                      <a:r>
                        <a:rPr lang="en-VN" sz="1300">
                          <a:effectLst/>
                        </a:rPr>
                        <a:t>Thấp</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823322674"/>
                  </a:ext>
                </a:extLst>
              </a:tr>
              <a:tr h="0">
                <a:tc>
                  <a:txBody>
                    <a:bodyPr/>
                    <a:lstStyle/>
                    <a:p>
                      <a:pPr marL="0" marR="0" algn="just">
                        <a:lnSpc>
                          <a:spcPct val="150000"/>
                        </a:lnSpc>
                        <a:spcBef>
                          <a:spcPts val="0"/>
                        </a:spcBef>
                        <a:spcAft>
                          <a:spcPts val="100"/>
                        </a:spcAft>
                      </a:pPr>
                      <a:r>
                        <a:rPr lang="en-VN" sz="1300">
                          <a:effectLst/>
                        </a:rPr>
                        <a:t>Bảo mật</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14</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4</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5</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5</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2848754564"/>
                  </a:ext>
                </a:extLst>
              </a:tr>
              <a:tr h="0">
                <a:tc>
                  <a:txBody>
                    <a:bodyPr/>
                    <a:lstStyle/>
                    <a:p>
                      <a:pPr marL="0" marR="0" algn="just">
                        <a:lnSpc>
                          <a:spcPct val="150000"/>
                        </a:lnSpc>
                        <a:spcBef>
                          <a:spcPts val="0"/>
                        </a:spcBef>
                        <a:spcAft>
                          <a:spcPts val="100"/>
                        </a:spcAft>
                      </a:pPr>
                      <a:r>
                        <a:rPr lang="en-VN" sz="1300">
                          <a:effectLst/>
                        </a:rPr>
                        <a:t>Chức năng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10</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4</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5</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3840596708"/>
                  </a:ext>
                </a:extLst>
              </a:tr>
              <a:tr h="0">
                <a:tc>
                  <a:txBody>
                    <a:bodyPr/>
                    <a:lstStyle/>
                    <a:p>
                      <a:pPr marL="0" marR="0" algn="just">
                        <a:lnSpc>
                          <a:spcPct val="150000"/>
                        </a:lnSpc>
                        <a:spcBef>
                          <a:spcPts val="0"/>
                        </a:spcBef>
                        <a:spcAft>
                          <a:spcPts val="100"/>
                        </a:spcAft>
                      </a:pPr>
                      <a:r>
                        <a:rPr lang="en-VN" sz="1300">
                          <a:effectLst/>
                        </a:rPr>
                        <a:t>UX</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12</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0</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5</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7</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1347135988"/>
                  </a:ext>
                </a:extLst>
              </a:tr>
              <a:tr h="0">
                <a:tc>
                  <a:txBody>
                    <a:bodyPr/>
                    <a:lstStyle/>
                    <a:p>
                      <a:pPr marL="0" marR="0" algn="just">
                        <a:lnSpc>
                          <a:spcPct val="150000"/>
                        </a:lnSpc>
                        <a:spcBef>
                          <a:spcPts val="0"/>
                        </a:spcBef>
                        <a:spcAft>
                          <a:spcPts val="100"/>
                        </a:spcAft>
                      </a:pPr>
                      <a:r>
                        <a:rPr lang="en-VN" sz="1300">
                          <a:effectLst/>
                        </a:rPr>
                        <a:t>TỔNG</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36</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8</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15</a:t>
                      </a:r>
                      <a:endParaRPr lang="en-VN" sz="1100">
                        <a:effectLst/>
                        <a:latin typeface="Calibri" panose="020F0502020204030204" pitchFamily="34" charset="0"/>
                        <a:ea typeface="Calibri" panose="020F0502020204030204" pitchFamily="34" charset="0"/>
                      </a:endParaRPr>
                    </a:p>
                  </a:txBody>
                  <a:tcPr marL="57150" marR="57150" marT="38100" marB="38100" anchor="ctr"/>
                </a:tc>
                <a:tc>
                  <a:txBody>
                    <a:bodyPr/>
                    <a:lstStyle/>
                    <a:p>
                      <a:pPr marL="0" marR="0" algn="just">
                        <a:lnSpc>
                          <a:spcPct val="150000"/>
                        </a:lnSpc>
                        <a:spcBef>
                          <a:spcPts val="0"/>
                        </a:spcBef>
                        <a:spcAft>
                          <a:spcPts val="100"/>
                        </a:spcAft>
                      </a:pPr>
                      <a:r>
                        <a:rPr lang="en-VN" sz="1300">
                          <a:effectLst/>
                        </a:rPr>
                        <a:t>13</a:t>
                      </a:r>
                      <a:endParaRPr lang="en-VN" sz="1100">
                        <a:effectLst/>
                        <a:latin typeface="Calibri" panose="020F0502020204030204" pitchFamily="34" charset="0"/>
                        <a:ea typeface="Calibri" panose="020F0502020204030204" pitchFamily="34" charset="0"/>
                      </a:endParaRPr>
                    </a:p>
                  </a:txBody>
                  <a:tcPr marL="57150" marR="57150" marT="38100" marB="38100" anchor="ctr"/>
                </a:tc>
                <a:extLst>
                  <a:ext uri="{0D108BD9-81ED-4DB2-BD59-A6C34878D82A}">
                    <a16:rowId xmlns:a16="http://schemas.microsoft.com/office/drawing/2014/main" val="848646190"/>
                  </a:ext>
                </a:extLst>
              </a:tr>
            </a:tbl>
          </a:graphicData>
        </a:graphic>
      </p:graphicFrame>
    </p:spTree>
    <p:extLst>
      <p:ext uri="{BB962C8B-B14F-4D97-AF65-F5344CB8AC3E}">
        <p14:creationId xmlns:p14="http://schemas.microsoft.com/office/powerpoint/2010/main" val="382521125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92349" y="382992"/>
            <a:ext cx="12007302" cy="274320"/>
          </a:xfrm>
          <a:prstGeom prst="rect">
            <a:avLst/>
          </a:prstGeom>
          <a:noFill/>
          <a:ln/>
        </p:spPr>
        <p:txBody>
          <a:bodyPr wrap="square" rtlCol="0" anchor="ctr"/>
          <a:lstStyle/>
          <a:p>
            <a:r>
              <a:rPr lang="en-US" sz="2600" b="1" kern="0" spc="200" dirty="0">
                <a:solidFill>
                  <a:schemeClr val="accent1">
                    <a:lumMod val="50000"/>
                  </a:schemeClr>
                </a:solidFill>
                <a:latin typeface="Times New Roman" panose="02020603050405020304" pitchFamily="18" charset="0"/>
                <a:cs typeface="Times New Roman" panose="02020603050405020304" pitchFamily="18" charset="0"/>
              </a:rPr>
              <a:t>6.SỬ DỤNG AI TRONG QUÁ TRÌNH LÀM DỰ ÁN</a:t>
            </a:r>
          </a:p>
        </p:txBody>
      </p:sp>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18" name="TextBox 17">
            <a:extLst>
              <a:ext uri="{FF2B5EF4-FFF2-40B4-BE49-F238E27FC236}">
                <a16:creationId xmlns:a16="http://schemas.microsoft.com/office/drawing/2014/main" id="{A6AED6FF-9080-C1B0-476D-5852D4A746AD}"/>
              </a:ext>
            </a:extLst>
          </p:cNvPr>
          <p:cNvSpPr txBox="1"/>
          <p:nvPr/>
        </p:nvSpPr>
        <p:spPr>
          <a:xfrm>
            <a:off x="548640" y="657312"/>
            <a:ext cx="11000232" cy="587148"/>
          </a:xfrm>
          <a:prstGeom prst="rect">
            <a:avLst/>
          </a:prstGeom>
          <a:noFill/>
        </p:spPr>
        <p:txBody>
          <a:bodyPr wrap="square">
            <a:spAutoFit/>
          </a:bodyPr>
          <a:lstStyle/>
          <a:p>
            <a:pPr>
              <a:lnSpc>
                <a:spcPct val="150000"/>
              </a:lnSpc>
            </a:pPr>
            <a:r>
              <a:rPr lang="en-VN" sz="2400" b="1">
                <a:solidFill>
                  <a:srgbClr val="7030A0"/>
                </a:solidFill>
                <a:effectLst/>
                <a:latin typeface="Times New Roman" panose="02020603050405020304" pitchFamily="18" charset="0"/>
                <a:ea typeface="Calibri" panose="020F0502020204030204" pitchFamily="34" charset="0"/>
                <a:cs typeface="Times New Roman" panose="02020603050405020304" pitchFamily="18" charset="0"/>
              </a:rPr>
              <a:t>Công cụ AI đã sử dụng</a:t>
            </a:r>
            <a:r>
              <a:rPr lang="en-VN" sz="2400">
                <a:effectLst/>
              </a:rPr>
              <a:t> </a:t>
            </a:r>
            <a:endParaRPr lang="vi-VN" sz="2400" b="1">
              <a:solidFill>
                <a:srgbClr val="7030A0"/>
              </a:solidFill>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graphicFrame>
        <p:nvGraphicFramePr>
          <p:cNvPr id="3" name="Table 2">
            <a:extLst>
              <a:ext uri="{FF2B5EF4-FFF2-40B4-BE49-F238E27FC236}">
                <a16:creationId xmlns:a16="http://schemas.microsoft.com/office/drawing/2014/main" id="{2784CB92-DF9A-FD35-B29A-3BC4C9C0A2AD}"/>
              </a:ext>
            </a:extLst>
          </p:cNvPr>
          <p:cNvGraphicFramePr>
            <a:graphicFrameLocks noGrp="1"/>
          </p:cNvGraphicFramePr>
          <p:nvPr>
            <p:extLst>
              <p:ext uri="{D42A27DB-BD31-4B8C-83A1-F6EECF244321}">
                <p14:modId xmlns:p14="http://schemas.microsoft.com/office/powerpoint/2010/main" val="1237255586"/>
              </p:ext>
            </p:extLst>
          </p:nvPr>
        </p:nvGraphicFramePr>
        <p:xfrm>
          <a:off x="1272879" y="1312066"/>
          <a:ext cx="5727383" cy="4622896"/>
        </p:xfrm>
        <a:graphic>
          <a:graphicData uri="http://schemas.openxmlformats.org/drawingml/2006/table">
            <a:tbl>
              <a:tblPr>
                <a:tableStyleId>{5C22544A-7EE6-4342-B048-85BDC9FD1C3A}</a:tableStyleId>
              </a:tblPr>
              <a:tblGrid>
                <a:gridCol w="1963253">
                  <a:extLst>
                    <a:ext uri="{9D8B030D-6E8A-4147-A177-3AD203B41FA5}">
                      <a16:colId xmlns:a16="http://schemas.microsoft.com/office/drawing/2014/main" val="2219361339"/>
                    </a:ext>
                  </a:extLst>
                </a:gridCol>
                <a:gridCol w="1016554">
                  <a:extLst>
                    <a:ext uri="{9D8B030D-6E8A-4147-A177-3AD203B41FA5}">
                      <a16:colId xmlns:a16="http://schemas.microsoft.com/office/drawing/2014/main" val="1246591998"/>
                    </a:ext>
                  </a:extLst>
                </a:gridCol>
                <a:gridCol w="2747576">
                  <a:extLst>
                    <a:ext uri="{9D8B030D-6E8A-4147-A177-3AD203B41FA5}">
                      <a16:colId xmlns:a16="http://schemas.microsoft.com/office/drawing/2014/main" val="601533498"/>
                    </a:ext>
                  </a:extLst>
                </a:gridCol>
              </a:tblGrid>
              <a:tr h="870268">
                <a:tc>
                  <a:txBody>
                    <a:bodyPr/>
                    <a:lstStyle/>
                    <a:p>
                      <a:pPr marL="0" marR="0" algn="just">
                        <a:lnSpc>
                          <a:spcPct val="150000"/>
                        </a:lnSpc>
                        <a:spcBef>
                          <a:spcPts val="0"/>
                        </a:spcBef>
                        <a:spcAft>
                          <a:spcPts val="0"/>
                        </a:spcAft>
                      </a:pPr>
                      <a:r>
                        <a:rPr lang="en-VN" sz="1200">
                          <a:effectLst/>
                        </a:rPr>
                        <a:t>Công cụ</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Nhà cung cấp</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Vai trò chính trong dự án</a:t>
                      </a:r>
                      <a:endParaRPr lang="en-VN" sz="1000">
                        <a:effectLst/>
                        <a:latin typeface="Calibri" panose="020F0502020204030204" pitchFamily="34" charset="0"/>
                        <a:ea typeface="Calibri" panose="020F0502020204030204" pitchFamily="34" charset="0"/>
                      </a:endParaRPr>
                    </a:p>
                  </a:txBody>
                  <a:tcPr marL="53141" marR="53141" marT="35427" marB="35427" anchor="ctr"/>
                </a:tc>
                <a:extLst>
                  <a:ext uri="{0D108BD9-81ED-4DB2-BD59-A6C34878D82A}">
                    <a16:rowId xmlns:a16="http://schemas.microsoft.com/office/drawing/2014/main" val="4008254451"/>
                  </a:ext>
                </a:extLst>
              </a:tr>
              <a:tr h="870268">
                <a:tc>
                  <a:txBody>
                    <a:bodyPr/>
                    <a:lstStyle/>
                    <a:p>
                      <a:pPr marL="0" marR="0" algn="just">
                        <a:lnSpc>
                          <a:spcPct val="150000"/>
                        </a:lnSpc>
                        <a:spcBef>
                          <a:spcPts val="0"/>
                        </a:spcBef>
                        <a:spcAft>
                          <a:spcPts val="0"/>
                        </a:spcAft>
                      </a:pPr>
                      <a:r>
                        <a:rPr lang="en-VN" sz="1200">
                          <a:effectLst/>
                        </a:rPr>
                        <a:t>ChatGPT (GPT-4 / GPT-4o)</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OpenAI</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Sinh nháp đầu tiên của test case; giải thích các khái niệm bảo mật; đề xuất cấu trúc mục cho báo cáo.</a:t>
                      </a:r>
                      <a:endParaRPr lang="en-VN" sz="1000">
                        <a:effectLst/>
                        <a:latin typeface="Calibri" panose="020F0502020204030204" pitchFamily="34" charset="0"/>
                        <a:ea typeface="Calibri" panose="020F0502020204030204" pitchFamily="34" charset="0"/>
                      </a:endParaRPr>
                    </a:p>
                  </a:txBody>
                  <a:tcPr marL="53141" marR="53141" marT="35427" marB="35427" anchor="ctr"/>
                </a:tc>
                <a:extLst>
                  <a:ext uri="{0D108BD9-81ED-4DB2-BD59-A6C34878D82A}">
                    <a16:rowId xmlns:a16="http://schemas.microsoft.com/office/drawing/2014/main" val="3916614622"/>
                  </a:ext>
                </a:extLst>
              </a:tr>
              <a:tr h="870268">
                <a:tc>
                  <a:txBody>
                    <a:bodyPr/>
                    <a:lstStyle/>
                    <a:p>
                      <a:pPr marL="0" marR="0" algn="just">
                        <a:lnSpc>
                          <a:spcPct val="150000"/>
                        </a:lnSpc>
                        <a:spcBef>
                          <a:spcPts val="0"/>
                        </a:spcBef>
                        <a:spcAft>
                          <a:spcPts val="0"/>
                        </a:spcAft>
                      </a:pPr>
                      <a:r>
                        <a:rPr lang="en-VN" sz="1200">
                          <a:effectLst/>
                        </a:rPr>
                        <a:t>Claude (Sonnet / Opus 4.x)</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Anthropic</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Rà soát code PHP để phát hiện lỗ hổng bảo mật; viết mô tả use case; kiểm tra tính nhất quán của tài liệu.</a:t>
                      </a:r>
                      <a:endParaRPr lang="en-VN" sz="1000">
                        <a:effectLst/>
                        <a:latin typeface="Calibri" panose="020F0502020204030204" pitchFamily="34" charset="0"/>
                        <a:ea typeface="Calibri" panose="020F0502020204030204" pitchFamily="34" charset="0"/>
                      </a:endParaRPr>
                    </a:p>
                  </a:txBody>
                  <a:tcPr marL="53141" marR="53141" marT="35427" marB="35427" anchor="ctr"/>
                </a:tc>
                <a:extLst>
                  <a:ext uri="{0D108BD9-81ED-4DB2-BD59-A6C34878D82A}">
                    <a16:rowId xmlns:a16="http://schemas.microsoft.com/office/drawing/2014/main" val="3072465949"/>
                  </a:ext>
                </a:extLst>
              </a:tr>
              <a:tr h="1146599">
                <a:tc>
                  <a:txBody>
                    <a:bodyPr/>
                    <a:lstStyle/>
                    <a:p>
                      <a:pPr marL="0" marR="0" algn="just">
                        <a:lnSpc>
                          <a:spcPct val="150000"/>
                        </a:lnSpc>
                        <a:spcBef>
                          <a:spcPts val="0"/>
                        </a:spcBef>
                        <a:spcAft>
                          <a:spcPts val="0"/>
                        </a:spcAft>
                      </a:pPr>
                      <a:r>
                        <a:rPr lang="en-VN" sz="1200">
                          <a:effectLst/>
                        </a:rPr>
                        <a:t>GitHub Copilot</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GitHub / OpenAI</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Gợi ý code khi lập trình backend PHP và mobile app React Native trực tiếp trong IDE.</a:t>
                      </a:r>
                      <a:endParaRPr lang="en-VN" sz="1000">
                        <a:effectLst/>
                        <a:latin typeface="Calibri" panose="020F0502020204030204" pitchFamily="34" charset="0"/>
                        <a:ea typeface="Calibri" panose="020F0502020204030204" pitchFamily="34" charset="0"/>
                      </a:endParaRPr>
                    </a:p>
                  </a:txBody>
                  <a:tcPr marL="53141" marR="53141" marT="35427" marB="35427" anchor="ctr"/>
                </a:tc>
                <a:extLst>
                  <a:ext uri="{0D108BD9-81ED-4DB2-BD59-A6C34878D82A}">
                    <a16:rowId xmlns:a16="http://schemas.microsoft.com/office/drawing/2014/main" val="3321382891"/>
                  </a:ext>
                </a:extLst>
              </a:tr>
              <a:tr h="593936">
                <a:tc>
                  <a:txBody>
                    <a:bodyPr/>
                    <a:lstStyle/>
                    <a:p>
                      <a:pPr marL="0" marR="0" algn="just">
                        <a:lnSpc>
                          <a:spcPct val="150000"/>
                        </a:lnSpc>
                        <a:spcBef>
                          <a:spcPts val="0"/>
                        </a:spcBef>
                        <a:spcAft>
                          <a:spcPts val="0"/>
                        </a:spcAft>
                      </a:pPr>
                      <a:r>
                        <a:rPr lang="en-VN" sz="1200">
                          <a:effectLst/>
                        </a:rPr>
                        <a:t>Gemini</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Google</a:t>
                      </a:r>
                      <a:endParaRPr lang="en-VN" sz="1000">
                        <a:effectLst/>
                        <a:latin typeface="Calibri" panose="020F0502020204030204" pitchFamily="34" charset="0"/>
                        <a:ea typeface="Calibri" panose="020F0502020204030204" pitchFamily="34" charset="0"/>
                      </a:endParaRPr>
                    </a:p>
                  </a:txBody>
                  <a:tcPr marL="53141" marR="53141" marT="35427" marB="35427" anchor="ctr"/>
                </a:tc>
                <a:tc>
                  <a:txBody>
                    <a:bodyPr/>
                    <a:lstStyle/>
                    <a:p>
                      <a:pPr marL="0" marR="0" algn="just">
                        <a:lnSpc>
                          <a:spcPct val="150000"/>
                        </a:lnSpc>
                        <a:spcBef>
                          <a:spcPts val="0"/>
                        </a:spcBef>
                        <a:spcAft>
                          <a:spcPts val="0"/>
                        </a:spcAft>
                      </a:pPr>
                      <a:r>
                        <a:rPr lang="en-VN" sz="1200">
                          <a:effectLst/>
                        </a:rPr>
                        <a:t>Tham khảo phụ khi cần đối chiếu quan điểm từ nhiều nguồn — không phải công cụ chính.</a:t>
                      </a:r>
                      <a:endParaRPr lang="en-VN" sz="1000">
                        <a:effectLst/>
                        <a:latin typeface="Calibri" panose="020F0502020204030204" pitchFamily="34" charset="0"/>
                        <a:ea typeface="Calibri" panose="020F0502020204030204" pitchFamily="34" charset="0"/>
                      </a:endParaRPr>
                    </a:p>
                  </a:txBody>
                  <a:tcPr marL="53141" marR="53141" marT="35427" marB="35427" anchor="ctr"/>
                </a:tc>
                <a:extLst>
                  <a:ext uri="{0D108BD9-81ED-4DB2-BD59-A6C34878D82A}">
                    <a16:rowId xmlns:a16="http://schemas.microsoft.com/office/drawing/2014/main" val="2356344141"/>
                  </a:ext>
                </a:extLst>
              </a:tr>
            </a:tbl>
          </a:graphicData>
        </a:graphic>
      </p:graphicFrame>
    </p:spTree>
    <p:extLst>
      <p:ext uri="{BB962C8B-B14F-4D97-AF65-F5344CB8AC3E}">
        <p14:creationId xmlns:p14="http://schemas.microsoft.com/office/powerpoint/2010/main" val="47584122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14"/>
          <p:cNvSpPr/>
          <p:nvPr/>
        </p:nvSpPr>
        <p:spPr>
          <a:xfrm>
            <a:off x="11548872" y="6446520"/>
            <a:ext cx="365760" cy="274320"/>
          </a:xfrm>
          <a:prstGeom prst="rect">
            <a:avLst/>
          </a:prstGeom>
          <a:noFill/>
          <a:ln/>
        </p:spPr>
        <p:txBody>
          <a:bodyPr wrap="square" rtlCol="0" anchor="ctr"/>
          <a:lstStyle/>
          <a:p>
            <a:pPr marL="0" indent="0" algn="r">
              <a:buNone/>
            </a:pPr>
            <a:r>
              <a:rPr lang="en-US" sz="1000" dirty="0">
                <a:solidFill>
                  <a:srgbClr val="6B7280"/>
                </a:solidFill>
                <a:latin typeface="Arial" pitchFamily="34" charset="0"/>
                <a:ea typeface="Arial" pitchFamily="34" charset="-122"/>
                <a:cs typeface="Arial" pitchFamily="34" charset="-120"/>
              </a:rPr>
              <a:t>2</a:t>
            </a:r>
            <a:endParaRPr lang="en-US" sz="1000" dirty="0"/>
          </a:p>
        </p:txBody>
      </p:sp>
      <p:sp>
        <p:nvSpPr>
          <p:cNvPr id="6" name="Rectangle 2">
            <a:extLst>
              <a:ext uri="{FF2B5EF4-FFF2-40B4-BE49-F238E27FC236}">
                <a16:creationId xmlns:a16="http://schemas.microsoft.com/office/drawing/2014/main" id="{FB1DD94A-AF3D-1852-0608-92FF63A42E8A}"/>
              </a:ext>
            </a:extLst>
          </p:cNvPr>
          <p:cNvSpPr>
            <a:spLocks noChangeArrowheads="1"/>
          </p:cNvSpPr>
          <p:nvPr/>
        </p:nvSpPr>
        <p:spPr bwMode="auto">
          <a:xfrm>
            <a:off x="92349" y="122740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9" name="Rectangle 1">
            <a:extLst>
              <a:ext uri="{FF2B5EF4-FFF2-40B4-BE49-F238E27FC236}">
                <a16:creationId xmlns:a16="http://schemas.microsoft.com/office/drawing/2014/main" id="{17BDE152-3D73-0EB6-121F-5F32EBD4AE38}"/>
              </a:ext>
            </a:extLst>
          </p:cNvPr>
          <p:cNvSpPr>
            <a:spLocks noChangeArrowheads="1"/>
          </p:cNvSpPr>
          <p:nvPr/>
        </p:nvSpPr>
        <p:spPr bwMode="auto">
          <a:xfrm flipV="1">
            <a:off x="5502275" y="1471457"/>
            <a:ext cx="33797234" cy="754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VN" altLang="en-VN" sz="1300" b="0" i="0" u="none" strike="noStrike" cap="none" normalizeH="0" baseline="0">
                <a:ln>
                  <a:noFill/>
                </a:ln>
                <a:solidFill>
                  <a:schemeClr val="tx1"/>
                </a:solidFill>
                <a:effectLst/>
                <a:latin typeface="Times New Roman" panose="02020603050405020304" pitchFamily="18" charset="0"/>
                <a:ea typeface="Calibri" panose="020F0502020204030204" pitchFamily="34" charset="0"/>
              </a:rPr>
            </a:br>
            <a:endParaRPr kumimoji="0" lang="en-VN" altLang="en-VN" sz="12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VN" altLang="en-VN"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230FA9EF-3ECF-BB10-9BD9-88085C11F808}"/>
              </a:ext>
            </a:extLst>
          </p:cNvPr>
          <p:cNvSpPr txBox="1"/>
          <p:nvPr/>
        </p:nvSpPr>
        <p:spPr>
          <a:xfrm>
            <a:off x="1187356" y="2080442"/>
            <a:ext cx="10204910" cy="646331"/>
          </a:xfrm>
          <a:prstGeom prst="rect">
            <a:avLst/>
          </a:prstGeom>
          <a:noFill/>
        </p:spPr>
        <p:txBody>
          <a:bodyPr wrap="none" rtlCol="0">
            <a:spAutoFit/>
          </a:bodyPr>
          <a:lstStyle/>
          <a:p>
            <a:r>
              <a:rPr lang="en-VN" sz="3600" b="1">
                <a:solidFill>
                  <a:srgbClr val="FF0000"/>
                </a:solidFill>
                <a:latin typeface="Times New Roman" panose="02020603050405020304" pitchFamily="18" charset="0"/>
                <a:cs typeface="Times New Roman" panose="02020603050405020304" pitchFamily="18" charset="0"/>
              </a:rPr>
              <a:t>CẢM ƠN THẦY VÀ CÁC BẠN ĐÃ LẮNG NGHE</a:t>
            </a:r>
          </a:p>
        </p:txBody>
      </p:sp>
    </p:spTree>
    <p:extLst>
      <p:ext uri="{BB962C8B-B14F-4D97-AF65-F5344CB8AC3E}">
        <p14:creationId xmlns:p14="http://schemas.microsoft.com/office/powerpoint/2010/main" val="8054176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1399</TotalTime>
  <Words>13448</Words>
  <Application>Microsoft Macintosh PowerPoint</Application>
  <PresentationFormat>Widescreen</PresentationFormat>
  <Paragraphs>2024</Paragraphs>
  <Slides>63</Slides>
  <Notes>63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63</vt:i4>
      </vt:variant>
    </vt:vector>
  </HeadingPairs>
  <TitlesOfParts>
    <vt:vector size="70" baseType="lpstr">
      <vt:lpstr>Aptos</vt:lpstr>
      <vt:lpstr>Arial</vt:lpstr>
      <vt:lpstr>Calibri</vt:lpstr>
      <vt:lpstr>MiSans</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Office User</cp:lastModifiedBy>
  <cp:revision>61</cp:revision>
  <dcterms:created xsi:type="dcterms:W3CDTF">2026-08-06T15:35:17Z</dcterms:created>
  <dcterms:modified xsi:type="dcterms:W3CDTF">2026-08-15T09:41:43Z</dcterms:modified>
</cp:coreProperties>
</file>